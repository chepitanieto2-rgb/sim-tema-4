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5" r:id="rId3"/>
    <p:sldId id="492" r:id="rId4"/>
    <p:sldId id="493" r:id="rId5"/>
    <p:sldId id="494" r:id="rId6"/>
    <p:sldId id="406" r:id="rId7"/>
    <p:sldId id="411" r:id="rId8"/>
    <p:sldId id="575" r:id="rId9"/>
    <p:sldId id="524" r:id="rId10"/>
    <p:sldId id="511" r:id="rId11"/>
    <p:sldId id="572" r:id="rId12"/>
    <p:sldId id="512" r:id="rId13"/>
    <p:sldId id="574" r:id="rId14"/>
    <p:sldId id="573" r:id="rId15"/>
    <p:sldId id="578" r:id="rId16"/>
    <p:sldId id="580" r:id="rId17"/>
    <p:sldId id="581" r:id="rId18"/>
    <p:sldId id="582" r:id="rId19"/>
    <p:sldId id="410" r:id="rId20"/>
    <p:sldId id="576" r:id="rId21"/>
    <p:sldId id="583" r:id="rId22"/>
    <p:sldId id="584" r:id="rId23"/>
    <p:sldId id="585" r:id="rId24"/>
    <p:sldId id="586" r:id="rId25"/>
    <p:sldId id="587" r:id="rId26"/>
    <p:sldId id="588" r:id="rId27"/>
    <p:sldId id="589" r:id="rId28"/>
    <p:sldId id="590" r:id="rId29"/>
    <p:sldId id="591" r:id="rId30"/>
    <p:sldId id="592" r:id="rId31"/>
    <p:sldId id="420" r:id="rId32"/>
    <p:sldId id="577" r:id="rId33"/>
    <p:sldId id="593" r:id="rId34"/>
    <p:sldId id="594" r:id="rId35"/>
    <p:sldId id="595" r:id="rId36"/>
    <p:sldId id="596" r:id="rId37"/>
    <p:sldId id="597" r:id="rId38"/>
    <p:sldId id="598" r:id="rId39"/>
    <p:sldId id="599" r:id="rId40"/>
    <p:sldId id="600" r:id="rId41"/>
    <p:sldId id="601" r:id="rId42"/>
    <p:sldId id="602" r:id="rId43"/>
    <p:sldId id="399" r:id="rId44"/>
    <p:sldId id="409" r:id="rId45"/>
    <p:sldId id="405" r:id="rId4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88" autoAdjust="0"/>
    <p:restoredTop sz="94660"/>
  </p:normalViewPr>
  <p:slideViewPr>
    <p:cSldViewPr snapToGrid="0">
      <p:cViewPr varScale="1">
        <p:scale>
          <a:sx n="71" d="100"/>
          <a:sy n="71" d="100"/>
        </p:scale>
        <p:origin x="57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448529D4-5FC4-4118-980B-6BA2E9F9D5BC}" type="datetimeFigureOut">
              <a:rPr lang="es-MX" smtClean="0"/>
              <a:t>30/09/2026</a:t>
            </a:fld>
            <a:endParaRPr lang="es-MX"/>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s-MX"/>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2FA0C201-36CB-49AF-8CE6-AD02CF2FB89E}" type="slidenum">
              <a:rPr lang="es-MX" smtClean="0"/>
              <a:t>‹Nº›</a:t>
            </a:fld>
            <a:endParaRPr lang="es-MX"/>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61230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30/09/2026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553346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448529D4-5FC4-4118-980B-6BA2E9F9D5BC}" type="datetimeFigureOut">
              <a:rPr lang="es-MX" smtClean="0"/>
              <a:t>30/09/2026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60683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48529D4-5FC4-4118-980B-6BA2E9F9D5BC}" type="datetimeFigureOut">
              <a:rPr lang="es-MX" smtClean="0"/>
              <a:t>30/09/2026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949608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s-ES"/>
              <a:t>Editar el estilo de texto del patrón</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48529D4-5FC4-4118-980B-6BA2E9F9D5BC}" type="datetimeFigureOut">
              <a:rPr lang="es-MX" smtClean="0"/>
              <a:t>30/09/2026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788196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48529D4-5FC4-4118-980B-6BA2E9F9D5BC}" type="datetimeFigureOut">
              <a:rPr lang="es-MX" smtClean="0"/>
              <a:t>30/09/2026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3304111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8529D4-5FC4-4118-980B-6BA2E9F9D5BC}" type="datetimeFigureOut">
              <a:rPr lang="es-MX" smtClean="0"/>
              <a:t>30/09/2026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207427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448529D4-5FC4-4118-980B-6BA2E9F9D5BC}" type="datetimeFigureOut">
              <a:rPr lang="es-MX" smtClean="0"/>
              <a:t>30/09/2026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568316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448529D4-5FC4-4118-980B-6BA2E9F9D5BC}" type="datetimeFigureOut">
              <a:rPr lang="es-MX" smtClean="0"/>
              <a:t>30/09/2026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3264799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30/09/2026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3273739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30/09/2026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3893702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448529D4-5FC4-4118-980B-6BA2E9F9D5BC}" type="datetimeFigureOut">
              <a:rPr lang="es-MX" smtClean="0"/>
              <a:t>30/09/2026</a:t>
            </a:fld>
            <a:endParaRPr lang="es-MX"/>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s-MX"/>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2FA0C201-36CB-49AF-8CE6-AD02CF2FB89E}" type="slidenum">
              <a:rPr lang="es-MX" smtClean="0"/>
              <a:t>‹Nº›</a:t>
            </a:fld>
            <a:endParaRPr lang="es-MX"/>
          </a:p>
        </p:txBody>
      </p:sp>
    </p:spTree>
    <p:extLst>
      <p:ext uri="{BB962C8B-B14F-4D97-AF65-F5344CB8AC3E}">
        <p14:creationId xmlns:p14="http://schemas.microsoft.com/office/powerpoint/2010/main" val="25039867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2000172" y="1280903"/>
            <a:ext cx="8098179" cy="4401205"/>
          </a:xfrm>
          <a:prstGeom prst="rect">
            <a:avLst/>
          </a:prstGeom>
          <a:noFill/>
        </p:spPr>
        <p:txBody>
          <a:bodyPr wrap="square" rtlCol="0">
            <a:spAutoFit/>
          </a:bodyPr>
          <a:lstStyle/>
          <a:p>
            <a:pPr algn="ctr"/>
            <a:r>
              <a:rPr lang="es-MX" b="1" dirty="0">
                <a:solidFill>
                  <a:schemeClr val="tx1">
                    <a:lumMod val="85000"/>
                    <a:lumOff val="15000"/>
                  </a:schemeClr>
                </a:solidFill>
              </a:rPr>
              <a:t>“INGENIERÍA EN SISTEMAS COMPUTACIONALES”</a:t>
            </a:r>
          </a:p>
          <a:p>
            <a:pPr algn="ctr"/>
            <a:endParaRPr lang="es-MX" b="1" dirty="0"/>
          </a:p>
          <a:p>
            <a:pPr algn="ctr"/>
            <a:r>
              <a:rPr lang="es-MX" sz="2000" b="1" dirty="0">
                <a:solidFill>
                  <a:srgbClr val="0070C0"/>
                </a:solidFill>
              </a:rPr>
              <a:t>Materia:</a:t>
            </a:r>
          </a:p>
          <a:p>
            <a:pPr algn="ctr"/>
            <a:r>
              <a:rPr lang="es-MX" b="1" dirty="0"/>
              <a:t>Simulación.</a:t>
            </a:r>
          </a:p>
          <a:p>
            <a:pPr algn="ctr"/>
            <a:r>
              <a:rPr lang="es-MX" b="1" dirty="0"/>
              <a:t> </a:t>
            </a:r>
          </a:p>
          <a:p>
            <a:pPr algn="ctr"/>
            <a:r>
              <a:rPr lang="es-MX" sz="2000" b="1" dirty="0">
                <a:solidFill>
                  <a:srgbClr val="0070C0"/>
                </a:solidFill>
              </a:rPr>
              <a:t>Actividad:</a:t>
            </a:r>
          </a:p>
          <a:p>
            <a:pPr algn="ctr"/>
            <a:r>
              <a:rPr lang="es-ES" b="1" dirty="0"/>
              <a:t>“4.3 Banco de Ejercicios”.</a:t>
            </a:r>
            <a:endParaRPr lang="es-MX" b="1" dirty="0"/>
          </a:p>
          <a:p>
            <a:pPr algn="ctr"/>
            <a:r>
              <a:rPr lang="es-MX" b="1" dirty="0"/>
              <a:t> </a:t>
            </a:r>
          </a:p>
          <a:p>
            <a:pPr algn="ctr"/>
            <a:r>
              <a:rPr lang="es-MX" sz="2000" b="1" dirty="0">
                <a:solidFill>
                  <a:srgbClr val="0070C0"/>
                </a:solidFill>
              </a:rPr>
              <a:t>Docente:</a:t>
            </a:r>
          </a:p>
          <a:p>
            <a:pPr algn="ctr"/>
            <a:r>
              <a:rPr lang="es-MX" b="1" dirty="0"/>
              <a:t>Ing. Francisco Javier Mingo Velázquez</a:t>
            </a:r>
          </a:p>
          <a:p>
            <a:pPr algn="ctr"/>
            <a:endParaRPr lang="es-MX" b="1" dirty="0"/>
          </a:p>
          <a:p>
            <a:pPr algn="ctr"/>
            <a:r>
              <a:rPr lang="es-MX" sz="2000" b="1" dirty="0">
                <a:solidFill>
                  <a:srgbClr val="0070C0"/>
                </a:solidFill>
              </a:rPr>
              <a:t>Alumno:</a:t>
            </a:r>
          </a:p>
          <a:p>
            <a:pPr algn="ctr"/>
            <a:endParaRPr lang="es-MX" sz="2000" b="1" dirty="0">
              <a:solidFill>
                <a:srgbClr val="0070C0"/>
              </a:solidFill>
            </a:endParaRPr>
          </a:p>
          <a:p>
            <a:pPr algn="ctr"/>
            <a:r>
              <a:rPr lang="es-MX" b="1" dirty="0"/>
              <a:t>Josefina Nieto Hernández.</a:t>
            </a:r>
            <a:endParaRPr lang="es-MX" dirty="0"/>
          </a:p>
          <a:p>
            <a:endParaRPr lang="es-MX" dirty="0"/>
          </a:p>
        </p:txBody>
      </p:sp>
      <p:pic>
        <p:nvPicPr>
          <p:cNvPr id="5" name="Imagen 4" descr="Logotipo&#10;&#10;Descripción generada automáticamente"/>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33392" y="322476"/>
            <a:ext cx="2301875" cy="1016000"/>
          </a:xfrm>
          <a:prstGeom prst="rect">
            <a:avLst/>
          </a:prstGeom>
          <a:noFill/>
          <a:ln>
            <a:noFill/>
          </a:ln>
        </p:spPr>
      </p:pic>
      <p:pic>
        <p:nvPicPr>
          <p:cNvPr id="6" name="Imagen 5" descr="Diagrama, Forma, Flecha&#10;&#10;Descripción generada automáticamente"/>
          <p:cNvPicPr/>
          <p:nvPr/>
        </p:nvPicPr>
        <p:blipFill>
          <a:blip r:embed="rId3" cstate="print">
            <a:extLst>
              <a:ext uri="{28A0092B-C50C-407E-A947-70E740481C1C}">
                <a14:useLocalDpi xmlns:a14="http://schemas.microsoft.com/office/drawing/2010/main" val="0"/>
              </a:ext>
            </a:extLst>
          </a:blip>
          <a:stretch>
            <a:fillRect/>
          </a:stretch>
        </p:blipFill>
        <p:spPr bwMode="auto">
          <a:xfrm>
            <a:off x="463752" y="322477"/>
            <a:ext cx="2055233" cy="1116180"/>
          </a:xfrm>
          <a:prstGeom prst="rect">
            <a:avLst/>
          </a:prstGeom>
          <a:noFill/>
        </p:spPr>
      </p:pic>
      <p:sp>
        <p:nvSpPr>
          <p:cNvPr id="7" name="CuadroTexto 6"/>
          <p:cNvSpPr txBox="1"/>
          <p:nvPr/>
        </p:nvSpPr>
        <p:spPr>
          <a:xfrm>
            <a:off x="8187908" y="6055759"/>
            <a:ext cx="3820886" cy="584775"/>
          </a:xfrm>
          <a:prstGeom prst="rect">
            <a:avLst/>
          </a:prstGeom>
          <a:noFill/>
        </p:spPr>
        <p:txBody>
          <a:bodyPr wrap="square" rtlCol="0">
            <a:spAutoFit/>
          </a:bodyPr>
          <a:lstStyle/>
          <a:p>
            <a:pPr algn="r"/>
            <a:r>
              <a:rPr lang="es-MX" sz="1600" b="1"/>
              <a:t>16 </a:t>
            </a:r>
            <a:r>
              <a:rPr lang="es-MX" sz="1600" b="1" dirty="0"/>
              <a:t>de septiembre del 2026.</a:t>
            </a:r>
          </a:p>
          <a:p>
            <a:pPr algn="r"/>
            <a:r>
              <a:rPr lang="es-MX" sz="1600" b="1" dirty="0"/>
              <a:t>Venustiano Carranza; Chiapas.</a:t>
            </a:r>
          </a:p>
        </p:txBody>
      </p:sp>
      <p:sp>
        <p:nvSpPr>
          <p:cNvPr id="8" name="CuadroTexto 7"/>
          <p:cNvSpPr txBox="1"/>
          <p:nvPr/>
        </p:nvSpPr>
        <p:spPr>
          <a:xfrm>
            <a:off x="2273938" y="141903"/>
            <a:ext cx="7824413" cy="738664"/>
          </a:xfrm>
          <a:prstGeom prst="rect">
            <a:avLst/>
          </a:prstGeom>
          <a:noFill/>
        </p:spPr>
        <p:txBody>
          <a:bodyPr wrap="square" rtlCol="0">
            <a:spAutoFit/>
          </a:bodyPr>
          <a:lstStyle/>
          <a:p>
            <a:pPr algn="ctr">
              <a:spcAft>
                <a:spcPts val="0"/>
              </a:spcAft>
            </a:pPr>
            <a:r>
              <a:rPr lang="es-MX" sz="2400" b="1" dirty="0">
                <a:solidFill>
                  <a:schemeClr val="tx1">
                    <a:lumMod val="85000"/>
                    <a:lumOff val="15000"/>
                  </a:schemeClr>
                </a:solidFill>
                <a:latin typeface="Arial" panose="020B0604020202020204" pitchFamily="34" charset="0"/>
                <a:ea typeface="Arial" panose="020B0604020202020204" pitchFamily="34" charset="0"/>
              </a:rPr>
              <a:t>TECNOLÓGICO NACIONAL DE MÉXICO</a:t>
            </a:r>
            <a:endParaRPr lang="es-MX" sz="1600" dirty="0">
              <a:solidFill>
                <a:schemeClr val="tx1">
                  <a:lumMod val="85000"/>
                  <a:lumOff val="15000"/>
                </a:schemeClr>
              </a:solidFill>
              <a:latin typeface="Arial" panose="020B0604020202020204" pitchFamily="34" charset="0"/>
              <a:ea typeface="Arial" panose="020B0604020202020204" pitchFamily="34" charset="0"/>
            </a:endParaRPr>
          </a:p>
          <a:p>
            <a:pPr algn="ctr">
              <a:spcAft>
                <a:spcPts val="0"/>
              </a:spcAft>
            </a:pPr>
            <a:r>
              <a:rPr lang="es-MX" b="1" dirty="0">
                <a:solidFill>
                  <a:schemeClr val="tx1">
                    <a:lumMod val="85000"/>
                    <a:lumOff val="15000"/>
                  </a:schemeClr>
                </a:solidFill>
                <a:latin typeface="Arial" panose="020B0604020202020204" pitchFamily="34" charset="0"/>
                <a:ea typeface="Arial" panose="020B0604020202020204" pitchFamily="34" charset="0"/>
              </a:rPr>
              <a:t>INSTITUTO TECNOLÓGICO DE FRONTERA COMALAPA</a:t>
            </a:r>
            <a:endParaRPr lang="es-MX" dirty="0">
              <a:solidFill>
                <a:schemeClr val="tx1">
                  <a:lumMod val="85000"/>
                  <a:lumOff val="15000"/>
                </a:schemeClr>
              </a:solidFill>
            </a:endParaRPr>
          </a:p>
        </p:txBody>
      </p:sp>
    </p:spTree>
    <p:extLst>
      <p:ext uri="{BB962C8B-B14F-4D97-AF65-F5344CB8AC3E}">
        <p14:creationId xmlns:p14="http://schemas.microsoft.com/office/powerpoint/2010/main" val="428822273"/>
      </p:ext>
    </p:extLst>
  </p:cSld>
  <p:clrMapOvr>
    <a:masterClrMapping/>
  </p:clrMapOvr>
  <mc:AlternateContent xmlns:mc="http://schemas.openxmlformats.org/markup-compatibility/2006" xmlns:p14="http://schemas.microsoft.com/office/powerpoint/2010/main">
    <mc:Choice Requires="p14">
      <p:transition spd="slow" p14:dur="2000" advTm="16663"/>
    </mc:Choice>
    <mc:Fallback xmlns="">
      <p:transition spd="slow" advTm="1666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ítulo 18">
            <a:extLst>
              <a:ext uri="{FF2B5EF4-FFF2-40B4-BE49-F238E27FC236}">
                <a16:creationId xmlns:a16="http://schemas.microsoft.com/office/drawing/2014/main" id="{622C38E7-AB3A-4467-9E91-9B1FCD14C009}"/>
              </a:ext>
            </a:extLst>
          </p:cNvPr>
          <p:cNvSpPr>
            <a:spLocks noGrp="1"/>
          </p:cNvSpPr>
          <p:nvPr>
            <p:ph type="title" idx="4294967295"/>
          </p:nvPr>
        </p:nvSpPr>
        <p:spPr>
          <a:xfrm>
            <a:off x="1386681" y="369888"/>
            <a:ext cx="9418638" cy="1176337"/>
          </a:xfrm>
          <a:solidFill>
            <a:schemeClr val="accent2">
              <a:lumMod val="60000"/>
              <a:lumOff val="40000"/>
            </a:schemeClr>
          </a:solidFill>
        </p:spPr>
        <p:txBody>
          <a:bodyPr anchor="ctr">
            <a:normAutofit/>
          </a:bodyPr>
          <a:lstStyle/>
          <a:p>
            <a:pPr algn="ctr"/>
            <a:r>
              <a:rPr lang="es-MX" sz="4000" dirty="0">
                <a:latin typeface="Arial Rounded MT Bold" panose="020F0704030504030204" pitchFamily="34" charset="0"/>
              </a:rPr>
              <a:t>Introducción</a:t>
            </a:r>
          </a:p>
        </p:txBody>
      </p:sp>
      <p:sp>
        <p:nvSpPr>
          <p:cNvPr id="20" name="Marcador de texto 19">
            <a:extLst>
              <a:ext uri="{FF2B5EF4-FFF2-40B4-BE49-F238E27FC236}">
                <a16:creationId xmlns:a16="http://schemas.microsoft.com/office/drawing/2014/main" id="{02E3D66B-922C-4241-9FC0-B769DC7417E4}"/>
              </a:ext>
            </a:extLst>
          </p:cNvPr>
          <p:cNvSpPr>
            <a:spLocks noGrp="1"/>
          </p:cNvSpPr>
          <p:nvPr>
            <p:ph type="body" idx="4294967295"/>
          </p:nvPr>
        </p:nvSpPr>
        <p:spPr>
          <a:xfrm>
            <a:off x="758031" y="1822075"/>
            <a:ext cx="10047288" cy="4719638"/>
          </a:xfrm>
        </p:spPr>
        <p:txBody>
          <a:bodyPr>
            <a:normAutofit fontScale="85000" lnSpcReduction="10000"/>
          </a:bodyPr>
          <a:lstStyle/>
          <a:p>
            <a:pPr marL="0" indent="0" algn="just">
              <a:lnSpc>
                <a:spcPct val="150000"/>
              </a:lnSpc>
              <a:buNone/>
            </a:pPr>
            <a:r>
              <a:rPr lang="es-MX" dirty="0">
                <a:latin typeface="Arial" panose="020B0604020202020204" pitchFamily="34" charset="0"/>
                <a:cs typeface="Arial" panose="020B0604020202020204" pitchFamily="34" charset="0"/>
              </a:rPr>
              <a:t>El presente banco de ejercicios tiene como finalidad documentar la ejecución práctica de un sistema de simulación desarrollado en Java, Python y R, mediante dos modelos principales: Línea de Espera e Inventario.</a:t>
            </a:r>
          </a:p>
          <a:p>
            <a:pPr marL="0" indent="0" algn="just">
              <a:lnSpc>
                <a:spcPct val="150000"/>
              </a:lnSpc>
              <a:buNone/>
            </a:pPr>
            <a:endParaRPr lang="es-MX" dirty="0">
              <a:latin typeface="Arial" panose="020B0604020202020204" pitchFamily="34" charset="0"/>
              <a:cs typeface="Arial" panose="020B0604020202020204" pitchFamily="34" charset="0"/>
            </a:endParaRPr>
          </a:p>
          <a:p>
            <a:pPr marL="0" indent="0" algn="just">
              <a:lnSpc>
                <a:spcPct val="150000"/>
              </a:lnSpc>
              <a:buNone/>
            </a:pPr>
            <a:r>
              <a:rPr lang="es-MX" dirty="0">
                <a:latin typeface="Arial" panose="020B0604020202020204" pitchFamily="34" charset="0"/>
                <a:cs typeface="Arial" panose="020B0604020202020204" pitchFamily="34" charset="0"/>
              </a:rPr>
              <a:t>A través de diferentes ejercicios se ingresan parámetros específicos para generar escenarios de simulación y observar el comportamiento de cada modelo. En Línea de Espera se analizan aspectos como la llegada de clientes, tiempos de atención, número de servidores y tiempos de espera; mientras que en Inventario se estudian la demanda, disponibilidad de productos, faltantes y puntos de reabastecimiento.</a:t>
            </a:r>
          </a:p>
          <a:p>
            <a:pPr marL="0" indent="0" algn="just">
              <a:lnSpc>
                <a:spcPct val="150000"/>
              </a:lnSpc>
              <a:buNone/>
            </a:pPr>
            <a:endParaRPr lang="es-MX" dirty="0">
              <a:latin typeface="Arial" panose="020B0604020202020204" pitchFamily="34" charset="0"/>
              <a:cs typeface="Arial" panose="020B0604020202020204" pitchFamily="34" charset="0"/>
            </a:endParaRPr>
          </a:p>
          <a:p>
            <a:pPr marL="0" indent="0" algn="just">
              <a:lnSpc>
                <a:spcPct val="150000"/>
              </a:lnSpc>
              <a:buNone/>
            </a:pPr>
            <a:r>
              <a:rPr lang="es-MX" dirty="0">
                <a:latin typeface="Arial" panose="020B0604020202020204" pitchFamily="34" charset="0"/>
                <a:cs typeface="Arial" panose="020B0604020202020204" pitchFamily="34" charset="0"/>
              </a:rPr>
              <a:t>Los ejercicios se ejecutan en los tres lenguajes con el propósito de comprobar el funcionamiento de las implementaciones y documentar visualmente los resultados obtenidos mediante capturas de pantalla.</a:t>
            </a:r>
            <a:endParaRPr lang="es-MX"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2755390"/>
      </p:ext>
    </p:extLst>
  </p:cSld>
  <p:clrMapOvr>
    <a:masterClrMapping/>
  </p:clrMapOvr>
  <mc:AlternateContent xmlns:mc="http://schemas.openxmlformats.org/markup-compatibility/2006" xmlns:p14="http://schemas.microsoft.com/office/powerpoint/2010/main">
    <mc:Choice Requires="p14">
      <p:transition spd="slow" p14:dur="2000" advTm="3740"/>
    </mc:Choice>
    <mc:Fallback xmlns="">
      <p:transition spd="slow" advTm="374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ítulo 18">
            <a:extLst>
              <a:ext uri="{FF2B5EF4-FFF2-40B4-BE49-F238E27FC236}">
                <a16:creationId xmlns:a16="http://schemas.microsoft.com/office/drawing/2014/main" id="{622C38E7-AB3A-4467-9E91-9B1FCD14C009}"/>
              </a:ext>
            </a:extLst>
          </p:cNvPr>
          <p:cNvSpPr>
            <a:spLocks noGrp="1"/>
          </p:cNvSpPr>
          <p:nvPr>
            <p:ph type="title" idx="4294967295"/>
          </p:nvPr>
        </p:nvSpPr>
        <p:spPr>
          <a:xfrm>
            <a:off x="699247" y="272210"/>
            <a:ext cx="9418638" cy="1176337"/>
          </a:xfrm>
          <a:solidFill>
            <a:schemeClr val="accent2">
              <a:lumMod val="60000"/>
              <a:lumOff val="40000"/>
            </a:schemeClr>
          </a:solidFill>
        </p:spPr>
        <p:txBody>
          <a:bodyPr anchor="ctr">
            <a:normAutofit/>
          </a:bodyPr>
          <a:lstStyle/>
          <a:p>
            <a:pPr algn="ctr"/>
            <a:r>
              <a:rPr lang="es-MX" sz="4000" dirty="0">
                <a:latin typeface="Arial Rounded MT Bold" panose="020F0704030504030204" pitchFamily="34" charset="0"/>
              </a:rPr>
              <a:t>Justificación</a:t>
            </a:r>
          </a:p>
        </p:txBody>
      </p:sp>
      <p:sp>
        <p:nvSpPr>
          <p:cNvPr id="20" name="Marcador de texto 19">
            <a:extLst>
              <a:ext uri="{FF2B5EF4-FFF2-40B4-BE49-F238E27FC236}">
                <a16:creationId xmlns:a16="http://schemas.microsoft.com/office/drawing/2014/main" id="{02E3D66B-922C-4241-9FC0-B769DC7417E4}"/>
              </a:ext>
            </a:extLst>
          </p:cNvPr>
          <p:cNvSpPr>
            <a:spLocks noGrp="1"/>
          </p:cNvSpPr>
          <p:nvPr>
            <p:ph type="body" idx="4294967295"/>
          </p:nvPr>
        </p:nvSpPr>
        <p:spPr>
          <a:xfrm>
            <a:off x="699247" y="1586566"/>
            <a:ext cx="10047288" cy="4719638"/>
          </a:xfrm>
        </p:spPr>
        <p:txBody>
          <a:bodyPr>
            <a:normAutofit/>
          </a:bodyPr>
          <a:lstStyle/>
          <a:p>
            <a:pPr marL="0" indent="0" algn="just">
              <a:lnSpc>
                <a:spcPct val="150000"/>
              </a:lnSpc>
              <a:buNone/>
            </a:pPr>
            <a:r>
              <a:rPr lang="es-MX" dirty="0">
                <a:latin typeface="Arial" panose="020B0604020202020204" pitchFamily="34" charset="0"/>
                <a:cs typeface="Arial" panose="020B0604020202020204" pitchFamily="34" charset="0"/>
              </a:rPr>
              <a:t>Realizar la ejecución de ejercicios prácticos permite comprobar el funcionamiento de los modelos desarrollados y observar cómo los parámetros de entrada influyen en los resultados de una simulación.</a:t>
            </a:r>
          </a:p>
          <a:p>
            <a:pPr marL="0" indent="0" algn="just">
              <a:lnSpc>
                <a:spcPct val="150000"/>
              </a:lnSpc>
              <a:buNone/>
            </a:pPr>
            <a:endParaRPr lang="es-MX" dirty="0">
              <a:latin typeface="Arial" panose="020B0604020202020204" pitchFamily="34" charset="0"/>
              <a:cs typeface="Arial" panose="020B0604020202020204" pitchFamily="34" charset="0"/>
            </a:endParaRPr>
          </a:p>
          <a:p>
            <a:pPr marL="0" indent="0" algn="just">
              <a:lnSpc>
                <a:spcPct val="150000"/>
              </a:lnSpc>
              <a:buNone/>
            </a:pPr>
            <a:r>
              <a:rPr lang="es-MX" dirty="0">
                <a:latin typeface="Arial" panose="020B0604020202020204" pitchFamily="34" charset="0"/>
                <a:cs typeface="Arial" panose="020B0604020202020204" pitchFamily="34" charset="0"/>
              </a:rPr>
              <a:t>El banco de ejercicios permite experimentar con distintos escenarios de Línea de Espera e Inventario, identificando situaciones como acumulación de clientes, tiempos de espera, disponibilidad de servidores, disminución de existencias, faltantes y necesidades de reabastecimiento. Asimismo, las pruebas estadísticas incorporadas permiten analizar los datos generados y aportar elementos para validar el comportamiento de las simulaciones.</a:t>
            </a:r>
            <a:endParaRPr lang="es-MX"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8432398"/>
      </p:ext>
    </p:extLst>
  </p:cSld>
  <p:clrMapOvr>
    <a:masterClrMapping/>
  </p:clrMapOvr>
  <mc:AlternateContent xmlns:mc="http://schemas.openxmlformats.org/markup-compatibility/2006" xmlns:p14="http://schemas.microsoft.com/office/powerpoint/2010/main">
    <mc:Choice Requires="p14">
      <p:transition spd="slow" p14:dur="2000" advTm="3740"/>
    </mc:Choice>
    <mc:Fallback xmlns="">
      <p:transition spd="slow" advTm="374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ítulo 18">
            <a:extLst>
              <a:ext uri="{FF2B5EF4-FFF2-40B4-BE49-F238E27FC236}">
                <a16:creationId xmlns:a16="http://schemas.microsoft.com/office/drawing/2014/main" id="{622C38E7-AB3A-4467-9E91-9B1FCD14C009}"/>
              </a:ext>
            </a:extLst>
          </p:cNvPr>
          <p:cNvSpPr>
            <a:spLocks noGrp="1"/>
          </p:cNvSpPr>
          <p:nvPr>
            <p:ph type="title"/>
          </p:nvPr>
        </p:nvSpPr>
        <p:spPr>
          <a:xfrm>
            <a:off x="753036" y="258183"/>
            <a:ext cx="9692640" cy="1325562"/>
          </a:xfrm>
          <a:solidFill>
            <a:schemeClr val="accent2">
              <a:lumMod val="60000"/>
              <a:lumOff val="40000"/>
            </a:schemeClr>
          </a:solidFill>
        </p:spPr>
        <p:txBody>
          <a:bodyPr anchor="ctr">
            <a:normAutofit/>
          </a:bodyPr>
          <a:lstStyle/>
          <a:p>
            <a:pPr algn="ctr"/>
            <a:r>
              <a:rPr lang="es-MX" sz="4000" dirty="0">
                <a:latin typeface="Arial Rounded MT Bold" panose="020F0704030504030204" pitchFamily="34" charset="0"/>
              </a:rPr>
              <a:t>Objetivo general</a:t>
            </a:r>
          </a:p>
        </p:txBody>
      </p:sp>
      <p:sp>
        <p:nvSpPr>
          <p:cNvPr id="20" name="Marcador de texto 19">
            <a:extLst>
              <a:ext uri="{FF2B5EF4-FFF2-40B4-BE49-F238E27FC236}">
                <a16:creationId xmlns:a16="http://schemas.microsoft.com/office/drawing/2014/main" id="{02E3D66B-922C-4241-9FC0-B769DC7417E4}"/>
              </a:ext>
            </a:extLst>
          </p:cNvPr>
          <p:cNvSpPr>
            <a:spLocks noGrp="1"/>
          </p:cNvSpPr>
          <p:nvPr>
            <p:ph type="body" idx="4294967295"/>
          </p:nvPr>
        </p:nvSpPr>
        <p:spPr>
          <a:xfrm>
            <a:off x="753036" y="1691322"/>
            <a:ext cx="10047288" cy="4719638"/>
          </a:xfrm>
        </p:spPr>
        <p:txBody>
          <a:bodyPr>
            <a:normAutofit/>
          </a:bodyPr>
          <a:lstStyle/>
          <a:p>
            <a:pPr marL="0" indent="0" algn="just">
              <a:lnSpc>
                <a:spcPct val="150000"/>
              </a:lnSpc>
              <a:buNone/>
            </a:pPr>
            <a:r>
              <a:rPr lang="es-MX" dirty="0">
                <a:latin typeface="Arial" panose="020B0604020202020204" pitchFamily="34" charset="0"/>
                <a:cs typeface="Arial" panose="020B0604020202020204" pitchFamily="34" charset="0"/>
              </a:rPr>
              <a:t>Ejecutar y documentar diferentes ejercicios de los modelos de Línea de Espera e Inventario implementados en Java, Python y R, mediante la configuración de distintos parámetros de entrada, con la finalidad de comprobar su funcionamiento, analizar los resultados generados y aplicar las pruebas estadísticas de validación correspondientes.</a:t>
            </a:r>
            <a:endParaRPr lang="es-MX"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7544395"/>
      </p:ext>
    </p:extLst>
  </p:cSld>
  <p:clrMapOvr>
    <a:masterClrMapping/>
  </p:clrMapOvr>
  <mc:AlternateContent xmlns:mc="http://schemas.openxmlformats.org/markup-compatibility/2006" xmlns:p14="http://schemas.microsoft.com/office/powerpoint/2010/main">
    <mc:Choice Requires="p14">
      <p:transition spd="slow" p14:dur="2000" advTm="3740"/>
    </mc:Choice>
    <mc:Fallback xmlns="">
      <p:transition spd="slow" advTm="374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ítulo 18">
            <a:extLst>
              <a:ext uri="{FF2B5EF4-FFF2-40B4-BE49-F238E27FC236}">
                <a16:creationId xmlns:a16="http://schemas.microsoft.com/office/drawing/2014/main" id="{622C38E7-AB3A-4467-9E91-9B1FCD14C009}"/>
              </a:ext>
            </a:extLst>
          </p:cNvPr>
          <p:cNvSpPr>
            <a:spLocks noGrp="1"/>
          </p:cNvSpPr>
          <p:nvPr>
            <p:ph type="title"/>
          </p:nvPr>
        </p:nvSpPr>
        <p:spPr>
          <a:xfrm>
            <a:off x="777778" y="352313"/>
            <a:ext cx="9692640" cy="1325562"/>
          </a:xfrm>
          <a:solidFill>
            <a:schemeClr val="accent2">
              <a:lumMod val="60000"/>
              <a:lumOff val="40000"/>
            </a:schemeClr>
          </a:solidFill>
        </p:spPr>
        <p:txBody>
          <a:bodyPr anchor="ctr">
            <a:normAutofit/>
          </a:bodyPr>
          <a:lstStyle/>
          <a:p>
            <a:pPr algn="ctr"/>
            <a:r>
              <a:rPr lang="es-MX" sz="4000" dirty="0">
                <a:latin typeface="Arial Rounded MT Bold" panose="020F0704030504030204" pitchFamily="34" charset="0"/>
              </a:rPr>
              <a:t>Objetivo especifico</a:t>
            </a:r>
          </a:p>
        </p:txBody>
      </p:sp>
      <p:sp>
        <p:nvSpPr>
          <p:cNvPr id="20" name="Marcador de texto 19">
            <a:extLst>
              <a:ext uri="{FF2B5EF4-FFF2-40B4-BE49-F238E27FC236}">
                <a16:creationId xmlns:a16="http://schemas.microsoft.com/office/drawing/2014/main" id="{02E3D66B-922C-4241-9FC0-B769DC7417E4}"/>
              </a:ext>
            </a:extLst>
          </p:cNvPr>
          <p:cNvSpPr>
            <a:spLocks noGrp="1"/>
          </p:cNvSpPr>
          <p:nvPr>
            <p:ph type="body" idx="4294967295"/>
          </p:nvPr>
        </p:nvSpPr>
        <p:spPr>
          <a:xfrm>
            <a:off x="600454" y="1949636"/>
            <a:ext cx="10047288" cy="4719638"/>
          </a:xfrm>
        </p:spPr>
        <p:txBody>
          <a:bodyPr>
            <a:normAutofit fontScale="85000" lnSpcReduction="10000"/>
          </a:bodyPr>
          <a:lstStyle/>
          <a:p>
            <a:pPr marL="342900" indent="-342900" algn="just">
              <a:lnSpc>
                <a:spcPct val="150000"/>
              </a:lnSpc>
              <a:buClr>
                <a:srgbClr val="7030A0"/>
              </a:buClr>
              <a:buFont typeface="Wingdings" panose="05000000000000000000" pitchFamily="2" charset="2"/>
              <a:buChar char="q"/>
            </a:pPr>
            <a:r>
              <a:rPr lang="es-MX" sz="1600" dirty="0">
                <a:latin typeface="Arial" panose="020B0604020202020204" pitchFamily="34" charset="0"/>
                <a:cs typeface="Arial" panose="020B0604020202020204" pitchFamily="34" charset="0"/>
              </a:rPr>
              <a:t>Ejecutar el modelo de Línea de Espera utilizando diferentes parámetros de llegada, atención y cantidad de servidores.</a:t>
            </a:r>
          </a:p>
          <a:p>
            <a:pPr marL="342900" indent="-342900" algn="just">
              <a:lnSpc>
                <a:spcPct val="150000"/>
              </a:lnSpc>
              <a:buClr>
                <a:srgbClr val="7030A0"/>
              </a:buClr>
              <a:buFont typeface="Wingdings" panose="05000000000000000000" pitchFamily="2" charset="2"/>
              <a:buChar char="q"/>
            </a:pPr>
            <a:r>
              <a:rPr lang="es-MX" sz="1600" dirty="0">
                <a:latin typeface="Arial" panose="020B0604020202020204" pitchFamily="34" charset="0"/>
                <a:cs typeface="Arial" panose="020B0604020202020204" pitchFamily="34" charset="0"/>
              </a:rPr>
              <a:t>Analizar los tiempos de espera y el comportamiento de los clientes generados durante cada simulación.</a:t>
            </a:r>
          </a:p>
          <a:p>
            <a:pPr marL="342900" indent="-342900" algn="just">
              <a:lnSpc>
                <a:spcPct val="150000"/>
              </a:lnSpc>
              <a:buClr>
                <a:srgbClr val="7030A0"/>
              </a:buClr>
              <a:buFont typeface="Wingdings" panose="05000000000000000000" pitchFamily="2" charset="2"/>
              <a:buChar char="q"/>
            </a:pPr>
            <a:r>
              <a:rPr lang="es-MX" sz="1600" dirty="0">
                <a:latin typeface="Arial" panose="020B0604020202020204" pitchFamily="34" charset="0"/>
                <a:cs typeface="Arial" panose="020B0604020202020204" pitchFamily="34" charset="0"/>
              </a:rPr>
              <a:t>Ejecutar diferentes escenarios del modelo de Inventario modificando los parámetros de demanda, existencias y reabastecimiento.</a:t>
            </a:r>
          </a:p>
          <a:p>
            <a:pPr marL="342900" indent="-342900" algn="just">
              <a:lnSpc>
                <a:spcPct val="150000"/>
              </a:lnSpc>
              <a:buClr>
                <a:srgbClr val="7030A0"/>
              </a:buClr>
              <a:buFont typeface="Wingdings" panose="05000000000000000000" pitchFamily="2" charset="2"/>
              <a:buChar char="q"/>
            </a:pPr>
            <a:r>
              <a:rPr lang="es-MX" sz="1600" dirty="0">
                <a:latin typeface="Arial" panose="020B0604020202020204" pitchFamily="34" charset="0"/>
                <a:cs typeface="Arial" panose="020B0604020202020204" pitchFamily="34" charset="0"/>
              </a:rPr>
              <a:t>Identificar situaciones de inventario suficiente, bajo o crítico, así como la generación de pedidos de reabastecimiento.</a:t>
            </a:r>
          </a:p>
          <a:p>
            <a:pPr marL="342900" indent="-342900" algn="just">
              <a:lnSpc>
                <a:spcPct val="150000"/>
              </a:lnSpc>
              <a:buClr>
                <a:srgbClr val="7030A0"/>
              </a:buClr>
              <a:buFont typeface="Wingdings" panose="05000000000000000000" pitchFamily="2" charset="2"/>
              <a:buChar char="q"/>
            </a:pPr>
            <a:r>
              <a:rPr lang="es-MX" sz="1600" dirty="0">
                <a:latin typeface="Arial" panose="020B0604020202020204" pitchFamily="34" charset="0"/>
                <a:cs typeface="Arial" panose="020B0604020202020204" pitchFamily="34" charset="0"/>
              </a:rPr>
              <a:t>Aplicar las pruebas estadísticas disponibles para validar los datos obtenidos en cada modelo.</a:t>
            </a:r>
          </a:p>
          <a:p>
            <a:pPr marL="342900" indent="-342900" algn="just">
              <a:lnSpc>
                <a:spcPct val="150000"/>
              </a:lnSpc>
              <a:buClr>
                <a:srgbClr val="7030A0"/>
              </a:buClr>
              <a:buFont typeface="Wingdings" panose="05000000000000000000" pitchFamily="2" charset="2"/>
              <a:buChar char="q"/>
            </a:pPr>
            <a:r>
              <a:rPr lang="es-MX" sz="1600" dirty="0">
                <a:latin typeface="Arial" panose="020B0604020202020204" pitchFamily="34" charset="0"/>
                <a:cs typeface="Arial" panose="020B0604020202020204" pitchFamily="34" charset="0"/>
              </a:rPr>
              <a:t>Ejecutar los mismos modelos en Java, Python y R para comprobar el funcionamiento de las tres implementaciones.</a:t>
            </a:r>
          </a:p>
          <a:p>
            <a:pPr marL="342900" indent="-342900" algn="just">
              <a:lnSpc>
                <a:spcPct val="150000"/>
              </a:lnSpc>
              <a:buClr>
                <a:srgbClr val="7030A0"/>
              </a:buClr>
              <a:buFont typeface="Wingdings" panose="05000000000000000000" pitchFamily="2" charset="2"/>
              <a:buChar char="q"/>
            </a:pPr>
            <a:r>
              <a:rPr lang="es-MX" sz="1600" dirty="0">
                <a:latin typeface="Arial" panose="020B0604020202020204" pitchFamily="34" charset="0"/>
                <a:cs typeface="Arial" panose="020B0604020202020204" pitchFamily="34" charset="0"/>
              </a:rPr>
              <a:t>Documentar mediante capturas de pantalla los parámetros utilizados y los resultados obtenidos en cada ejercicio.</a:t>
            </a:r>
            <a:endParaRPr lang="es-MX" sz="1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7977927"/>
      </p:ext>
    </p:extLst>
  </p:cSld>
  <p:clrMapOvr>
    <a:masterClrMapping/>
  </p:clrMapOvr>
  <mc:AlternateContent xmlns:mc="http://schemas.openxmlformats.org/markup-compatibility/2006" xmlns:p14="http://schemas.microsoft.com/office/powerpoint/2010/main">
    <mc:Choice Requires="p14">
      <p:transition spd="slow" p14:dur="2000" advTm="3740"/>
    </mc:Choice>
    <mc:Fallback xmlns="">
      <p:transition spd="slow" advTm="374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arcador de texto 19">
            <a:extLst>
              <a:ext uri="{FF2B5EF4-FFF2-40B4-BE49-F238E27FC236}">
                <a16:creationId xmlns:a16="http://schemas.microsoft.com/office/drawing/2014/main" id="{02E3D66B-922C-4241-9FC0-B769DC7417E4}"/>
              </a:ext>
            </a:extLst>
          </p:cNvPr>
          <p:cNvSpPr>
            <a:spLocks noGrp="1"/>
          </p:cNvSpPr>
          <p:nvPr>
            <p:ph type="body" idx="4294967295"/>
          </p:nvPr>
        </p:nvSpPr>
        <p:spPr>
          <a:xfrm>
            <a:off x="524435" y="1768474"/>
            <a:ext cx="10047288" cy="4719638"/>
          </a:xfrm>
        </p:spPr>
        <p:txBody>
          <a:bodyPr>
            <a:normAutofit lnSpcReduction="10000"/>
          </a:bodyPr>
          <a:lstStyle/>
          <a:p>
            <a:pPr marL="0" indent="0" algn="just">
              <a:lnSpc>
                <a:spcPct val="150000"/>
              </a:lnSpc>
              <a:buNone/>
            </a:pPr>
            <a:r>
              <a:rPr lang="es-MX" dirty="0">
                <a:solidFill>
                  <a:schemeClr val="tx1"/>
                </a:solidFill>
                <a:latin typeface="Arial" panose="020B0604020202020204" pitchFamily="34" charset="0"/>
                <a:cs typeface="Arial" panose="020B0604020202020204" pitchFamily="34" charset="0"/>
              </a:rPr>
              <a:t>El programa resuelve la necesidad de simular y analizar fenómenos que presentan comportamientos aleatorios, utilizando diferentes métodos estadísticos y probabilísticos. Esto permite obtener datos que pueden representar situaciones reales sin necesidad de realizar el experimento directamente.</a:t>
            </a:r>
          </a:p>
          <a:p>
            <a:pPr marL="0" indent="0" algn="just">
              <a:lnSpc>
                <a:spcPct val="150000"/>
              </a:lnSpc>
              <a:buNone/>
            </a:pPr>
            <a:r>
              <a:rPr lang="es-MX" dirty="0">
                <a:solidFill>
                  <a:schemeClr val="tx1"/>
                </a:solidFill>
                <a:latin typeface="Arial" panose="020B0604020202020204" pitchFamily="34" charset="0"/>
                <a:cs typeface="Arial" panose="020B0604020202020204" pitchFamily="34" charset="0"/>
              </a:rPr>
              <a:t>Además, permite generar variables aleatorias discretas y continuas, aplicar diferentes métodos de generación y realizar pruebas estadísticas sobre los datos obtenidos. De esta manera, se pueden estudiar los resultados y comprobar si presentan un comportamiento acorde con el modelo utilizado.</a:t>
            </a:r>
          </a:p>
          <a:p>
            <a:pPr marL="0" indent="0" algn="just">
              <a:lnSpc>
                <a:spcPct val="150000"/>
              </a:lnSpc>
              <a:buNone/>
            </a:pPr>
            <a:r>
              <a:rPr lang="es-MX" dirty="0">
                <a:solidFill>
                  <a:schemeClr val="tx1"/>
                </a:solidFill>
                <a:latin typeface="Arial" panose="020B0604020202020204" pitchFamily="34" charset="0"/>
                <a:cs typeface="Arial" panose="020B0604020202020204" pitchFamily="34" charset="0"/>
              </a:rPr>
              <a:t>En general, el programa facilita la comprensión, simulación y análisis de problemas de probabilidad y estadística mediante herramientas computacionales, integrando los conocimientos teóricos con la programación en R, Python y </a:t>
            </a:r>
            <a:r>
              <a:rPr lang="es-MX" dirty="0" err="1">
                <a:solidFill>
                  <a:schemeClr val="tx1"/>
                </a:solidFill>
                <a:latin typeface="Arial" panose="020B0604020202020204" pitchFamily="34" charset="0"/>
                <a:cs typeface="Arial" panose="020B0604020202020204" pitchFamily="34" charset="0"/>
              </a:rPr>
              <a:t>JavaFX</a:t>
            </a:r>
            <a:r>
              <a:rPr lang="es-MX" dirty="0">
                <a:solidFill>
                  <a:schemeClr val="tx1"/>
                </a:solidFill>
                <a:latin typeface="Arial" panose="020B0604020202020204" pitchFamily="34" charset="0"/>
                <a:cs typeface="Arial" panose="020B0604020202020204" pitchFamily="34" charset="0"/>
              </a:rPr>
              <a:t>.</a:t>
            </a:r>
          </a:p>
        </p:txBody>
      </p:sp>
      <p:sp>
        <p:nvSpPr>
          <p:cNvPr id="19" name="Título 18">
            <a:extLst>
              <a:ext uri="{FF2B5EF4-FFF2-40B4-BE49-F238E27FC236}">
                <a16:creationId xmlns:a16="http://schemas.microsoft.com/office/drawing/2014/main" id="{622C38E7-AB3A-4467-9E91-9B1FCD14C009}"/>
              </a:ext>
            </a:extLst>
          </p:cNvPr>
          <p:cNvSpPr>
            <a:spLocks noGrp="1"/>
          </p:cNvSpPr>
          <p:nvPr>
            <p:ph type="title" idx="4294967295"/>
          </p:nvPr>
        </p:nvSpPr>
        <p:spPr>
          <a:xfrm>
            <a:off x="628650" y="369888"/>
            <a:ext cx="9418638" cy="1176337"/>
          </a:xfrm>
          <a:solidFill>
            <a:schemeClr val="accent2">
              <a:lumMod val="60000"/>
              <a:lumOff val="40000"/>
            </a:schemeClr>
          </a:solidFill>
        </p:spPr>
        <p:txBody>
          <a:bodyPr anchor="ctr">
            <a:normAutofit/>
          </a:bodyPr>
          <a:lstStyle/>
          <a:p>
            <a:pPr algn="ctr"/>
            <a:r>
              <a:rPr lang="es-MX" sz="4000" dirty="0">
                <a:latin typeface="Arial Rounded MT Bold" panose="020F0704030504030204" pitchFamily="34" charset="0"/>
              </a:rPr>
              <a:t>¿Qué se resuelve?</a:t>
            </a:r>
          </a:p>
        </p:txBody>
      </p:sp>
    </p:spTree>
    <p:extLst>
      <p:ext uri="{BB962C8B-B14F-4D97-AF65-F5344CB8AC3E}">
        <p14:creationId xmlns:p14="http://schemas.microsoft.com/office/powerpoint/2010/main" val="3562331769"/>
      </p:ext>
    </p:extLst>
  </p:cSld>
  <p:clrMapOvr>
    <a:masterClrMapping/>
  </p:clrMapOvr>
  <mc:AlternateContent xmlns:mc="http://schemas.openxmlformats.org/markup-compatibility/2006" xmlns:p14="http://schemas.microsoft.com/office/powerpoint/2010/main">
    <mc:Choice Requires="p14">
      <p:transition spd="slow" p14:dur="2000" advTm="3740"/>
    </mc:Choice>
    <mc:Fallback xmlns="">
      <p:transition spd="slow" advTm="374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865685" y="1408176"/>
            <a:ext cx="9888750" cy="4041648"/>
          </a:xfrm>
        </p:spPr>
        <p:txBody>
          <a:bodyPr anchor="ctr">
            <a:normAutofit/>
          </a:bodyPr>
          <a:lstStyle/>
          <a:p>
            <a:pPr algn="ctr"/>
            <a:r>
              <a:rPr lang="es-MX" sz="6000" dirty="0">
                <a:latin typeface="Arial Rounded MT Bold" panose="020F0704030504030204" pitchFamily="34" charset="0"/>
              </a:rPr>
              <a:t>Simulador de Lista de Espera e Inventario desarrollado en Java</a:t>
            </a:r>
          </a:p>
        </p:txBody>
      </p:sp>
    </p:spTree>
    <p:extLst>
      <p:ext uri="{BB962C8B-B14F-4D97-AF65-F5344CB8AC3E}">
        <p14:creationId xmlns:p14="http://schemas.microsoft.com/office/powerpoint/2010/main" val="2114367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83EE5D53-F2E5-474C-B711-65A389ED884A}"/>
              </a:ext>
            </a:extLst>
          </p:cNvPr>
          <p:cNvSpPr>
            <a:spLocks noGrp="1"/>
          </p:cNvSpPr>
          <p:nvPr>
            <p:ph idx="1"/>
          </p:nvPr>
        </p:nvSpPr>
        <p:spPr>
          <a:xfrm>
            <a:off x="1298067" y="2084294"/>
            <a:ext cx="9253728" cy="4351337"/>
          </a:xfrm>
        </p:spPr>
        <p:txBody>
          <a:bodyPr/>
          <a:lstStyle/>
          <a:p>
            <a:pPr marL="0" indent="0" algn="just">
              <a:lnSpc>
                <a:spcPct val="150000"/>
              </a:lnSpc>
              <a:buNone/>
            </a:pPr>
            <a:r>
              <a:rPr lang="es-MX" dirty="0">
                <a:latin typeface="Arial" panose="020B0604020202020204" pitchFamily="34" charset="0"/>
                <a:cs typeface="Arial" panose="020B0604020202020204" pitchFamily="34" charset="0"/>
              </a:rPr>
              <a:t>La versión desarrollada en Java permite ejecutar los modelos de Línea de Espera e Inventario mediante una interfaz gráfica construida con </a:t>
            </a:r>
            <a:r>
              <a:rPr lang="es-MX" dirty="0" err="1">
                <a:latin typeface="Arial" panose="020B0604020202020204" pitchFamily="34" charset="0"/>
                <a:cs typeface="Arial" panose="020B0604020202020204" pitchFamily="34" charset="0"/>
              </a:rPr>
              <a:t>JavaFX</a:t>
            </a:r>
            <a:r>
              <a:rPr lang="es-MX" dirty="0">
                <a:latin typeface="Arial" panose="020B0604020202020204" pitchFamily="34" charset="0"/>
                <a:cs typeface="Arial" panose="020B0604020202020204" pitchFamily="34" charset="0"/>
              </a:rPr>
              <a:t>. El usuario proporciona los parámetros del escenario y el sistema procesa la simulación, presenta los registros generados, calcula los indicadores correspondientes y permite realizar las pruebas de validación disponibles.</a:t>
            </a:r>
          </a:p>
        </p:txBody>
      </p:sp>
      <p:sp>
        <p:nvSpPr>
          <p:cNvPr id="6" name="Título 1">
            <a:extLst>
              <a:ext uri="{FF2B5EF4-FFF2-40B4-BE49-F238E27FC236}">
                <a16:creationId xmlns:a16="http://schemas.microsoft.com/office/drawing/2014/main" id="{D8B012DD-EEDC-4F3C-A390-797E11D93502}"/>
              </a:ext>
            </a:extLst>
          </p:cNvPr>
          <p:cNvSpPr>
            <a:spLocks noGrp="1"/>
          </p:cNvSpPr>
          <p:nvPr>
            <p:ph type="title"/>
          </p:nvPr>
        </p:nvSpPr>
        <p:spPr>
          <a:xfrm>
            <a:off x="1051873" y="190503"/>
            <a:ext cx="9746116" cy="1234885"/>
          </a:xfrm>
          <a:solidFill>
            <a:schemeClr val="tx2">
              <a:lumMod val="75000"/>
            </a:schemeClr>
          </a:solidFill>
        </p:spPr>
        <p:txBody>
          <a:bodyPr anchor="ctr">
            <a:normAutofit/>
          </a:bodyPr>
          <a:lstStyle/>
          <a:p>
            <a:pPr algn="ctr"/>
            <a:r>
              <a:rPr lang="es-MX" sz="36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Simulador de Lista de Espera e Inventario desarrollado en Java</a:t>
            </a:r>
          </a:p>
        </p:txBody>
      </p:sp>
    </p:spTree>
    <p:extLst>
      <p:ext uri="{BB962C8B-B14F-4D97-AF65-F5344CB8AC3E}">
        <p14:creationId xmlns:p14="http://schemas.microsoft.com/office/powerpoint/2010/main" val="493911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71EBD921-73D6-41FB-BE54-0371BC60DE40}"/>
              </a:ext>
            </a:extLst>
          </p:cNvPr>
          <p:cNvSpPr>
            <a:spLocks noGrp="1"/>
          </p:cNvSpPr>
          <p:nvPr>
            <p:ph type="title"/>
          </p:nvPr>
        </p:nvSpPr>
        <p:spPr>
          <a:xfrm>
            <a:off x="682838" y="2913327"/>
            <a:ext cx="10198788" cy="1739355"/>
          </a:xfrm>
          <a:solidFill>
            <a:schemeClr val="tx2">
              <a:lumMod val="75000"/>
            </a:schemeClr>
          </a:solidFill>
        </p:spPr>
        <p:txBody>
          <a:bodyPr anchor="ctr">
            <a:normAutofit/>
          </a:body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 principal en </a:t>
            </a: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JavaFX</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spTree>
    <p:extLst>
      <p:ext uri="{BB962C8B-B14F-4D97-AF65-F5344CB8AC3E}">
        <p14:creationId xmlns:p14="http://schemas.microsoft.com/office/powerpoint/2010/main" val="1154927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 Principal en </a:t>
            </a: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JavaFX</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653988"/>
            <a:ext cx="5220420" cy="471991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500" dirty="0">
                <a:latin typeface="Arial" panose="020B0604020202020204" pitchFamily="34" charset="0"/>
                <a:cs typeface="Arial" panose="020B0604020202020204" pitchFamily="34" charset="0"/>
              </a:rPr>
              <a:t>La interfaz presenta un menú principal para el Simulador de Línea de Espera e Inventario, organizado mediante tarjetas que permiten acceder a los diferentes módulos del sistema.</a:t>
            </a:r>
          </a:p>
          <a:p>
            <a:pPr marL="0" indent="0" algn="just">
              <a:lnSpc>
                <a:spcPct val="150000"/>
              </a:lnSpc>
              <a:buNone/>
            </a:pPr>
            <a:r>
              <a:rPr lang="es-MX" sz="1500" dirty="0">
                <a:latin typeface="Arial" panose="020B0604020202020204" pitchFamily="34" charset="0"/>
                <a:cs typeface="Arial" panose="020B0604020202020204" pitchFamily="34" charset="0"/>
              </a:rPr>
              <a:t>Cada tarjeta identifica un módulo mediante un ícono, título, descripción y botón de acceso. Desde esta pantalla se puede ingresar en ambas simulaciones.</a:t>
            </a:r>
          </a:p>
          <a:p>
            <a:pPr marL="0" indent="0" algn="just">
              <a:lnSpc>
                <a:spcPct val="150000"/>
              </a:lnSpc>
              <a:buNone/>
            </a:pPr>
            <a:r>
              <a:rPr lang="es-MX" sz="1500" dirty="0">
                <a:latin typeface="Arial" panose="020B0604020202020204" pitchFamily="34" charset="0"/>
                <a:cs typeface="Arial" panose="020B0604020202020204" pitchFamily="34" charset="0"/>
              </a:rPr>
              <a:t>También incluye un botón para salir del simulador. La interfaz utiliza </a:t>
            </a:r>
            <a:r>
              <a:rPr lang="es-MX" sz="1500" dirty="0" err="1">
                <a:latin typeface="Arial" panose="020B0604020202020204" pitchFamily="34" charset="0"/>
                <a:cs typeface="Arial" panose="020B0604020202020204" pitchFamily="34" charset="0"/>
              </a:rPr>
              <a:t>JavaFX</a:t>
            </a:r>
            <a:r>
              <a:rPr lang="es-MX" sz="1500" dirty="0">
                <a:latin typeface="Arial" panose="020B0604020202020204" pitchFamily="34" charset="0"/>
                <a:cs typeface="Arial" panose="020B0604020202020204" pitchFamily="34" charset="0"/>
              </a:rPr>
              <a:t> y un diseño estructurado mediante componentes visuales como </a:t>
            </a:r>
            <a:r>
              <a:rPr lang="es-MX" sz="1500" dirty="0" err="1">
                <a:latin typeface="Arial" panose="020B0604020202020204" pitchFamily="34" charset="0"/>
                <a:cs typeface="Arial" panose="020B0604020202020204" pitchFamily="34" charset="0"/>
              </a:rPr>
              <a:t>VBox</a:t>
            </a:r>
            <a:r>
              <a:rPr lang="es-MX" sz="1500" dirty="0">
                <a:latin typeface="Arial" panose="020B0604020202020204" pitchFamily="34" charset="0"/>
                <a:cs typeface="Arial" panose="020B0604020202020204" pitchFamily="34" charset="0"/>
              </a:rPr>
              <a:t>, </a:t>
            </a:r>
            <a:r>
              <a:rPr lang="es-MX" sz="1500" dirty="0" err="1">
                <a:latin typeface="Arial" panose="020B0604020202020204" pitchFamily="34" charset="0"/>
                <a:cs typeface="Arial" panose="020B0604020202020204" pitchFamily="34" charset="0"/>
              </a:rPr>
              <a:t>GridPane</a:t>
            </a:r>
            <a:r>
              <a:rPr lang="es-MX" sz="1500" dirty="0">
                <a:latin typeface="Arial" panose="020B0604020202020204" pitchFamily="34" charset="0"/>
                <a:cs typeface="Arial" panose="020B0604020202020204" pitchFamily="34" charset="0"/>
              </a:rPr>
              <a:t>, </a:t>
            </a:r>
            <a:r>
              <a:rPr lang="es-MX" sz="1500" dirty="0" err="1">
                <a:latin typeface="Arial" panose="020B0604020202020204" pitchFamily="34" charset="0"/>
                <a:cs typeface="Arial" panose="020B0604020202020204" pitchFamily="34" charset="0"/>
              </a:rPr>
              <a:t>Button</a:t>
            </a:r>
            <a:r>
              <a:rPr lang="es-MX" sz="1500" dirty="0">
                <a:latin typeface="Arial" panose="020B0604020202020204" pitchFamily="34" charset="0"/>
                <a:cs typeface="Arial" panose="020B0604020202020204" pitchFamily="34" charset="0"/>
              </a:rPr>
              <a:t> y </a:t>
            </a:r>
            <a:r>
              <a:rPr lang="es-MX" sz="1500" dirty="0" err="1">
                <a:latin typeface="Arial" panose="020B0604020202020204" pitchFamily="34" charset="0"/>
                <a:cs typeface="Arial" panose="020B0604020202020204" pitchFamily="34" charset="0"/>
              </a:rPr>
              <a:t>Label</a:t>
            </a:r>
            <a:r>
              <a:rPr lang="es-MX" sz="1500" dirty="0">
                <a:latin typeface="Arial" panose="020B0604020202020204" pitchFamily="34" charset="0"/>
                <a:cs typeface="Arial" panose="020B0604020202020204" pitchFamily="34" charset="0"/>
              </a:rPr>
              <a:t>.</a:t>
            </a:r>
          </a:p>
          <a:p>
            <a:pPr marL="0" indent="0" algn="just">
              <a:lnSpc>
                <a:spcPct val="150000"/>
              </a:lnSpc>
              <a:buNone/>
            </a:pPr>
            <a:r>
              <a:rPr lang="es-MX" sz="1500" dirty="0">
                <a:latin typeface="Arial" panose="020B0604020202020204" pitchFamily="34" charset="0"/>
                <a:cs typeface="Arial" panose="020B0604020202020204" pitchFamily="34" charset="0"/>
              </a:rPr>
              <a:t>La  imagen  1 muestra la interfaz de la ventana inicial.</a:t>
            </a:r>
          </a:p>
        </p:txBody>
      </p:sp>
      <p:sp>
        <p:nvSpPr>
          <p:cNvPr id="6" name="CuadroTexto 5">
            <a:extLst>
              <a:ext uri="{FF2B5EF4-FFF2-40B4-BE49-F238E27FC236}">
                <a16:creationId xmlns:a16="http://schemas.microsoft.com/office/drawing/2014/main" id="{585C24D2-8542-46C9-AA21-975263AD685D}"/>
              </a:ext>
            </a:extLst>
          </p:cNvPr>
          <p:cNvSpPr txBox="1"/>
          <p:nvPr/>
        </p:nvSpPr>
        <p:spPr>
          <a:xfrm>
            <a:off x="7019753" y="5772591"/>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1</a:t>
            </a:r>
          </a:p>
        </p:txBody>
      </p:sp>
      <p:pic>
        <p:nvPicPr>
          <p:cNvPr id="5" name="Imagen 4">
            <a:extLst>
              <a:ext uri="{FF2B5EF4-FFF2-40B4-BE49-F238E27FC236}">
                <a16:creationId xmlns:a16="http://schemas.microsoft.com/office/drawing/2014/main" id="{1F018258-FC4C-4EB8-9EB4-D22F456E3292}"/>
              </a:ext>
            </a:extLst>
          </p:cNvPr>
          <p:cNvPicPr>
            <a:picLocks noChangeAspect="1"/>
          </p:cNvPicPr>
          <p:nvPr/>
        </p:nvPicPr>
        <p:blipFill>
          <a:blip r:embed="rId2"/>
          <a:stretch>
            <a:fillRect/>
          </a:stretch>
        </p:blipFill>
        <p:spPr>
          <a:xfrm>
            <a:off x="6048280" y="1653988"/>
            <a:ext cx="5065619" cy="3676048"/>
          </a:xfrm>
          <a:prstGeom prst="rect">
            <a:avLst/>
          </a:prstGeom>
        </p:spPr>
      </p:pic>
    </p:spTree>
    <p:extLst>
      <p:ext uri="{BB962C8B-B14F-4D97-AF65-F5344CB8AC3E}">
        <p14:creationId xmlns:p14="http://schemas.microsoft.com/office/powerpoint/2010/main" val="389924242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71EBD921-73D6-41FB-BE54-0371BC60DE40}"/>
              </a:ext>
            </a:extLst>
          </p:cNvPr>
          <p:cNvSpPr>
            <a:spLocks noGrp="1"/>
          </p:cNvSpPr>
          <p:nvPr>
            <p:ph type="title"/>
          </p:nvPr>
        </p:nvSpPr>
        <p:spPr>
          <a:xfrm>
            <a:off x="682838" y="2913327"/>
            <a:ext cx="10198788" cy="1739355"/>
          </a:xfrm>
          <a:solidFill>
            <a:schemeClr val="tx2">
              <a:lumMod val="75000"/>
            </a:schemeClr>
          </a:solidFill>
        </p:spPr>
        <p:txBody>
          <a:bodyPr anchor="ctr">
            <a:normAutofit/>
          </a:body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en </a:t>
            </a: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JavaFX</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spTree>
    <p:extLst>
      <p:ext uri="{BB962C8B-B14F-4D97-AF65-F5344CB8AC3E}">
        <p14:creationId xmlns:p14="http://schemas.microsoft.com/office/powerpoint/2010/main" val="3914493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Iniciando simulación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986265"/>
            <a:ext cx="4409800" cy="366067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400" dirty="0">
                <a:latin typeface="Arial" panose="020B0604020202020204" pitchFamily="34" charset="0"/>
                <a:cs typeface="Arial" panose="020B0604020202020204" pitchFamily="34" charset="0"/>
              </a:rPr>
              <a:t>La Imagen 2 muestra la ejecución de una simulación de línea de espera. En ella se observa la atención de 40 clientes mediante dos servidores. En la sección de resultados, se aprecia que el tiempo de espera promedio es de 9.25 minutos, con un tiempo máximo de espera de 39.54 minutos. Para esta simulación, 37 clientes tuvieron que esperar en fila, mientras que los servidores registraron una tasa de utilización del 95.47%, lo que demuestra que el sistema opera casi a su máxima capacidad y presenta un alto nivel de saturación.</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629400" y="6375417"/>
            <a:ext cx="3122674" cy="369332"/>
          </a:xfrm>
          <a:prstGeom prst="rect">
            <a:avLst/>
          </a:prstGeom>
          <a:noFill/>
        </p:spPr>
        <p:txBody>
          <a:bodyPr wrap="square" rtlCol="0">
            <a:spAutoFit/>
          </a:bodyPr>
          <a:lstStyle/>
          <a:p>
            <a:pPr algn="ctr"/>
            <a:r>
              <a:rPr lang="es-MX" dirty="0">
                <a:latin typeface="Arial" panose="020B0604020202020204" pitchFamily="34" charset="0"/>
                <a:cs typeface="Arial" panose="020B0604020202020204" pitchFamily="34" charset="0"/>
              </a:rPr>
              <a:t>Imagen 2</a:t>
            </a:r>
          </a:p>
        </p:txBody>
      </p:sp>
      <p:pic>
        <p:nvPicPr>
          <p:cNvPr id="7" name="Imagen 6">
            <a:extLst>
              <a:ext uri="{FF2B5EF4-FFF2-40B4-BE49-F238E27FC236}">
                <a16:creationId xmlns:a16="http://schemas.microsoft.com/office/drawing/2014/main" id="{DF47D522-44CE-43E6-A00A-9C1E3BAE653C}"/>
              </a:ext>
            </a:extLst>
          </p:cNvPr>
          <p:cNvPicPr>
            <a:picLocks noChangeAspect="1"/>
          </p:cNvPicPr>
          <p:nvPr/>
        </p:nvPicPr>
        <p:blipFill>
          <a:blip r:embed="rId2"/>
          <a:stretch>
            <a:fillRect/>
          </a:stretch>
        </p:blipFill>
        <p:spPr>
          <a:xfrm>
            <a:off x="5123329" y="1456645"/>
            <a:ext cx="5825552" cy="4719918"/>
          </a:xfrm>
          <a:prstGeom prst="rect">
            <a:avLst/>
          </a:prstGeom>
        </p:spPr>
      </p:pic>
    </p:spTree>
    <p:extLst>
      <p:ext uri="{BB962C8B-B14F-4D97-AF65-F5344CB8AC3E}">
        <p14:creationId xmlns:p14="http://schemas.microsoft.com/office/powerpoint/2010/main" val="36766449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Resultados de la simulación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2266053"/>
            <a:ext cx="4158103" cy="3395160"/>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latin typeface="Arial" panose="020B0604020202020204" pitchFamily="34" charset="0"/>
                <a:cs typeface="Arial" panose="020B0604020202020204" pitchFamily="34" charset="0"/>
              </a:rPr>
              <a:t>En la Imagen 3 se presentan los resultados desglosados mediante una tabla que detalla el comportamiento de cada uno de los 40 clientes simulados. Este registro detallado constituye una herramienta clave para evaluar el desempeño del sistema y fundamentar la decisión de agregar o retirar personal de servicio.</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629400" y="6375417"/>
            <a:ext cx="3122674" cy="369332"/>
          </a:xfrm>
          <a:prstGeom prst="rect">
            <a:avLst/>
          </a:prstGeom>
          <a:noFill/>
        </p:spPr>
        <p:txBody>
          <a:bodyPr wrap="square" rtlCol="0">
            <a:spAutoFit/>
          </a:bodyPr>
          <a:lstStyle/>
          <a:p>
            <a:pPr algn="ctr"/>
            <a:r>
              <a:rPr lang="es-MX" dirty="0">
                <a:latin typeface="Arial" panose="020B0604020202020204" pitchFamily="34" charset="0"/>
                <a:cs typeface="Arial" panose="020B0604020202020204" pitchFamily="34" charset="0"/>
              </a:rPr>
              <a:t>Imagen 3</a:t>
            </a:r>
          </a:p>
        </p:txBody>
      </p:sp>
      <p:pic>
        <p:nvPicPr>
          <p:cNvPr id="3" name="Imagen 2">
            <a:extLst>
              <a:ext uri="{FF2B5EF4-FFF2-40B4-BE49-F238E27FC236}">
                <a16:creationId xmlns:a16="http://schemas.microsoft.com/office/drawing/2014/main" id="{11AF31FE-3697-4245-B5B0-5057D59DC3C0}"/>
              </a:ext>
            </a:extLst>
          </p:cNvPr>
          <p:cNvPicPr>
            <a:picLocks noChangeAspect="1"/>
          </p:cNvPicPr>
          <p:nvPr/>
        </p:nvPicPr>
        <p:blipFill>
          <a:blip r:embed="rId2"/>
          <a:stretch>
            <a:fillRect/>
          </a:stretch>
        </p:blipFill>
        <p:spPr>
          <a:xfrm>
            <a:off x="4976813" y="1334189"/>
            <a:ext cx="6117012" cy="4808632"/>
          </a:xfrm>
          <a:prstGeom prst="rect">
            <a:avLst/>
          </a:prstGeom>
        </p:spPr>
      </p:pic>
    </p:spTree>
    <p:extLst>
      <p:ext uri="{BB962C8B-B14F-4D97-AF65-F5344CB8AC3E}">
        <p14:creationId xmlns:p14="http://schemas.microsoft.com/office/powerpoint/2010/main" val="4037192898"/>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Resultado de la Prueba paramétrica</a:t>
            </a:r>
          </a:p>
        </p:txBody>
      </p:sp>
      <mc:AlternateContent xmlns:mc="http://schemas.openxmlformats.org/markup-compatibility/2006">
        <mc:Choice xmlns:a14="http://schemas.microsoft.com/office/drawing/2010/main" Requires="a14">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239850" y="1484351"/>
                <a:ext cx="4896925" cy="537364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300" dirty="0">
                    <a:latin typeface="Arial" panose="020B0604020202020204" pitchFamily="34" charset="0"/>
                    <a:cs typeface="Arial" panose="020B0604020202020204" pitchFamily="34" charset="0"/>
                  </a:rPr>
                  <a:t>En la Imagen 4 se observa la validación del modelo mediante una prueba paramétrica</a:t>
                </a:r>
                <a14:m>
                  <m:oMath xmlns:m="http://schemas.openxmlformats.org/officeDocument/2006/math">
                    <m:r>
                      <a:rPr lang="es-MX" sz="1300" i="1" dirty="0" smtClean="0">
                        <a:latin typeface="Cambria Math" panose="02040503050406030204" pitchFamily="18" charset="0"/>
                        <a:cs typeface="Arial" panose="020B0604020202020204" pitchFamily="34" charset="0"/>
                      </a:rPr>
                      <m:t> </m:t>
                    </m:r>
                    <m:r>
                      <a:rPr lang="es-MX" sz="1300" i="1" dirty="0" smtClean="0">
                        <a:latin typeface="Cambria Math" panose="02040503050406030204" pitchFamily="18" charset="0"/>
                        <a:cs typeface="Arial" panose="020B0604020202020204" pitchFamily="34" charset="0"/>
                      </a:rPr>
                      <m:t>𝑡</m:t>
                    </m:r>
                    <m:r>
                      <a:rPr lang="es-MX" sz="1300" i="1" dirty="0">
                        <a:latin typeface="Cambria Math" panose="02040503050406030204" pitchFamily="18" charset="0"/>
                        <a:cs typeface="Arial" panose="020B0604020202020204" pitchFamily="34" charset="0"/>
                      </a:rPr>
                      <m:t> </m:t>
                    </m:r>
                  </m:oMath>
                </a14:m>
                <a:r>
                  <a:rPr lang="es-MX" sz="1300" dirty="0">
                    <a:latin typeface="Arial" panose="020B0604020202020204" pitchFamily="34" charset="0"/>
                    <a:cs typeface="Arial" panose="020B0604020202020204" pitchFamily="34" charset="0"/>
                  </a:rPr>
                  <a:t>de </a:t>
                </a:r>
                <a:r>
                  <a:rPr lang="es-MX" sz="1300" dirty="0" err="1">
                    <a:latin typeface="Arial" panose="020B0604020202020204" pitchFamily="34" charset="0"/>
                    <a:cs typeface="Arial" panose="020B0604020202020204" pitchFamily="34" charset="0"/>
                  </a:rPr>
                  <a:t>Student</a:t>
                </a:r>
                <a:r>
                  <a:rPr lang="es-MX" sz="1300" dirty="0">
                    <a:latin typeface="Arial" panose="020B0604020202020204" pitchFamily="34" charset="0"/>
                    <a:cs typeface="Arial" panose="020B0604020202020204" pitchFamily="34" charset="0"/>
                  </a:rPr>
                  <a:t>. Esta prueba trabaja principalmente con la media de los datos bajo ciertos supuestos estadísticos, comparando el comportamiento de la muestra simulada con un valor de referencia establecido. Para este análisis, se definió un valor de referencia de 14 minutos (el tiempo máximo deseado de espera para un cliente) y un nivel de significancia </a:t>
                </a:r>
                <a14:m>
                  <m:oMath xmlns:m="http://schemas.openxmlformats.org/officeDocument/2006/math">
                    <m:r>
                      <a:rPr lang="el-GR" sz="1300" i="1" dirty="0" smtClean="0">
                        <a:latin typeface="Cambria Math" panose="02040503050406030204" pitchFamily="18" charset="0"/>
                      </a:rPr>
                      <m:t>𝛼</m:t>
                    </m:r>
                    <m:r>
                      <a:rPr lang="es-MX" sz="1300" i="1" dirty="0" smtClean="0">
                        <a:latin typeface="Cambria Math" panose="02040503050406030204" pitchFamily="18" charset="0"/>
                        <a:cs typeface="Arial" panose="020B0604020202020204" pitchFamily="34" charset="0"/>
                      </a:rPr>
                      <m:t> </m:t>
                    </m:r>
                  </m:oMath>
                </a14:m>
                <a:r>
                  <a:rPr lang="es-MX" sz="1300" dirty="0">
                    <a:latin typeface="Arial" panose="020B0604020202020204" pitchFamily="34" charset="0"/>
                    <a:cs typeface="Arial" panose="020B0604020202020204" pitchFamily="34" charset="0"/>
                  </a:rPr>
                  <a:t>de 0.05. Al ejecutar la validación, el programa arroja un p-valor de 0.9933. Dado que </a:t>
                </a:r>
                <a14:m>
                  <m:oMath xmlns:m="http://schemas.openxmlformats.org/officeDocument/2006/math">
                    <m:r>
                      <a:rPr lang="es-MX" sz="1300" i="1" dirty="0" smtClean="0">
                        <a:latin typeface="Cambria Math" panose="02040503050406030204" pitchFamily="18" charset="0"/>
                        <a:cs typeface="Arial" panose="020B0604020202020204" pitchFamily="34" charset="0"/>
                      </a:rPr>
                      <m:t>(</m:t>
                    </m:r>
                    <m:r>
                      <a:rPr lang="es-MX" sz="1300" i="1" dirty="0">
                        <a:latin typeface="Cambria Math" panose="02040503050406030204" pitchFamily="18" charset="0"/>
                        <a:cs typeface="Arial" panose="020B0604020202020204" pitchFamily="34" charset="0"/>
                      </a:rPr>
                      <m:t>0.9933 &gt; </m:t>
                    </m:r>
                    <m:r>
                      <a:rPr lang="es-MX" sz="1300" i="1" dirty="0" smtClean="0">
                        <a:latin typeface="Cambria Math" panose="02040503050406030204" pitchFamily="18" charset="0"/>
                        <a:cs typeface="Arial" panose="020B0604020202020204" pitchFamily="34" charset="0"/>
                      </a:rPr>
                      <m:t>0.05), </m:t>
                    </m:r>
                  </m:oMath>
                </a14:m>
                <a:r>
                  <a:rPr lang="es-MX" sz="1300" dirty="0">
                    <a:latin typeface="Arial" panose="020B0604020202020204" pitchFamily="34" charset="0"/>
                    <a:cs typeface="Arial" panose="020B0604020202020204" pitchFamily="34" charset="0"/>
                  </a:rPr>
                  <a:t>no se rechaza la hipótesis nula </a:t>
                </a:r>
                <a14:m>
                  <m:oMath xmlns:m="http://schemas.openxmlformats.org/officeDocument/2006/math">
                    <m:sSub>
                      <m:sSubPr>
                        <m:ctrlPr>
                          <a:rPr lang="es-MX" sz="1300" i="1" dirty="0" smtClean="0">
                            <a:latin typeface="Cambria Math" panose="02040503050406030204" pitchFamily="18" charset="0"/>
                            <a:cs typeface="Arial" panose="020B0604020202020204" pitchFamily="34" charset="0"/>
                          </a:rPr>
                        </m:ctrlPr>
                      </m:sSubPr>
                      <m:e>
                        <m:r>
                          <a:rPr lang="es-MX" sz="1300" b="0" i="1" dirty="0" smtClean="0">
                            <a:latin typeface="Cambria Math" panose="02040503050406030204" pitchFamily="18" charset="0"/>
                            <a:cs typeface="Arial" panose="020B0604020202020204" pitchFamily="34" charset="0"/>
                          </a:rPr>
                          <m:t>𝐻</m:t>
                        </m:r>
                      </m:e>
                      <m:sub>
                        <m:r>
                          <a:rPr lang="es-MX" sz="1300" b="0" i="1" dirty="0" smtClean="0">
                            <a:latin typeface="Cambria Math" panose="02040503050406030204" pitchFamily="18" charset="0"/>
                            <a:cs typeface="Arial" panose="020B0604020202020204" pitchFamily="34" charset="0"/>
                          </a:rPr>
                          <m:t>0</m:t>
                        </m:r>
                      </m:sub>
                    </m:sSub>
                  </m:oMath>
                </a14:m>
                <a:r>
                  <a:rPr lang="es-MX" sz="1300" dirty="0">
                    <a:latin typeface="Arial" panose="020B0604020202020204" pitchFamily="34" charset="0"/>
                    <a:cs typeface="Arial" panose="020B0604020202020204" pitchFamily="34" charset="0"/>
                  </a:rPr>
                  <a:t>, lo que demuestra que la diferencia entre la media simulada y el valor de referencia no es estadísticamente significativa.</a:t>
                </a:r>
              </a:p>
              <a:p>
                <a:pPr marL="0" indent="0" algn="just">
                  <a:lnSpc>
                    <a:spcPct val="150000"/>
                  </a:lnSpc>
                  <a:buNone/>
                </a:pPr>
                <a:r>
                  <a:rPr lang="es-MX" sz="1300" dirty="0">
                    <a:latin typeface="Arial" panose="020B0604020202020204" pitchFamily="34" charset="0"/>
                    <a:cs typeface="Arial" panose="020B0604020202020204" pitchFamily="34" charset="0"/>
                  </a:rPr>
                  <a:t>En caso de que se reduzca el tiempo de espera tolerado en el valor de referencia, la prueba paramétrica eventualmente comenzará a rechazar las mediciones al detectar diferencias significativas. </a:t>
                </a:r>
              </a:p>
            </p:txBody>
          </p:sp>
        </mc:Choice>
        <mc:Fallback>
          <p:sp>
            <p:nvSpPr>
              <p:cNvPr id="15" name="Marcador de texto 19">
                <a:extLst>
                  <a:ext uri="{FF2B5EF4-FFF2-40B4-BE49-F238E27FC236}">
                    <a16:creationId xmlns:a16="http://schemas.microsoft.com/office/drawing/2014/main" id="{4E2CC535-4543-45FA-ABFB-EBC45633A1A3}"/>
                  </a:ext>
                </a:extLst>
              </p:cNvPr>
              <p:cNvSpPr txBox="1">
                <a:spLocks noRot="1" noChangeAspect="1" noMove="1" noResize="1" noEditPoints="1" noAdjustHandles="1" noChangeArrowheads="1" noChangeShapeType="1" noTextEdit="1"/>
              </p:cNvSpPr>
              <p:nvPr/>
            </p:nvSpPr>
            <p:spPr>
              <a:xfrm>
                <a:off x="239850" y="1484351"/>
                <a:ext cx="4896925" cy="5373649"/>
              </a:xfrm>
              <a:prstGeom prst="rect">
                <a:avLst/>
              </a:prstGeom>
              <a:blipFill>
                <a:blip r:embed="rId2"/>
                <a:stretch>
                  <a:fillRect l="-124" r="-124"/>
                </a:stretch>
              </a:blipFill>
            </p:spPr>
            <p:txBody>
              <a:bodyPr/>
              <a:lstStyle/>
              <a:p>
                <a:r>
                  <a:rPr lang="es-MX">
                    <a:noFill/>
                  </a:rPr>
                  <a:t> </a:t>
                </a:r>
              </a:p>
            </p:txBody>
          </p:sp>
        </mc:Fallback>
      </mc:AlternateContent>
      <p:sp>
        <p:nvSpPr>
          <p:cNvPr id="6" name="CuadroTexto 5">
            <a:extLst>
              <a:ext uri="{FF2B5EF4-FFF2-40B4-BE49-F238E27FC236}">
                <a16:creationId xmlns:a16="http://schemas.microsoft.com/office/drawing/2014/main" id="{B1149586-47B3-48D8-9234-E0135F0BDA61}"/>
              </a:ext>
            </a:extLst>
          </p:cNvPr>
          <p:cNvSpPr txBox="1"/>
          <p:nvPr/>
        </p:nvSpPr>
        <p:spPr>
          <a:xfrm>
            <a:off x="6659726" y="6041043"/>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4</a:t>
            </a:r>
          </a:p>
        </p:txBody>
      </p:sp>
      <p:pic>
        <p:nvPicPr>
          <p:cNvPr id="7" name="Imagen 6">
            <a:extLst>
              <a:ext uri="{FF2B5EF4-FFF2-40B4-BE49-F238E27FC236}">
                <a16:creationId xmlns:a16="http://schemas.microsoft.com/office/drawing/2014/main" id="{D0DF781F-1F62-4741-AA42-62DFE435AED1}"/>
              </a:ext>
            </a:extLst>
          </p:cNvPr>
          <p:cNvPicPr>
            <a:picLocks noChangeAspect="1"/>
          </p:cNvPicPr>
          <p:nvPr/>
        </p:nvPicPr>
        <p:blipFill>
          <a:blip r:embed="rId3"/>
          <a:stretch>
            <a:fillRect/>
          </a:stretch>
        </p:blipFill>
        <p:spPr>
          <a:xfrm>
            <a:off x="5402090" y="1484351"/>
            <a:ext cx="5637946" cy="4407737"/>
          </a:xfrm>
          <a:prstGeom prst="rect">
            <a:avLst/>
          </a:prstGeom>
        </p:spPr>
      </p:pic>
    </p:spTree>
    <p:extLst>
      <p:ext uri="{BB962C8B-B14F-4D97-AF65-F5344CB8AC3E}">
        <p14:creationId xmlns:p14="http://schemas.microsoft.com/office/powerpoint/2010/main" val="240837774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Resultado de la Prueba  no paramétrica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334188"/>
            <a:ext cx="4400150" cy="541056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400" dirty="0">
                <a:latin typeface="Arial" panose="020B0604020202020204" pitchFamily="34" charset="0"/>
                <a:cs typeface="Arial" panose="020B0604020202020204" pitchFamily="34" charset="0"/>
              </a:rPr>
              <a:t>En la imagen 5 se observa la validación mediante la prueba no paramétrica de Wilcoxon. Esta prueba sirve como una alternativa que no depende de los mismos supuestos de distribución que una prueba paramétrica, ya que se basa en los rangos y la posición de las observaciones para evaluar los datos desde otro enfoque.</a:t>
            </a:r>
          </a:p>
          <a:p>
            <a:pPr marL="0" indent="0" algn="just">
              <a:lnSpc>
                <a:spcPct val="150000"/>
              </a:lnSpc>
              <a:buNone/>
            </a:pPr>
            <a:r>
              <a:rPr lang="es-MX" sz="1400" dirty="0">
                <a:latin typeface="Arial" panose="020B0604020202020204" pitchFamily="34" charset="0"/>
                <a:cs typeface="Arial" panose="020B0604020202020204" pitchFamily="34" charset="0"/>
              </a:rPr>
              <a:t>El valor de referencia es 3, el cual representa el punto contra el que la prueba estadística compara los datos obtenidos de la simulación. Con un nivel de significancia de 0.05 (5 %), y dado que el p-valor resultante es menor (0.00 &lt; 0.05), se rechaza la hipótesis nula (H₀). Esto demuestra que la diferencia entre la mediana simulada y el valor de referencia es estadísticamente significativa.</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629399" y="6190750"/>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5</a:t>
            </a:r>
          </a:p>
        </p:txBody>
      </p:sp>
      <p:pic>
        <p:nvPicPr>
          <p:cNvPr id="4" name="Imagen 3">
            <a:extLst>
              <a:ext uri="{FF2B5EF4-FFF2-40B4-BE49-F238E27FC236}">
                <a16:creationId xmlns:a16="http://schemas.microsoft.com/office/drawing/2014/main" id="{751CD1F3-37C8-408A-8ABD-B76CBCB067C8}"/>
              </a:ext>
            </a:extLst>
          </p:cNvPr>
          <p:cNvPicPr>
            <a:picLocks noChangeAspect="1"/>
          </p:cNvPicPr>
          <p:nvPr/>
        </p:nvPicPr>
        <p:blipFill>
          <a:blip r:embed="rId2"/>
          <a:stretch>
            <a:fillRect/>
          </a:stretch>
        </p:blipFill>
        <p:spPr>
          <a:xfrm>
            <a:off x="5320368" y="1549633"/>
            <a:ext cx="5740735" cy="4488096"/>
          </a:xfrm>
          <a:prstGeom prst="rect">
            <a:avLst/>
          </a:prstGeom>
        </p:spPr>
      </p:pic>
    </p:spTree>
    <p:extLst>
      <p:ext uri="{BB962C8B-B14F-4D97-AF65-F5344CB8AC3E}">
        <p14:creationId xmlns:p14="http://schemas.microsoft.com/office/powerpoint/2010/main" val="100558378"/>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 Inicio de la simulación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334188"/>
            <a:ext cx="4400150" cy="541056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400" dirty="0">
                <a:latin typeface="Arial" panose="020B0604020202020204" pitchFamily="34" charset="0"/>
                <a:cs typeface="Arial" panose="020B0604020202020204" pitchFamily="34" charset="0"/>
              </a:rPr>
              <a:t>En la imagen 6 muestra la ejecución de una simulación inventario. En ella se observa el inicio de inventario con 100 unidades, el numero de pedidos que comúnmente se surten 12, un numero de demanda mínima por pedido 5 unidades y un numero de demanda máxima por pedido 8 unidades, limite de artículos para volver a resurtir 15 y la cantidad de pedidos que se deba realizar 1 . En la sección de resultados, se aprecia que el inventario aun es suficiente después de despachar los pedidos, aun se cuenta con 20 unidades lo cual aun se considera un inventario suficiente. </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629399" y="6190750"/>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6</a:t>
            </a:r>
          </a:p>
        </p:txBody>
      </p:sp>
      <p:pic>
        <p:nvPicPr>
          <p:cNvPr id="3" name="Imagen 2">
            <a:extLst>
              <a:ext uri="{FF2B5EF4-FFF2-40B4-BE49-F238E27FC236}">
                <a16:creationId xmlns:a16="http://schemas.microsoft.com/office/drawing/2014/main" id="{FD01EE25-14BC-4110-83CA-A7AEAA42C7D8}"/>
              </a:ext>
            </a:extLst>
          </p:cNvPr>
          <p:cNvPicPr>
            <a:picLocks noChangeAspect="1"/>
          </p:cNvPicPr>
          <p:nvPr/>
        </p:nvPicPr>
        <p:blipFill>
          <a:blip r:embed="rId2"/>
          <a:stretch>
            <a:fillRect/>
          </a:stretch>
        </p:blipFill>
        <p:spPr>
          <a:xfrm>
            <a:off x="5246034" y="1440128"/>
            <a:ext cx="5659531" cy="4194190"/>
          </a:xfrm>
          <a:prstGeom prst="rect">
            <a:avLst/>
          </a:prstGeom>
        </p:spPr>
      </p:pic>
    </p:spTree>
    <p:extLst>
      <p:ext uri="{BB962C8B-B14F-4D97-AF65-F5344CB8AC3E}">
        <p14:creationId xmlns:p14="http://schemas.microsoft.com/office/powerpoint/2010/main" val="4231421918"/>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 Inicio de la simulación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2510960"/>
            <a:ext cx="4400150" cy="279405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500" dirty="0">
                <a:latin typeface="Arial" panose="020B0604020202020204" pitchFamily="34" charset="0"/>
                <a:cs typeface="Arial" panose="020B0604020202020204" pitchFamily="34" charset="0"/>
              </a:rPr>
              <a:t>En la imagen 7 se observa los detalles de la simulación mediante una tabla de resultados que se genera aleatoriamente  La demanda de cada pedido, nos muestra cual es el estado actual de cada inventario después de realizar una compra.</a:t>
            </a:r>
          </a:p>
          <a:p>
            <a:pPr marL="0" indent="0" algn="just">
              <a:lnSpc>
                <a:spcPct val="150000"/>
              </a:lnSpc>
              <a:buNone/>
            </a:pPr>
            <a:r>
              <a:rPr lang="es-MX" sz="1500" dirty="0">
                <a:latin typeface="Arial" panose="020B0604020202020204" pitchFamily="34" charset="0"/>
                <a:cs typeface="Arial" panose="020B0604020202020204" pitchFamily="34" charset="0"/>
              </a:rPr>
              <a:t>La tabla nos permite ver los faltantes y si es necesario resurtir el producto o no .</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629399" y="6190750"/>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7</a:t>
            </a:r>
          </a:p>
        </p:txBody>
      </p:sp>
      <p:pic>
        <p:nvPicPr>
          <p:cNvPr id="4" name="Imagen 3">
            <a:extLst>
              <a:ext uri="{FF2B5EF4-FFF2-40B4-BE49-F238E27FC236}">
                <a16:creationId xmlns:a16="http://schemas.microsoft.com/office/drawing/2014/main" id="{978FECE7-34CE-4B92-8CBC-833CC2F7592E}"/>
              </a:ext>
            </a:extLst>
          </p:cNvPr>
          <p:cNvPicPr>
            <a:picLocks noChangeAspect="1"/>
          </p:cNvPicPr>
          <p:nvPr/>
        </p:nvPicPr>
        <p:blipFill>
          <a:blip r:embed="rId2"/>
          <a:stretch>
            <a:fillRect/>
          </a:stretch>
        </p:blipFill>
        <p:spPr>
          <a:xfrm>
            <a:off x="5262358" y="1849810"/>
            <a:ext cx="5856756" cy="4116361"/>
          </a:xfrm>
          <a:prstGeom prst="rect">
            <a:avLst/>
          </a:prstGeom>
        </p:spPr>
      </p:pic>
    </p:spTree>
    <p:extLst>
      <p:ext uri="{BB962C8B-B14F-4D97-AF65-F5344CB8AC3E}">
        <p14:creationId xmlns:p14="http://schemas.microsoft.com/office/powerpoint/2010/main" val="1133639524"/>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 Inicio de la simulación</a:t>
            </a:r>
          </a:p>
        </p:txBody>
      </p:sp>
      <mc:AlternateContent xmlns:mc="http://schemas.openxmlformats.org/markup-compatibility/2006">
        <mc:Choice xmlns:a14="http://schemas.microsoft.com/office/drawing/2010/main" Requires="a14">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413898" y="1666654"/>
                <a:ext cx="4722878" cy="4276946"/>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400" dirty="0">
                    <a:latin typeface="Arial" panose="020B0604020202020204" pitchFamily="34" charset="0"/>
                    <a:cs typeface="Arial" panose="020B0604020202020204" pitchFamily="34" charset="0"/>
                  </a:rPr>
                  <a:t>En la imagen 8 se observa la prueba paramétrica </a:t>
                </a:r>
                <a14:m>
                  <m:oMath xmlns:m="http://schemas.openxmlformats.org/officeDocument/2006/math">
                    <m:r>
                      <a:rPr lang="es-MX" sz="1400" i="1" dirty="0" smtClean="0">
                        <a:latin typeface="Cambria Math" panose="02040503050406030204" pitchFamily="18" charset="0"/>
                        <a:cs typeface="Arial" panose="020B0604020202020204" pitchFamily="34" charset="0"/>
                      </a:rPr>
                      <m:t>𝑡</m:t>
                    </m:r>
                  </m:oMath>
                </a14:m>
                <a:r>
                  <a:rPr lang="es-MX" sz="1400" dirty="0">
                    <a:latin typeface="Arial" panose="020B0604020202020204" pitchFamily="34" charset="0"/>
                    <a:cs typeface="Arial" panose="020B0604020202020204" pitchFamily="34" charset="0"/>
                  </a:rPr>
                  <a:t> de </a:t>
                </a:r>
                <a:r>
                  <a:rPr lang="es-MX" sz="1400" dirty="0" err="1">
                    <a:latin typeface="Arial" panose="020B0604020202020204" pitchFamily="34" charset="0"/>
                    <a:cs typeface="Arial" panose="020B0604020202020204" pitchFamily="34" charset="0"/>
                  </a:rPr>
                  <a:t>Student</a:t>
                </a:r>
                <a:r>
                  <a:rPr lang="es-MX" sz="1400" dirty="0">
                    <a:latin typeface="Arial" panose="020B0604020202020204" pitchFamily="34" charset="0"/>
                    <a:cs typeface="Arial" panose="020B0604020202020204" pitchFamily="34" charset="0"/>
                  </a:rPr>
                  <a:t>; trabaja principalmente con la media de los datos bajo ciertos supuestos estadísticos, comparando el comportamiento de la muestra simulada con un valor de referencia establecido. Para este análisis, se definió un valor de referencia de 0 pedidos (como punto de comparación base para evaluar la generación de órdenes) y un nivel de significancia de 0.05. Al ejecutar la validación, el programa arroja un $p-valor de 0.00, lo que indica que el promedio simulado es estadísticamente diferente del valor de referencia.</a:t>
                </a:r>
              </a:p>
            </p:txBody>
          </p:sp>
        </mc:Choice>
        <mc:Fallback>
          <p:sp>
            <p:nvSpPr>
              <p:cNvPr id="15" name="Marcador de texto 19">
                <a:extLst>
                  <a:ext uri="{FF2B5EF4-FFF2-40B4-BE49-F238E27FC236}">
                    <a16:creationId xmlns:a16="http://schemas.microsoft.com/office/drawing/2014/main" id="{4E2CC535-4543-45FA-ABFB-EBC45633A1A3}"/>
                  </a:ext>
                </a:extLst>
              </p:cNvPr>
              <p:cNvSpPr txBox="1">
                <a:spLocks noRot="1" noChangeAspect="1" noMove="1" noResize="1" noEditPoints="1" noAdjustHandles="1" noChangeArrowheads="1" noChangeShapeType="1" noTextEdit="1"/>
              </p:cNvSpPr>
              <p:nvPr/>
            </p:nvSpPr>
            <p:spPr>
              <a:xfrm>
                <a:off x="413898" y="1666654"/>
                <a:ext cx="4722878" cy="4276946"/>
              </a:xfrm>
              <a:prstGeom prst="rect">
                <a:avLst/>
              </a:prstGeom>
              <a:blipFill>
                <a:blip r:embed="rId2"/>
                <a:stretch>
                  <a:fillRect l="-387" r="-387"/>
                </a:stretch>
              </a:blipFill>
            </p:spPr>
            <p:txBody>
              <a:bodyPr/>
              <a:lstStyle/>
              <a:p>
                <a:r>
                  <a:rPr lang="es-MX">
                    <a:noFill/>
                  </a:rPr>
                  <a:t> </a:t>
                </a:r>
              </a:p>
            </p:txBody>
          </p:sp>
        </mc:Fallback>
      </mc:AlternateContent>
      <p:sp>
        <p:nvSpPr>
          <p:cNvPr id="6" name="CuadroTexto 5">
            <a:extLst>
              <a:ext uri="{FF2B5EF4-FFF2-40B4-BE49-F238E27FC236}">
                <a16:creationId xmlns:a16="http://schemas.microsoft.com/office/drawing/2014/main" id="{B1149586-47B3-48D8-9234-E0135F0BDA61}"/>
              </a:ext>
            </a:extLst>
          </p:cNvPr>
          <p:cNvSpPr txBox="1"/>
          <p:nvPr/>
        </p:nvSpPr>
        <p:spPr>
          <a:xfrm>
            <a:off x="6629399" y="6190750"/>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8</a:t>
            </a:r>
          </a:p>
        </p:txBody>
      </p:sp>
      <p:pic>
        <p:nvPicPr>
          <p:cNvPr id="3" name="Imagen 2">
            <a:extLst>
              <a:ext uri="{FF2B5EF4-FFF2-40B4-BE49-F238E27FC236}">
                <a16:creationId xmlns:a16="http://schemas.microsoft.com/office/drawing/2014/main" id="{F775F6FF-DD4A-464E-83B9-8479E09BF037}"/>
              </a:ext>
            </a:extLst>
          </p:cNvPr>
          <p:cNvPicPr>
            <a:picLocks noChangeAspect="1"/>
          </p:cNvPicPr>
          <p:nvPr/>
        </p:nvPicPr>
        <p:blipFill>
          <a:blip r:embed="rId3"/>
          <a:stretch>
            <a:fillRect/>
          </a:stretch>
        </p:blipFill>
        <p:spPr>
          <a:xfrm>
            <a:off x="5309821" y="1666654"/>
            <a:ext cx="5759984" cy="4048346"/>
          </a:xfrm>
          <a:prstGeom prst="rect">
            <a:avLst/>
          </a:prstGeom>
        </p:spPr>
      </p:pic>
    </p:spTree>
    <p:extLst>
      <p:ext uri="{BB962C8B-B14F-4D97-AF65-F5344CB8AC3E}">
        <p14:creationId xmlns:p14="http://schemas.microsoft.com/office/powerpoint/2010/main" val="171055536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p:spPr>
        <p:txBody>
          <a:bodyPr anchor="ctr">
            <a:normAutofit/>
          </a:bodyPr>
          <a:lstStyle/>
          <a:p>
            <a:pPr algn="ctr"/>
            <a:r>
              <a:rPr lang="es-MX" sz="6000" dirty="0">
                <a:latin typeface="Arial Rounded MT Bold" panose="020F0704030504030204" pitchFamily="34" charset="0"/>
              </a:rPr>
              <a:t>Simulador de Lista de Espera e Inventario desarrollado en Python</a:t>
            </a:r>
          </a:p>
        </p:txBody>
      </p:sp>
    </p:spTree>
    <p:extLst>
      <p:ext uri="{BB962C8B-B14F-4D97-AF65-F5344CB8AC3E}">
        <p14:creationId xmlns:p14="http://schemas.microsoft.com/office/powerpoint/2010/main" val="491787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83EE5D53-F2E5-474C-B711-65A389ED884A}"/>
              </a:ext>
            </a:extLst>
          </p:cNvPr>
          <p:cNvSpPr>
            <a:spLocks noGrp="1"/>
          </p:cNvSpPr>
          <p:nvPr>
            <p:ph idx="1"/>
          </p:nvPr>
        </p:nvSpPr>
        <p:spPr>
          <a:xfrm>
            <a:off x="1298067" y="2316160"/>
            <a:ext cx="9253728" cy="4351337"/>
          </a:xfrm>
        </p:spPr>
        <p:txBody>
          <a:bodyPr/>
          <a:lstStyle/>
          <a:p>
            <a:pPr marL="0" indent="0" algn="just">
              <a:lnSpc>
                <a:spcPct val="150000"/>
              </a:lnSpc>
              <a:buNone/>
            </a:pPr>
            <a:r>
              <a:rPr lang="es-MX" dirty="0">
                <a:latin typeface="Arial" panose="020B0604020202020204" pitchFamily="34" charset="0"/>
                <a:cs typeface="Arial" panose="020B0604020202020204" pitchFamily="34" charset="0"/>
              </a:rPr>
              <a:t>La versión desarrollada en Python permite experimentar con los modelos de Línea de Espera e Inventario mediante una interfaz gráfica implementada con </a:t>
            </a:r>
            <a:r>
              <a:rPr lang="es-MX" dirty="0" err="1">
                <a:latin typeface="Arial" panose="020B0604020202020204" pitchFamily="34" charset="0"/>
                <a:cs typeface="Arial" panose="020B0604020202020204" pitchFamily="34" charset="0"/>
              </a:rPr>
              <a:t>Tkinter</a:t>
            </a:r>
            <a:r>
              <a:rPr lang="es-MX" dirty="0">
                <a:latin typeface="Arial" panose="020B0604020202020204" pitchFamily="34" charset="0"/>
                <a:cs typeface="Arial" panose="020B0604020202020204" pitchFamily="34" charset="0"/>
              </a:rPr>
              <a:t>. A partir de los parámetros proporcionados por el usuario, el programa genera los valores pseudoaleatorios requeridos, ejecuta los algoritmos de simulación y presenta los resultados e indicadores necesarios para analizar cada escenario.</a:t>
            </a:r>
          </a:p>
        </p:txBody>
      </p:sp>
      <p:sp>
        <p:nvSpPr>
          <p:cNvPr id="6" name="Título 1">
            <a:extLst>
              <a:ext uri="{FF2B5EF4-FFF2-40B4-BE49-F238E27FC236}">
                <a16:creationId xmlns:a16="http://schemas.microsoft.com/office/drawing/2014/main" id="{D8B012DD-EEDC-4F3C-A390-797E11D93502}"/>
              </a:ext>
            </a:extLst>
          </p:cNvPr>
          <p:cNvSpPr>
            <a:spLocks noGrp="1"/>
          </p:cNvSpPr>
          <p:nvPr>
            <p:ph type="title"/>
          </p:nvPr>
        </p:nvSpPr>
        <p:spPr>
          <a:xfrm>
            <a:off x="1051873" y="419103"/>
            <a:ext cx="9746116" cy="1234885"/>
          </a:xfrm>
          <a:solidFill>
            <a:schemeClr val="tx2">
              <a:lumMod val="75000"/>
            </a:schemeClr>
          </a:solidFill>
        </p:spPr>
        <p:txBody>
          <a:bodyPr anchor="ctr">
            <a:normAutofit/>
          </a:bodyPr>
          <a:lstStyle/>
          <a:p>
            <a:pPr algn="ctr"/>
            <a:r>
              <a:rPr lang="es-MX" sz="36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Simulador de Lista de Espera e Inventario desarrollado en Python</a:t>
            </a:r>
          </a:p>
        </p:txBody>
      </p:sp>
    </p:spTree>
    <p:extLst>
      <p:ext uri="{BB962C8B-B14F-4D97-AF65-F5344CB8AC3E}">
        <p14:creationId xmlns:p14="http://schemas.microsoft.com/office/powerpoint/2010/main" val="695328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71EBD921-73D6-41FB-BE54-0371BC60DE40}"/>
              </a:ext>
            </a:extLst>
          </p:cNvPr>
          <p:cNvSpPr>
            <a:spLocks noGrp="1"/>
          </p:cNvSpPr>
          <p:nvPr>
            <p:ph type="title"/>
          </p:nvPr>
        </p:nvSpPr>
        <p:spPr>
          <a:xfrm>
            <a:off x="682838" y="2913327"/>
            <a:ext cx="10198788" cy="1739355"/>
          </a:xfrm>
          <a:solidFill>
            <a:schemeClr val="tx2">
              <a:lumMod val="75000"/>
            </a:schemeClr>
          </a:solidFill>
        </p:spPr>
        <p:txBody>
          <a:bodyPr anchor="ctr">
            <a:normAutofit/>
          </a:body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 principal en Python</a:t>
            </a:r>
          </a:p>
        </p:txBody>
      </p:sp>
    </p:spTree>
    <p:extLst>
      <p:ext uri="{BB962C8B-B14F-4D97-AF65-F5344CB8AC3E}">
        <p14:creationId xmlns:p14="http://schemas.microsoft.com/office/powerpoint/2010/main" val="2928160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 Principal en Python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247663" y="1672199"/>
            <a:ext cx="4924585" cy="471991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500" dirty="0">
                <a:latin typeface="Arial" panose="020B0604020202020204" pitchFamily="34" charset="0"/>
                <a:cs typeface="Arial" panose="020B0604020202020204" pitchFamily="34" charset="0"/>
              </a:rPr>
              <a:t>La interfaz presenta un menú principal para el Simulador de Línea de Espera e Inventario, organizado mediante tarjetas que permiten acceder a los diferentes módulos del sistema.</a:t>
            </a:r>
          </a:p>
          <a:p>
            <a:pPr marL="0" indent="0" algn="just">
              <a:lnSpc>
                <a:spcPct val="150000"/>
              </a:lnSpc>
              <a:buNone/>
            </a:pPr>
            <a:r>
              <a:rPr lang="es-MX" sz="1500" dirty="0">
                <a:latin typeface="Arial" panose="020B0604020202020204" pitchFamily="34" charset="0"/>
                <a:cs typeface="Arial" panose="020B0604020202020204" pitchFamily="34" charset="0"/>
              </a:rPr>
              <a:t>Cada tarjeta identifica un módulo mediante un ícono, título, una breve descripción y botón de acceso. Desde esta pantalla se puede ingresar en ambas simulaciones.</a:t>
            </a:r>
          </a:p>
          <a:p>
            <a:pPr marL="0" indent="0" algn="just">
              <a:lnSpc>
                <a:spcPct val="150000"/>
              </a:lnSpc>
              <a:buNone/>
            </a:pPr>
            <a:r>
              <a:rPr lang="es-MX" sz="1500" dirty="0">
                <a:latin typeface="Arial" panose="020B0604020202020204" pitchFamily="34" charset="0"/>
                <a:cs typeface="Arial" panose="020B0604020202020204" pitchFamily="34" charset="0"/>
              </a:rPr>
              <a:t>Al final en la barra superior se muestra el botón salir, que este termina definitivamente la ejecución del programa.</a:t>
            </a:r>
          </a:p>
          <a:p>
            <a:pPr marL="0" indent="0" algn="just">
              <a:lnSpc>
                <a:spcPct val="150000"/>
              </a:lnSpc>
              <a:buNone/>
            </a:pPr>
            <a:r>
              <a:rPr lang="es-MX" sz="1500" dirty="0">
                <a:latin typeface="Arial" panose="020B0604020202020204" pitchFamily="34" charset="0"/>
                <a:cs typeface="Arial" panose="020B0604020202020204" pitchFamily="34" charset="0"/>
              </a:rPr>
              <a:t>La  imagen  8 muestra la interfaz de la ventana inicial.</a:t>
            </a:r>
          </a:p>
        </p:txBody>
      </p:sp>
      <p:sp>
        <p:nvSpPr>
          <p:cNvPr id="6" name="CuadroTexto 5">
            <a:extLst>
              <a:ext uri="{FF2B5EF4-FFF2-40B4-BE49-F238E27FC236}">
                <a16:creationId xmlns:a16="http://schemas.microsoft.com/office/drawing/2014/main" id="{585C24D2-8542-46C9-AA21-975263AD685D}"/>
              </a:ext>
            </a:extLst>
          </p:cNvPr>
          <p:cNvSpPr txBox="1"/>
          <p:nvPr/>
        </p:nvSpPr>
        <p:spPr>
          <a:xfrm>
            <a:off x="7019753" y="5772591"/>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8</a:t>
            </a:r>
          </a:p>
        </p:txBody>
      </p:sp>
      <p:pic>
        <p:nvPicPr>
          <p:cNvPr id="3" name="Imagen 2">
            <a:extLst>
              <a:ext uri="{FF2B5EF4-FFF2-40B4-BE49-F238E27FC236}">
                <a16:creationId xmlns:a16="http://schemas.microsoft.com/office/drawing/2014/main" id="{AF9344F3-B915-4289-9229-A4D6C34197FF}"/>
              </a:ext>
            </a:extLst>
          </p:cNvPr>
          <p:cNvPicPr>
            <a:picLocks noChangeAspect="1"/>
          </p:cNvPicPr>
          <p:nvPr/>
        </p:nvPicPr>
        <p:blipFill>
          <a:blip r:embed="rId2"/>
          <a:stretch>
            <a:fillRect/>
          </a:stretch>
        </p:blipFill>
        <p:spPr>
          <a:xfrm>
            <a:off x="5459506" y="1672199"/>
            <a:ext cx="5514975" cy="3864151"/>
          </a:xfrm>
          <a:prstGeom prst="rect">
            <a:avLst/>
          </a:prstGeom>
        </p:spPr>
      </p:pic>
    </p:spTree>
    <p:extLst>
      <p:ext uri="{BB962C8B-B14F-4D97-AF65-F5344CB8AC3E}">
        <p14:creationId xmlns:p14="http://schemas.microsoft.com/office/powerpoint/2010/main" val="145985307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71EBD921-73D6-41FB-BE54-0371BC60DE40}"/>
              </a:ext>
            </a:extLst>
          </p:cNvPr>
          <p:cNvSpPr>
            <a:spLocks noGrp="1"/>
          </p:cNvSpPr>
          <p:nvPr>
            <p:ph type="title"/>
          </p:nvPr>
        </p:nvSpPr>
        <p:spPr>
          <a:xfrm>
            <a:off x="682838" y="2913327"/>
            <a:ext cx="10198788" cy="1739355"/>
          </a:xfrm>
          <a:solidFill>
            <a:schemeClr val="tx2">
              <a:lumMod val="75000"/>
            </a:schemeClr>
          </a:solidFill>
        </p:spPr>
        <p:txBody>
          <a:bodyPr anchor="ctr">
            <a:normAutofit/>
          </a:body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en Python</a:t>
            </a:r>
          </a:p>
        </p:txBody>
      </p:sp>
    </p:spTree>
    <p:extLst>
      <p:ext uri="{BB962C8B-B14F-4D97-AF65-F5344CB8AC3E}">
        <p14:creationId xmlns:p14="http://schemas.microsoft.com/office/powerpoint/2010/main" val="1645731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Iniciando simulación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986265"/>
            <a:ext cx="4409800" cy="366067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400" dirty="0">
                <a:latin typeface="Arial" panose="020B0604020202020204" pitchFamily="34" charset="0"/>
                <a:cs typeface="Arial" panose="020B0604020202020204" pitchFamily="34" charset="0"/>
              </a:rPr>
              <a:t>La Imagen 9 muestra la ejecución de una simulación de línea de espera. En ella se observa la atención de 100 clientes mediante 4 servidores. En la sección de resultados, se aprecia que el tiempo de espera promedio es de 7.26 minutos, con un tiempo máximo de espera de 15.02 minutos. Para esta simulación, 37 clientes tuvieron que esperar en fila, mientras que los servidores registraron una tasa de utilización del 95.46%, lo que demuestra que el sistema opera casi a su máxima capacidad y presenta un alto nivel de saturación.</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629400" y="6375417"/>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9</a:t>
            </a:r>
          </a:p>
        </p:txBody>
      </p:sp>
      <p:pic>
        <p:nvPicPr>
          <p:cNvPr id="4" name="Imagen 3">
            <a:extLst>
              <a:ext uri="{FF2B5EF4-FFF2-40B4-BE49-F238E27FC236}">
                <a16:creationId xmlns:a16="http://schemas.microsoft.com/office/drawing/2014/main" id="{96A3F379-0EF4-42D4-9E6A-018324D139CD}"/>
              </a:ext>
            </a:extLst>
          </p:cNvPr>
          <p:cNvPicPr>
            <a:picLocks noChangeAspect="1"/>
          </p:cNvPicPr>
          <p:nvPr/>
        </p:nvPicPr>
        <p:blipFill>
          <a:blip r:embed="rId2"/>
          <a:stretch>
            <a:fillRect/>
          </a:stretch>
        </p:blipFill>
        <p:spPr>
          <a:xfrm>
            <a:off x="5203460" y="1824876"/>
            <a:ext cx="5907885" cy="4216521"/>
          </a:xfrm>
          <a:prstGeom prst="rect">
            <a:avLst/>
          </a:prstGeom>
        </p:spPr>
      </p:pic>
    </p:spTree>
    <p:extLst>
      <p:ext uri="{BB962C8B-B14F-4D97-AF65-F5344CB8AC3E}">
        <p14:creationId xmlns:p14="http://schemas.microsoft.com/office/powerpoint/2010/main" val="70026422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Resultados de la simulación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2266053"/>
            <a:ext cx="4158103" cy="3395160"/>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latin typeface="Arial" panose="020B0604020202020204" pitchFamily="34" charset="0"/>
                <a:cs typeface="Arial" panose="020B0604020202020204" pitchFamily="34" charset="0"/>
              </a:rPr>
              <a:t>En la Imagen 10 se presentan los resultados desglosados mediante una tabla que detalla el comportamiento de cada uno de los 100 clientes simulados. Este registro detallado constituye una herramienta clave para evaluar el desempeño del sistema y fundamentar la decisión de agregar o retirar personal de servicio.</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488374" y="6126186"/>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10</a:t>
            </a:r>
          </a:p>
        </p:txBody>
      </p:sp>
      <p:pic>
        <p:nvPicPr>
          <p:cNvPr id="4" name="Imagen 3">
            <a:extLst>
              <a:ext uri="{FF2B5EF4-FFF2-40B4-BE49-F238E27FC236}">
                <a16:creationId xmlns:a16="http://schemas.microsoft.com/office/drawing/2014/main" id="{84BDFACC-1A7B-4DD1-9155-80EE03423A20}"/>
              </a:ext>
            </a:extLst>
          </p:cNvPr>
          <p:cNvPicPr>
            <a:picLocks noChangeAspect="1"/>
          </p:cNvPicPr>
          <p:nvPr/>
        </p:nvPicPr>
        <p:blipFill>
          <a:blip r:embed="rId2"/>
          <a:stretch>
            <a:fillRect/>
          </a:stretch>
        </p:blipFill>
        <p:spPr>
          <a:xfrm>
            <a:off x="4859279" y="1646298"/>
            <a:ext cx="6380865" cy="4168986"/>
          </a:xfrm>
          <a:prstGeom prst="rect">
            <a:avLst/>
          </a:prstGeom>
        </p:spPr>
      </p:pic>
    </p:spTree>
    <p:extLst>
      <p:ext uri="{BB962C8B-B14F-4D97-AF65-F5344CB8AC3E}">
        <p14:creationId xmlns:p14="http://schemas.microsoft.com/office/powerpoint/2010/main" val="3524661194"/>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Resultado de la Prueba paramétrica</a:t>
            </a:r>
          </a:p>
        </p:txBody>
      </p:sp>
      <mc:AlternateContent xmlns:mc="http://schemas.openxmlformats.org/markup-compatibility/2006">
        <mc:Choice xmlns:a14="http://schemas.microsoft.com/office/drawing/2010/main" Requires="a14">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239850" y="1484351"/>
                <a:ext cx="4896925" cy="537364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300" dirty="0">
                    <a:latin typeface="Arial" panose="020B0604020202020204" pitchFamily="34" charset="0"/>
                    <a:cs typeface="Arial" panose="020B0604020202020204" pitchFamily="34" charset="0"/>
                  </a:rPr>
                  <a:t>En la Imagen 11 se observa la validación del modelo mediante una prueba paramétrica</a:t>
                </a:r>
                <a14:m>
                  <m:oMath xmlns:m="http://schemas.openxmlformats.org/officeDocument/2006/math">
                    <m:r>
                      <a:rPr lang="es-MX" sz="1300" i="1" dirty="0" smtClean="0">
                        <a:latin typeface="Cambria Math" panose="02040503050406030204" pitchFamily="18" charset="0"/>
                        <a:cs typeface="Arial" panose="020B0604020202020204" pitchFamily="34" charset="0"/>
                      </a:rPr>
                      <m:t> </m:t>
                    </m:r>
                    <m:r>
                      <a:rPr lang="es-MX" sz="1300" i="1" dirty="0" smtClean="0">
                        <a:latin typeface="Cambria Math" panose="02040503050406030204" pitchFamily="18" charset="0"/>
                        <a:cs typeface="Arial" panose="020B0604020202020204" pitchFamily="34" charset="0"/>
                      </a:rPr>
                      <m:t>𝑡</m:t>
                    </m:r>
                    <m:r>
                      <a:rPr lang="es-MX" sz="1300" i="1" dirty="0">
                        <a:latin typeface="Cambria Math" panose="02040503050406030204" pitchFamily="18" charset="0"/>
                        <a:cs typeface="Arial" panose="020B0604020202020204" pitchFamily="34" charset="0"/>
                      </a:rPr>
                      <m:t> </m:t>
                    </m:r>
                  </m:oMath>
                </a14:m>
                <a:r>
                  <a:rPr lang="es-MX" sz="1300" dirty="0">
                    <a:latin typeface="Arial" panose="020B0604020202020204" pitchFamily="34" charset="0"/>
                    <a:cs typeface="Arial" panose="020B0604020202020204" pitchFamily="34" charset="0"/>
                  </a:rPr>
                  <a:t>de </a:t>
                </a:r>
                <a:r>
                  <a:rPr lang="es-MX" sz="1300" dirty="0" err="1">
                    <a:latin typeface="Arial" panose="020B0604020202020204" pitchFamily="34" charset="0"/>
                    <a:cs typeface="Arial" panose="020B0604020202020204" pitchFamily="34" charset="0"/>
                  </a:rPr>
                  <a:t>Student</a:t>
                </a:r>
                <a:r>
                  <a:rPr lang="es-MX" sz="1300" dirty="0">
                    <a:latin typeface="Arial" panose="020B0604020202020204" pitchFamily="34" charset="0"/>
                    <a:cs typeface="Arial" panose="020B0604020202020204" pitchFamily="34" charset="0"/>
                  </a:rPr>
                  <a:t>. Esta prueba trabaja principalmente con la media de los datos bajo ciertos supuestos estadísticos. Para este análisis, se definió un valor de referencia de 4 minutos, que es el tiempo máximo deseado de espera para un cliente y un nivel de significancia </a:t>
                </a:r>
                <a14:m>
                  <m:oMath xmlns:m="http://schemas.openxmlformats.org/officeDocument/2006/math">
                    <m:r>
                      <a:rPr lang="el-GR" sz="1300" i="1" dirty="0" smtClean="0">
                        <a:latin typeface="Cambria Math" panose="02040503050406030204" pitchFamily="18" charset="0"/>
                      </a:rPr>
                      <m:t>𝛼</m:t>
                    </m:r>
                    <m:r>
                      <a:rPr lang="es-MX" sz="1300" i="1" dirty="0" smtClean="0">
                        <a:latin typeface="Cambria Math" panose="02040503050406030204" pitchFamily="18" charset="0"/>
                        <a:cs typeface="Arial" panose="020B0604020202020204" pitchFamily="34" charset="0"/>
                      </a:rPr>
                      <m:t> </m:t>
                    </m:r>
                  </m:oMath>
                </a14:m>
                <a:r>
                  <a:rPr lang="es-MX" sz="1300" dirty="0">
                    <a:latin typeface="Arial" panose="020B0604020202020204" pitchFamily="34" charset="0"/>
                    <a:cs typeface="Arial" panose="020B0604020202020204" pitchFamily="34" charset="0"/>
                  </a:rPr>
                  <a:t>de 0.05. Al ejecutar la validación, el programa arroja un p-valor de 0.00. Dado que </a:t>
                </a:r>
                <a14:m>
                  <m:oMath xmlns:m="http://schemas.openxmlformats.org/officeDocument/2006/math">
                    <m:r>
                      <a:rPr lang="es-MX" sz="1300" i="1" dirty="0" smtClean="0">
                        <a:latin typeface="Cambria Math" panose="02040503050406030204" pitchFamily="18" charset="0"/>
                        <a:cs typeface="Arial" panose="020B0604020202020204" pitchFamily="34" charset="0"/>
                      </a:rPr>
                      <m:t>(</m:t>
                    </m:r>
                    <m:r>
                      <a:rPr lang="es-MX" sz="1300" i="1" dirty="0">
                        <a:latin typeface="Cambria Math" panose="02040503050406030204" pitchFamily="18" charset="0"/>
                        <a:cs typeface="Arial" panose="020B0604020202020204" pitchFamily="34" charset="0"/>
                      </a:rPr>
                      <m:t>0.</m:t>
                    </m:r>
                    <m:r>
                      <a:rPr lang="es-MX" sz="1300" b="0" i="1" dirty="0" smtClean="0">
                        <a:latin typeface="Cambria Math" panose="02040503050406030204" pitchFamily="18" charset="0"/>
                        <a:cs typeface="Arial" panose="020B0604020202020204" pitchFamily="34" charset="0"/>
                      </a:rPr>
                      <m:t>00 </m:t>
                    </m:r>
                    <m:r>
                      <a:rPr lang="es-MX" sz="1300" b="0" i="1" dirty="0" smtClean="0">
                        <a:latin typeface="Cambria Math" panose="02040503050406030204" pitchFamily="18" charset="0"/>
                        <a:ea typeface="Cambria Math" panose="02040503050406030204" pitchFamily="18" charset="0"/>
                        <a:cs typeface="Arial" panose="020B0604020202020204" pitchFamily="34" charset="0"/>
                      </a:rPr>
                      <m:t>&lt;</m:t>
                    </m:r>
                    <m:r>
                      <a:rPr lang="es-MX" sz="1300" i="1" dirty="0">
                        <a:latin typeface="Cambria Math" panose="02040503050406030204" pitchFamily="18" charset="0"/>
                        <a:cs typeface="Arial" panose="020B0604020202020204" pitchFamily="34" charset="0"/>
                      </a:rPr>
                      <m:t> </m:t>
                    </m:r>
                    <m:r>
                      <a:rPr lang="es-MX" sz="1300" i="1" dirty="0" smtClean="0">
                        <a:latin typeface="Cambria Math" panose="02040503050406030204" pitchFamily="18" charset="0"/>
                        <a:cs typeface="Arial" panose="020B0604020202020204" pitchFamily="34" charset="0"/>
                      </a:rPr>
                      <m:t>0.05), </m:t>
                    </m:r>
                  </m:oMath>
                </a14:m>
                <a:r>
                  <a:rPr lang="es-MX" sz="1300" dirty="0">
                    <a:latin typeface="Arial" panose="020B0604020202020204" pitchFamily="34" charset="0"/>
                    <a:cs typeface="Arial" panose="020B0604020202020204" pitchFamily="34" charset="0"/>
                  </a:rPr>
                  <a:t> se rechaza la hipótesis nula </a:t>
                </a:r>
                <a14:m>
                  <m:oMath xmlns:m="http://schemas.openxmlformats.org/officeDocument/2006/math">
                    <m:sSub>
                      <m:sSubPr>
                        <m:ctrlPr>
                          <a:rPr lang="es-MX" sz="1300" i="1" dirty="0" smtClean="0">
                            <a:latin typeface="Cambria Math" panose="02040503050406030204" pitchFamily="18" charset="0"/>
                            <a:cs typeface="Arial" panose="020B0604020202020204" pitchFamily="34" charset="0"/>
                          </a:rPr>
                        </m:ctrlPr>
                      </m:sSubPr>
                      <m:e>
                        <m:r>
                          <a:rPr lang="es-MX" sz="1300" b="0" i="1" dirty="0" smtClean="0">
                            <a:latin typeface="Cambria Math" panose="02040503050406030204" pitchFamily="18" charset="0"/>
                            <a:cs typeface="Arial" panose="020B0604020202020204" pitchFamily="34" charset="0"/>
                          </a:rPr>
                          <m:t>𝐻</m:t>
                        </m:r>
                      </m:e>
                      <m:sub>
                        <m:r>
                          <a:rPr lang="es-MX" sz="1300" b="0" i="1" dirty="0" smtClean="0">
                            <a:latin typeface="Cambria Math" panose="02040503050406030204" pitchFamily="18" charset="0"/>
                            <a:cs typeface="Arial" panose="020B0604020202020204" pitchFamily="34" charset="0"/>
                          </a:rPr>
                          <m:t>0</m:t>
                        </m:r>
                      </m:sub>
                    </m:sSub>
                  </m:oMath>
                </a14:m>
                <a:r>
                  <a:rPr lang="es-MX" sz="1300" dirty="0">
                    <a:latin typeface="Arial" panose="020B0604020202020204" pitchFamily="34" charset="0"/>
                    <a:cs typeface="Arial" panose="020B0604020202020204" pitchFamily="34" charset="0"/>
                  </a:rPr>
                  <a:t>, lo que demuestra que la diferencia entre la media simulada y el valor de referencia es estadísticamente significativa. Es como decirle al programa si los clientes realmente esperan mas de 4 minutos</a:t>
                </a:r>
              </a:p>
              <a:p>
                <a:pPr marL="0" indent="0" algn="just">
                  <a:lnSpc>
                    <a:spcPct val="150000"/>
                  </a:lnSpc>
                  <a:buNone/>
                </a:pPr>
                <a:r>
                  <a:rPr lang="es-MX" sz="1300" dirty="0">
                    <a:latin typeface="Arial" panose="020B0604020202020204" pitchFamily="34" charset="0"/>
                    <a:cs typeface="Arial" panose="020B0604020202020204" pitchFamily="34" charset="0"/>
                  </a:rPr>
                  <a:t>En caso de que se aumente el tiempo de espera acercándose al valor promedio del análisis, en el valor de referencia y la prueba paramétrica eventualmente comenzará a aceptar las mediciones al detectar </a:t>
                </a:r>
                <a:r>
                  <a:rPr lang="es-MX" sz="1300" dirty="0" err="1">
                    <a:latin typeface="Arial" panose="020B0604020202020204" pitchFamily="34" charset="0"/>
                    <a:cs typeface="Arial" panose="020B0604020202020204" pitchFamily="34" charset="0"/>
                  </a:rPr>
                  <a:t>semejansas</a:t>
                </a:r>
                <a:r>
                  <a:rPr lang="es-MX" sz="1300" dirty="0">
                    <a:latin typeface="Arial" panose="020B0604020202020204" pitchFamily="34" charset="0"/>
                    <a:cs typeface="Arial" panose="020B0604020202020204" pitchFamily="34" charset="0"/>
                  </a:rPr>
                  <a:t> significativas. </a:t>
                </a:r>
              </a:p>
            </p:txBody>
          </p:sp>
        </mc:Choice>
        <mc:Fallback>
          <p:sp>
            <p:nvSpPr>
              <p:cNvPr id="15" name="Marcador de texto 19">
                <a:extLst>
                  <a:ext uri="{FF2B5EF4-FFF2-40B4-BE49-F238E27FC236}">
                    <a16:creationId xmlns:a16="http://schemas.microsoft.com/office/drawing/2014/main" id="{4E2CC535-4543-45FA-ABFB-EBC45633A1A3}"/>
                  </a:ext>
                </a:extLst>
              </p:cNvPr>
              <p:cNvSpPr txBox="1">
                <a:spLocks noRot="1" noChangeAspect="1" noMove="1" noResize="1" noEditPoints="1" noAdjustHandles="1" noChangeArrowheads="1" noChangeShapeType="1" noTextEdit="1"/>
              </p:cNvSpPr>
              <p:nvPr/>
            </p:nvSpPr>
            <p:spPr>
              <a:xfrm>
                <a:off x="239850" y="1484351"/>
                <a:ext cx="4896925" cy="5373649"/>
              </a:xfrm>
              <a:prstGeom prst="rect">
                <a:avLst/>
              </a:prstGeom>
              <a:blipFill>
                <a:blip r:embed="rId2"/>
                <a:stretch>
                  <a:fillRect l="-124" r="-124"/>
                </a:stretch>
              </a:blipFill>
            </p:spPr>
            <p:txBody>
              <a:bodyPr/>
              <a:lstStyle/>
              <a:p>
                <a:r>
                  <a:rPr lang="es-MX">
                    <a:noFill/>
                  </a:rPr>
                  <a:t> </a:t>
                </a:r>
              </a:p>
            </p:txBody>
          </p:sp>
        </mc:Fallback>
      </mc:AlternateContent>
      <p:sp>
        <p:nvSpPr>
          <p:cNvPr id="6" name="CuadroTexto 5">
            <a:extLst>
              <a:ext uri="{FF2B5EF4-FFF2-40B4-BE49-F238E27FC236}">
                <a16:creationId xmlns:a16="http://schemas.microsoft.com/office/drawing/2014/main" id="{B1149586-47B3-48D8-9234-E0135F0BDA61}"/>
              </a:ext>
            </a:extLst>
          </p:cNvPr>
          <p:cNvSpPr txBox="1"/>
          <p:nvPr/>
        </p:nvSpPr>
        <p:spPr>
          <a:xfrm>
            <a:off x="6659726" y="6041043"/>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11</a:t>
            </a:r>
          </a:p>
        </p:txBody>
      </p:sp>
      <p:pic>
        <p:nvPicPr>
          <p:cNvPr id="3" name="Imagen 2">
            <a:extLst>
              <a:ext uri="{FF2B5EF4-FFF2-40B4-BE49-F238E27FC236}">
                <a16:creationId xmlns:a16="http://schemas.microsoft.com/office/drawing/2014/main" id="{9EF4196A-265B-43E3-9527-1F8492FF3037}"/>
              </a:ext>
            </a:extLst>
          </p:cNvPr>
          <p:cNvPicPr>
            <a:picLocks noChangeAspect="1"/>
          </p:cNvPicPr>
          <p:nvPr/>
        </p:nvPicPr>
        <p:blipFill>
          <a:blip r:embed="rId3"/>
          <a:stretch>
            <a:fillRect/>
          </a:stretch>
        </p:blipFill>
        <p:spPr>
          <a:xfrm>
            <a:off x="5279618" y="1647264"/>
            <a:ext cx="5814205" cy="4161865"/>
          </a:xfrm>
          <a:prstGeom prst="rect">
            <a:avLst/>
          </a:prstGeom>
        </p:spPr>
      </p:pic>
    </p:spTree>
    <p:extLst>
      <p:ext uri="{BB962C8B-B14F-4D97-AF65-F5344CB8AC3E}">
        <p14:creationId xmlns:p14="http://schemas.microsoft.com/office/powerpoint/2010/main" val="2098118231"/>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Resultado de la Prueba  no paramétrica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334188"/>
            <a:ext cx="4400150" cy="541056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400" dirty="0">
                <a:latin typeface="Arial" panose="020B0604020202020204" pitchFamily="34" charset="0"/>
                <a:cs typeface="Arial" panose="020B0604020202020204" pitchFamily="34" charset="0"/>
              </a:rPr>
              <a:t>En la imagen 12 se observa la validación mediante la prueba no paramétrica de Wilcoxon. Esta prueba sirve como una alternativa que no depende de los mismos supuestos de distribución que una prueba paramétrica, ya que se basa en los rangos y la posición de las observaciones para evaluar los datos desde otro enfoque.</a:t>
            </a:r>
          </a:p>
          <a:p>
            <a:pPr marL="0" indent="0" algn="just">
              <a:lnSpc>
                <a:spcPct val="150000"/>
              </a:lnSpc>
              <a:buNone/>
            </a:pPr>
            <a:r>
              <a:rPr lang="es-MX" sz="1400" dirty="0">
                <a:latin typeface="Arial" panose="020B0604020202020204" pitchFamily="34" charset="0"/>
                <a:cs typeface="Arial" panose="020B0604020202020204" pitchFamily="34" charset="0"/>
              </a:rPr>
              <a:t>El valor de referencia es 4, el cual representa el punto contra el que la prueba estadística compara los datos obtenidos de la simulación. Con un nivel de significancia de 0.05 (5 %), y dado que el p-valor resultante es menor (0.00 &lt; 0.05), se rechaza la hipótesis nula (H₀). Esto demuestra que la diferencia entre la mediana simulada y el valor de referencia es estadísticamente significativa.</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629399" y="6190750"/>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12</a:t>
            </a:r>
          </a:p>
        </p:txBody>
      </p:sp>
      <p:pic>
        <p:nvPicPr>
          <p:cNvPr id="3" name="Imagen 2">
            <a:extLst>
              <a:ext uri="{FF2B5EF4-FFF2-40B4-BE49-F238E27FC236}">
                <a16:creationId xmlns:a16="http://schemas.microsoft.com/office/drawing/2014/main" id="{79600E82-46A6-4260-BC9D-862C064DF2E0}"/>
              </a:ext>
            </a:extLst>
          </p:cNvPr>
          <p:cNvPicPr>
            <a:picLocks noChangeAspect="1"/>
          </p:cNvPicPr>
          <p:nvPr/>
        </p:nvPicPr>
        <p:blipFill>
          <a:blip r:embed="rId2"/>
          <a:stretch>
            <a:fillRect/>
          </a:stretch>
        </p:blipFill>
        <p:spPr>
          <a:xfrm>
            <a:off x="5186047" y="1595111"/>
            <a:ext cx="6009377" cy="4182035"/>
          </a:xfrm>
          <a:prstGeom prst="rect">
            <a:avLst/>
          </a:prstGeom>
        </p:spPr>
      </p:pic>
    </p:spTree>
    <p:extLst>
      <p:ext uri="{BB962C8B-B14F-4D97-AF65-F5344CB8AC3E}">
        <p14:creationId xmlns:p14="http://schemas.microsoft.com/office/powerpoint/2010/main" val="220911663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 Inicio de la simulación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334188"/>
            <a:ext cx="4400150" cy="541056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400" dirty="0">
                <a:latin typeface="Arial" panose="020B0604020202020204" pitchFamily="34" charset="0"/>
                <a:cs typeface="Arial" panose="020B0604020202020204" pitchFamily="34" charset="0"/>
              </a:rPr>
              <a:t>En la imagen 13 muestra la ejecución de una simulación inventario. En ella se observa el inicio de inventario con 130 unidades, el numero de pedidos que comúnmente se surten 20, un numero de demanda mínima por pedido 8 unidades y un numero de demanda máxima por pedido 12 unidades, limite de artículos para volver a resurtir 20 y la cantidad de pedidos que se deba realizar 1 . En la sección de resultados, se aprecia que el inventario ya no es suficiente después de despachar los pedidos, que faltaría  70 unidades para surtir el pedido actual, sugiere resurtir una vez el inventario se cuenta con 20 unidades o menos lo cual aun se considera un inventario suficiente. </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658332" y="5522603"/>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13</a:t>
            </a:r>
          </a:p>
        </p:txBody>
      </p:sp>
      <p:pic>
        <p:nvPicPr>
          <p:cNvPr id="4" name="Imagen 3">
            <a:extLst>
              <a:ext uri="{FF2B5EF4-FFF2-40B4-BE49-F238E27FC236}">
                <a16:creationId xmlns:a16="http://schemas.microsoft.com/office/drawing/2014/main" id="{95280006-22C0-4E89-9CD6-97637BBFDCEC}"/>
              </a:ext>
            </a:extLst>
          </p:cNvPr>
          <p:cNvPicPr>
            <a:picLocks noChangeAspect="1"/>
          </p:cNvPicPr>
          <p:nvPr/>
        </p:nvPicPr>
        <p:blipFill>
          <a:blip r:embed="rId2"/>
          <a:stretch>
            <a:fillRect/>
          </a:stretch>
        </p:blipFill>
        <p:spPr>
          <a:xfrm>
            <a:off x="5327972" y="1539687"/>
            <a:ext cx="5783395" cy="3778625"/>
          </a:xfrm>
          <a:prstGeom prst="rect">
            <a:avLst/>
          </a:prstGeom>
        </p:spPr>
      </p:pic>
    </p:spTree>
    <p:extLst>
      <p:ext uri="{BB962C8B-B14F-4D97-AF65-F5344CB8AC3E}">
        <p14:creationId xmlns:p14="http://schemas.microsoft.com/office/powerpoint/2010/main" val="231004837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 Inicio de la simulación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2510960"/>
            <a:ext cx="4400150" cy="279405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500" dirty="0">
                <a:latin typeface="Arial" panose="020B0604020202020204" pitchFamily="34" charset="0"/>
                <a:cs typeface="Arial" panose="020B0604020202020204" pitchFamily="34" charset="0"/>
              </a:rPr>
              <a:t>En la imagen 14 se observa los detalles de la simulación mediante una tabla de resultados que se genera aleatoriamente  La demanda de cada pedido, nos muestra cual es el estado actual de cada inventario después de realizar una compra.</a:t>
            </a:r>
          </a:p>
          <a:p>
            <a:pPr marL="0" indent="0" algn="just">
              <a:lnSpc>
                <a:spcPct val="150000"/>
              </a:lnSpc>
              <a:buNone/>
            </a:pPr>
            <a:r>
              <a:rPr lang="es-MX" sz="1500" dirty="0">
                <a:latin typeface="Arial" panose="020B0604020202020204" pitchFamily="34" charset="0"/>
                <a:cs typeface="Arial" panose="020B0604020202020204" pitchFamily="34" charset="0"/>
              </a:rPr>
              <a:t>La tabla nos permite ver los faltantes y si es necesario resurtir el producto o no .</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629399" y="6190750"/>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14</a:t>
            </a:r>
          </a:p>
        </p:txBody>
      </p:sp>
      <p:pic>
        <p:nvPicPr>
          <p:cNvPr id="3" name="Imagen 2">
            <a:extLst>
              <a:ext uri="{FF2B5EF4-FFF2-40B4-BE49-F238E27FC236}">
                <a16:creationId xmlns:a16="http://schemas.microsoft.com/office/drawing/2014/main" id="{0A9F3BFA-9924-45D3-B61F-D9E9AE117E1D}"/>
              </a:ext>
            </a:extLst>
          </p:cNvPr>
          <p:cNvPicPr>
            <a:picLocks noChangeAspect="1"/>
          </p:cNvPicPr>
          <p:nvPr/>
        </p:nvPicPr>
        <p:blipFill>
          <a:blip r:embed="rId2"/>
          <a:stretch>
            <a:fillRect/>
          </a:stretch>
        </p:blipFill>
        <p:spPr>
          <a:xfrm>
            <a:off x="5029761" y="1716134"/>
            <a:ext cx="6030370" cy="3939988"/>
          </a:xfrm>
          <a:prstGeom prst="rect">
            <a:avLst/>
          </a:prstGeom>
        </p:spPr>
      </p:pic>
    </p:spTree>
    <p:extLst>
      <p:ext uri="{BB962C8B-B14F-4D97-AF65-F5344CB8AC3E}">
        <p14:creationId xmlns:p14="http://schemas.microsoft.com/office/powerpoint/2010/main" val="95915207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 Inicio de la simulación</a:t>
            </a:r>
          </a:p>
        </p:txBody>
      </p:sp>
      <mc:AlternateContent xmlns:mc="http://schemas.openxmlformats.org/markup-compatibility/2006">
        <mc:Choice xmlns:a14="http://schemas.microsoft.com/office/drawing/2010/main" Requires="a14">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413898" y="1666654"/>
                <a:ext cx="4722878" cy="4276946"/>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400" dirty="0">
                    <a:latin typeface="Arial" panose="020B0604020202020204" pitchFamily="34" charset="0"/>
                    <a:cs typeface="Arial" panose="020B0604020202020204" pitchFamily="34" charset="0"/>
                  </a:rPr>
                  <a:t>En la imagen 15 se observa la prueba paramétrica </a:t>
                </a:r>
                <a14:m>
                  <m:oMath xmlns:m="http://schemas.openxmlformats.org/officeDocument/2006/math">
                    <m:r>
                      <a:rPr lang="es-MX" sz="1400" i="1" dirty="0" smtClean="0">
                        <a:latin typeface="Cambria Math" panose="02040503050406030204" pitchFamily="18" charset="0"/>
                        <a:cs typeface="Arial" panose="020B0604020202020204" pitchFamily="34" charset="0"/>
                      </a:rPr>
                      <m:t>𝑡</m:t>
                    </m:r>
                  </m:oMath>
                </a14:m>
                <a:r>
                  <a:rPr lang="es-MX" sz="1400" dirty="0">
                    <a:latin typeface="Arial" panose="020B0604020202020204" pitchFamily="34" charset="0"/>
                    <a:cs typeface="Arial" panose="020B0604020202020204" pitchFamily="34" charset="0"/>
                  </a:rPr>
                  <a:t> de </a:t>
                </a:r>
                <a:r>
                  <a:rPr lang="es-MX" sz="1400" dirty="0" err="1">
                    <a:latin typeface="Arial" panose="020B0604020202020204" pitchFamily="34" charset="0"/>
                    <a:cs typeface="Arial" panose="020B0604020202020204" pitchFamily="34" charset="0"/>
                  </a:rPr>
                  <a:t>Student</a:t>
                </a:r>
                <a:r>
                  <a:rPr lang="es-MX" sz="1400" dirty="0">
                    <a:latin typeface="Arial" panose="020B0604020202020204" pitchFamily="34" charset="0"/>
                    <a:cs typeface="Arial" panose="020B0604020202020204" pitchFamily="34" charset="0"/>
                  </a:rPr>
                  <a:t>; trabaja principalmente con la media de los datos bajo ciertos supuestos estadísticos, comparando el comportamiento de la muestra simulada con un valor de referencia establecido. Para este análisis, se definió un valor de referencia de 30 como sugerencia del punto de reorden para resurtir inventario, y un nivel de significancia de 0.05. Al ejecutar la validación, el programa arroja un p-valor de 0.4961, lo cuál la conclusión indica que ese punto de reorden es el adecuado para poder resurtir el pedido y no llegar a un punto critico, esto simplemente es una simulación que ayuda a entender el sistema</a:t>
                </a:r>
              </a:p>
            </p:txBody>
          </p:sp>
        </mc:Choice>
        <mc:Fallback>
          <p:sp>
            <p:nvSpPr>
              <p:cNvPr id="15" name="Marcador de texto 19">
                <a:extLst>
                  <a:ext uri="{FF2B5EF4-FFF2-40B4-BE49-F238E27FC236}">
                    <a16:creationId xmlns:a16="http://schemas.microsoft.com/office/drawing/2014/main" id="{4E2CC535-4543-45FA-ABFB-EBC45633A1A3}"/>
                  </a:ext>
                </a:extLst>
              </p:cNvPr>
              <p:cNvSpPr txBox="1">
                <a:spLocks noRot="1" noChangeAspect="1" noMove="1" noResize="1" noEditPoints="1" noAdjustHandles="1" noChangeArrowheads="1" noChangeShapeType="1" noTextEdit="1"/>
              </p:cNvSpPr>
              <p:nvPr/>
            </p:nvSpPr>
            <p:spPr>
              <a:xfrm>
                <a:off x="413898" y="1666654"/>
                <a:ext cx="4722878" cy="4276946"/>
              </a:xfrm>
              <a:prstGeom prst="rect">
                <a:avLst/>
              </a:prstGeom>
              <a:blipFill>
                <a:blip r:embed="rId2"/>
                <a:stretch>
                  <a:fillRect l="-387" r="-387"/>
                </a:stretch>
              </a:blipFill>
            </p:spPr>
            <p:txBody>
              <a:bodyPr/>
              <a:lstStyle/>
              <a:p>
                <a:r>
                  <a:rPr lang="es-MX">
                    <a:noFill/>
                  </a:rPr>
                  <a:t> </a:t>
                </a:r>
              </a:p>
            </p:txBody>
          </p:sp>
        </mc:Fallback>
      </mc:AlternateContent>
      <p:sp>
        <p:nvSpPr>
          <p:cNvPr id="6" name="CuadroTexto 5">
            <a:extLst>
              <a:ext uri="{FF2B5EF4-FFF2-40B4-BE49-F238E27FC236}">
                <a16:creationId xmlns:a16="http://schemas.microsoft.com/office/drawing/2014/main" id="{B1149586-47B3-48D8-9234-E0135F0BDA61}"/>
              </a:ext>
            </a:extLst>
          </p:cNvPr>
          <p:cNvSpPr txBox="1"/>
          <p:nvPr/>
        </p:nvSpPr>
        <p:spPr>
          <a:xfrm>
            <a:off x="6629399" y="6190750"/>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15</a:t>
            </a:r>
          </a:p>
        </p:txBody>
      </p:sp>
      <p:pic>
        <p:nvPicPr>
          <p:cNvPr id="4" name="Imagen 3">
            <a:extLst>
              <a:ext uri="{FF2B5EF4-FFF2-40B4-BE49-F238E27FC236}">
                <a16:creationId xmlns:a16="http://schemas.microsoft.com/office/drawing/2014/main" id="{A5BCD0FD-B856-4392-9A23-4C2BA8316BEA}"/>
              </a:ext>
            </a:extLst>
          </p:cNvPr>
          <p:cNvPicPr>
            <a:picLocks noChangeAspect="1"/>
          </p:cNvPicPr>
          <p:nvPr/>
        </p:nvPicPr>
        <p:blipFill>
          <a:blip r:embed="rId3"/>
          <a:stretch>
            <a:fillRect/>
          </a:stretch>
        </p:blipFill>
        <p:spPr>
          <a:xfrm>
            <a:off x="5244913" y="1666653"/>
            <a:ext cx="5889252" cy="3847787"/>
          </a:xfrm>
          <a:prstGeom prst="rect">
            <a:avLst/>
          </a:prstGeom>
        </p:spPr>
      </p:pic>
    </p:spTree>
    <p:extLst>
      <p:ext uri="{BB962C8B-B14F-4D97-AF65-F5344CB8AC3E}">
        <p14:creationId xmlns:p14="http://schemas.microsoft.com/office/powerpoint/2010/main" val="276788446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p:spPr>
        <p:txBody>
          <a:bodyPr anchor="ctr">
            <a:normAutofit/>
          </a:bodyPr>
          <a:lstStyle/>
          <a:p>
            <a:pPr algn="ctr"/>
            <a:r>
              <a:rPr lang="es-MX" sz="6600" dirty="0">
                <a:latin typeface="Arial Rounded MT Bold" panose="020F0704030504030204" pitchFamily="34" charset="0"/>
              </a:rPr>
              <a:t>Simulador de Lista de Espera e Inventario desarrollado en R</a:t>
            </a:r>
          </a:p>
        </p:txBody>
      </p:sp>
    </p:spTree>
    <p:extLst>
      <p:ext uri="{BB962C8B-B14F-4D97-AF65-F5344CB8AC3E}">
        <p14:creationId xmlns:p14="http://schemas.microsoft.com/office/powerpoint/2010/main" val="30012206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83EE5D53-F2E5-474C-B711-65A389ED884A}"/>
              </a:ext>
            </a:extLst>
          </p:cNvPr>
          <p:cNvSpPr>
            <a:spLocks noGrp="1"/>
          </p:cNvSpPr>
          <p:nvPr>
            <p:ph idx="1"/>
          </p:nvPr>
        </p:nvSpPr>
        <p:spPr>
          <a:xfrm>
            <a:off x="1298067" y="2316160"/>
            <a:ext cx="9253728" cy="4351337"/>
          </a:xfrm>
        </p:spPr>
        <p:txBody>
          <a:bodyPr/>
          <a:lstStyle/>
          <a:p>
            <a:pPr marL="0" indent="0" algn="just">
              <a:lnSpc>
                <a:spcPct val="150000"/>
              </a:lnSpc>
              <a:buNone/>
            </a:pPr>
            <a:r>
              <a:rPr lang="es-MX" dirty="0">
                <a:latin typeface="Arial" panose="020B0604020202020204" pitchFamily="34" charset="0"/>
                <a:cs typeface="Arial" panose="020B0604020202020204" pitchFamily="34" charset="0"/>
              </a:rPr>
              <a:t>La versión desarrollada en R ejecuta los modelos de Línea de Espera e Inventario mediante una aplicación interactiva implementada con </a:t>
            </a:r>
            <a:r>
              <a:rPr lang="es-MX" dirty="0" err="1">
                <a:latin typeface="Arial" panose="020B0604020202020204" pitchFamily="34" charset="0"/>
                <a:cs typeface="Arial" panose="020B0604020202020204" pitchFamily="34" charset="0"/>
              </a:rPr>
              <a:t>Shiny</a:t>
            </a:r>
            <a:r>
              <a:rPr lang="es-MX" dirty="0">
                <a:latin typeface="Arial" panose="020B0604020202020204" pitchFamily="34" charset="0"/>
                <a:cs typeface="Arial" panose="020B0604020202020204" pitchFamily="34" charset="0"/>
              </a:rPr>
              <a:t>. El sistema recibe los parámetros establecidos para cada ejercicio, procesa la simulación y actualiza dinámicamente los registros e indicadores obtenidos. Además, aprovecha las capacidades estadísticas de R para realizar los procedimientos de validación incorporados en cada modelo.</a:t>
            </a:r>
          </a:p>
        </p:txBody>
      </p:sp>
      <p:sp>
        <p:nvSpPr>
          <p:cNvPr id="6" name="Título 1">
            <a:extLst>
              <a:ext uri="{FF2B5EF4-FFF2-40B4-BE49-F238E27FC236}">
                <a16:creationId xmlns:a16="http://schemas.microsoft.com/office/drawing/2014/main" id="{D8B012DD-EEDC-4F3C-A390-797E11D93502}"/>
              </a:ext>
            </a:extLst>
          </p:cNvPr>
          <p:cNvSpPr>
            <a:spLocks noGrp="1"/>
          </p:cNvSpPr>
          <p:nvPr>
            <p:ph type="title"/>
          </p:nvPr>
        </p:nvSpPr>
        <p:spPr>
          <a:xfrm>
            <a:off x="1051873" y="419103"/>
            <a:ext cx="9746116" cy="1234885"/>
          </a:xfrm>
          <a:solidFill>
            <a:schemeClr val="tx2">
              <a:lumMod val="75000"/>
            </a:schemeClr>
          </a:solidFill>
        </p:spPr>
        <p:txBody>
          <a:bodyPr anchor="ctr">
            <a:normAutofit/>
          </a:bodyPr>
          <a:lstStyle/>
          <a:p>
            <a:pPr algn="ctr"/>
            <a:r>
              <a:rPr lang="es-MX" sz="36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Simulador de Lista de Espera e Inventario desarrollado en R</a:t>
            </a:r>
          </a:p>
        </p:txBody>
      </p:sp>
    </p:spTree>
    <p:extLst>
      <p:ext uri="{BB962C8B-B14F-4D97-AF65-F5344CB8AC3E}">
        <p14:creationId xmlns:p14="http://schemas.microsoft.com/office/powerpoint/2010/main" val="11375451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71EBD921-73D6-41FB-BE54-0371BC60DE40}"/>
              </a:ext>
            </a:extLst>
          </p:cNvPr>
          <p:cNvSpPr>
            <a:spLocks noGrp="1"/>
          </p:cNvSpPr>
          <p:nvPr>
            <p:ph type="title"/>
          </p:nvPr>
        </p:nvSpPr>
        <p:spPr>
          <a:xfrm>
            <a:off x="682838" y="2913327"/>
            <a:ext cx="10198788" cy="1739355"/>
          </a:xfrm>
          <a:solidFill>
            <a:schemeClr val="tx2">
              <a:lumMod val="75000"/>
            </a:schemeClr>
          </a:solidFill>
        </p:spPr>
        <p:txBody>
          <a:bodyPr anchor="ctr">
            <a:normAutofit/>
          </a:body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 principal en R</a:t>
            </a:r>
          </a:p>
        </p:txBody>
      </p:sp>
    </p:spTree>
    <p:extLst>
      <p:ext uri="{BB962C8B-B14F-4D97-AF65-F5344CB8AC3E}">
        <p14:creationId xmlns:p14="http://schemas.microsoft.com/office/powerpoint/2010/main" val="17475760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 Principal en R</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247663" y="1672199"/>
            <a:ext cx="4924585" cy="4719917"/>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500" dirty="0">
                <a:latin typeface="Arial" panose="020B0604020202020204" pitchFamily="34" charset="0"/>
                <a:cs typeface="Arial" panose="020B0604020202020204" pitchFamily="34" charset="0"/>
              </a:rPr>
              <a:t>En la imagen 16 se muestra la interfaz del menú principal para el Simulador de Línea de Espera e Inventario, organizado mediante tarjetas que permiten acceder a los diferentes módulos del sistema.</a:t>
            </a:r>
          </a:p>
          <a:p>
            <a:pPr marL="0" indent="0" algn="just">
              <a:lnSpc>
                <a:spcPct val="150000"/>
              </a:lnSpc>
              <a:buNone/>
            </a:pPr>
            <a:r>
              <a:rPr lang="es-MX" sz="1500" dirty="0">
                <a:latin typeface="Arial" panose="020B0604020202020204" pitchFamily="34" charset="0"/>
                <a:cs typeface="Arial" panose="020B0604020202020204" pitchFamily="34" charset="0"/>
              </a:rPr>
              <a:t>Cada tarjeta identifica un módulo mediante un ícono, título, una breve descripción y botón de acceso. Desde esta pantalla se puede ingresar en ambas simulaciones. Esta es una interfaz intuitiva y atractiva para el usuario.</a:t>
            </a:r>
          </a:p>
        </p:txBody>
      </p:sp>
      <p:sp>
        <p:nvSpPr>
          <p:cNvPr id="6" name="CuadroTexto 5">
            <a:extLst>
              <a:ext uri="{FF2B5EF4-FFF2-40B4-BE49-F238E27FC236}">
                <a16:creationId xmlns:a16="http://schemas.microsoft.com/office/drawing/2014/main" id="{585C24D2-8542-46C9-AA21-975263AD685D}"/>
              </a:ext>
            </a:extLst>
          </p:cNvPr>
          <p:cNvSpPr txBox="1"/>
          <p:nvPr/>
        </p:nvSpPr>
        <p:spPr>
          <a:xfrm>
            <a:off x="7019754" y="6238227"/>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16</a:t>
            </a:r>
          </a:p>
        </p:txBody>
      </p:sp>
      <p:pic>
        <p:nvPicPr>
          <p:cNvPr id="4" name="Imagen 3">
            <a:extLst>
              <a:ext uri="{FF2B5EF4-FFF2-40B4-BE49-F238E27FC236}">
                <a16:creationId xmlns:a16="http://schemas.microsoft.com/office/drawing/2014/main" id="{F15D4A54-2537-4033-80CB-653ADE4B88A5}"/>
              </a:ext>
            </a:extLst>
          </p:cNvPr>
          <p:cNvPicPr>
            <a:picLocks noChangeAspect="1"/>
          </p:cNvPicPr>
          <p:nvPr/>
        </p:nvPicPr>
        <p:blipFill>
          <a:blip r:embed="rId2"/>
          <a:stretch>
            <a:fillRect/>
          </a:stretch>
        </p:blipFill>
        <p:spPr>
          <a:xfrm>
            <a:off x="5634315" y="1621367"/>
            <a:ext cx="5526741" cy="4151224"/>
          </a:xfrm>
          <a:prstGeom prst="rect">
            <a:avLst/>
          </a:prstGeom>
        </p:spPr>
      </p:pic>
    </p:spTree>
    <p:extLst>
      <p:ext uri="{BB962C8B-B14F-4D97-AF65-F5344CB8AC3E}">
        <p14:creationId xmlns:p14="http://schemas.microsoft.com/office/powerpoint/2010/main" val="1324874699"/>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71EBD921-73D6-41FB-BE54-0371BC60DE40}"/>
              </a:ext>
            </a:extLst>
          </p:cNvPr>
          <p:cNvSpPr>
            <a:spLocks noGrp="1"/>
          </p:cNvSpPr>
          <p:nvPr>
            <p:ph type="title"/>
          </p:nvPr>
        </p:nvSpPr>
        <p:spPr>
          <a:xfrm>
            <a:off x="682838" y="2913327"/>
            <a:ext cx="10198788" cy="1739355"/>
          </a:xfrm>
          <a:solidFill>
            <a:schemeClr val="tx2">
              <a:lumMod val="75000"/>
            </a:schemeClr>
          </a:solidFill>
        </p:spPr>
        <p:txBody>
          <a:bodyPr anchor="ctr">
            <a:normAutofit/>
          </a:body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en R</a:t>
            </a:r>
          </a:p>
        </p:txBody>
      </p:sp>
    </p:spTree>
    <p:extLst>
      <p:ext uri="{BB962C8B-B14F-4D97-AF65-F5344CB8AC3E}">
        <p14:creationId xmlns:p14="http://schemas.microsoft.com/office/powerpoint/2010/main" val="4603143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Iniciando simulación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986265"/>
            <a:ext cx="4409800" cy="398422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400" dirty="0">
                <a:latin typeface="Arial" panose="020B0604020202020204" pitchFamily="34" charset="0"/>
                <a:cs typeface="Arial" panose="020B0604020202020204" pitchFamily="34" charset="0"/>
              </a:rPr>
              <a:t>La Imagen 17 muestra la ejecución de una simulación de línea de espera. En ella se observa la atención de 20 clientes mediante 2 servidores de atención al cliente. En la sección de resultados, se aprecia que el tiempo de espera promedio es de 6.91 minutos, con un tiempo máximo de espera de 15.81 minutos. Para esta simulación, 18 clientes tuvieron que esperar en fila, mientras que los servidores registraron una tasa de utilización del 92.46%, lo que demuestra que el sistema opera casi a su máxima capacidad y presenta un alto nivel de saturación.</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629400" y="6375417"/>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17</a:t>
            </a:r>
          </a:p>
        </p:txBody>
      </p:sp>
      <p:pic>
        <p:nvPicPr>
          <p:cNvPr id="5" name="Imagen 4">
            <a:extLst>
              <a:ext uri="{FF2B5EF4-FFF2-40B4-BE49-F238E27FC236}">
                <a16:creationId xmlns:a16="http://schemas.microsoft.com/office/drawing/2014/main" id="{32F113F1-E4CE-4B7F-858B-003DEDB7925B}"/>
              </a:ext>
            </a:extLst>
          </p:cNvPr>
          <p:cNvPicPr>
            <a:picLocks noChangeAspect="1"/>
          </p:cNvPicPr>
          <p:nvPr/>
        </p:nvPicPr>
        <p:blipFill>
          <a:blip r:embed="rId2"/>
          <a:stretch>
            <a:fillRect/>
          </a:stretch>
        </p:blipFill>
        <p:spPr>
          <a:xfrm>
            <a:off x="5342186" y="1710859"/>
            <a:ext cx="5667156" cy="4553965"/>
          </a:xfrm>
          <a:prstGeom prst="rect">
            <a:avLst/>
          </a:prstGeom>
        </p:spPr>
      </p:pic>
    </p:spTree>
    <p:extLst>
      <p:ext uri="{BB962C8B-B14F-4D97-AF65-F5344CB8AC3E}">
        <p14:creationId xmlns:p14="http://schemas.microsoft.com/office/powerpoint/2010/main" val="261830552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Resultados de la simulación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2266053"/>
            <a:ext cx="4158103" cy="3395160"/>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600" dirty="0">
                <a:latin typeface="Arial" panose="020B0604020202020204" pitchFamily="34" charset="0"/>
                <a:cs typeface="Arial" panose="020B0604020202020204" pitchFamily="34" charset="0"/>
              </a:rPr>
              <a:t>En la Imagen 18 se presentan los resultados desglosados mediante una tabla que detalla el comportamiento de cada uno de los 20 clientes simulados. Este registro detallado constituye una herramienta clave para evaluar el desempeño del sistema y fundamentar la decisión de agregar o retirar personal de servicio.</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488374" y="6126186"/>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18</a:t>
            </a:r>
          </a:p>
        </p:txBody>
      </p:sp>
      <p:pic>
        <p:nvPicPr>
          <p:cNvPr id="3" name="Imagen 2">
            <a:extLst>
              <a:ext uri="{FF2B5EF4-FFF2-40B4-BE49-F238E27FC236}">
                <a16:creationId xmlns:a16="http://schemas.microsoft.com/office/drawing/2014/main" id="{09954835-1868-4C28-8B96-46DB6247BBCB}"/>
              </a:ext>
            </a:extLst>
          </p:cNvPr>
          <p:cNvPicPr>
            <a:picLocks noChangeAspect="1"/>
          </p:cNvPicPr>
          <p:nvPr/>
        </p:nvPicPr>
        <p:blipFill>
          <a:blip r:embed="rId2"/>
          <a:stretch>
            <a:fillRect/>
          </a:stretch>
        </p:blipFill>
        <p:spPr>
          <a:xfrm>
            <a:off x="5322015" y="1594916"/>
            <a:ext cx="5411694" cy="4348683"/>
          </a:xfrm>
          <a:prstGeom prst="rect">
            <a:avLst/>
          </a:prstGeom>
        </p:spPr>
      </p:pic>
    </p:spTree>
    <p:extLst>
      <p:ext uri="{BB962C8B-B14F-4D97-AF65-F5344CB8AC3E}">
        <p14:creationId xmlns:p14="http://schemas.microsoft.com/office/powerpoint/2010/main" val="54286668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Resultado de la Prueba paramétrica</a:t>
            </a:r>
          </a:p>
        </p:txBody>
      </p:sp>
      <mc:AlternateContent xmlns:mc="http://schemas.openxmlformats.org/markup-compatibility/2006">
        <mc:Choice xmlns:a14="http://schemas.microsoft.com/office/drawing/2010/main" Requires="a14">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239850" y="1484351"/>
                <a:ext cx="4896925" cy="537364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300" dirty="0">
                    <a:latin typeface="Arial" panose="020B0604020202020204" pitchFamily="34" charset="0"/>
                    <a:cs typeface="Arial" panose="020B0604020202020204" pitchFamily="34" charset="0"/>
                  </a:rPr>
                  <a:t>En la Imagen 19 se observa la validación del modelo mediante una prueba paramétrica</a:t>
                </a:r>
                <a14:m>
                  <m:oMath xmlns:m="http://schemas.openxmlformats.org/officeDocument/2006/math">
                    <m:r>
                      <a:rPr lang="es-MX" sz="1300" i="1" dirty="0" smtClean="0">
                        <a:latin typeface="Cambria Math" panose="02040503050406030204" pitchFamily="18" charset="0"/>
                        <a:cs typeface="Arial" panose="020B0604020202020204" pitchFamily="34" charset="0"/>
                      </a:rPr>
                      <m:t> </m:t>
                    </m:r>
                    <m:r>
                      <a:rPr lang="es-MX" sz="1300" i="1" dirty="0" smtClean="0">
                        <a:latin typeface="Cambria Math" panose="02040503050406030204" pitchFamily="18" charset="0"/>
                        <a:cs typeface="Arial" panose="020B0604020202020204" pitchFamily="34" charset="0"/>
                      </a:rPr>
                      <m:t>𝑡</m:t>
                    </m:r>
                    <m:r>
                      <a:rPr lang="es-MX" sz="1300" i="1" dirty="0">
                        <a:latin typeface="Cambria Math" panose="02040503050406030204" pitchFamily="18" charset="0"/>
                        <a:cs typeface="Arial" panose="020B0604020202020204" pitchFamily="34" charset="0"/>
                      </a:rPr>
                      <m:t> </m:t>
                    </m:r>
                  </m:oMath>
                </a14:m>
                <a:r>
                  <a:rPr lang="es-MX" sz="1300" dirty="0">
                    <a:latin typeface="Arial" panose="020B0604020202020204" pitchFamily="34" charset="0"/>
                    <a:cs typeface="Arial" panose="020B0604020202020204" pitchFamily="34" charset="0"/>
                  </a:rPr>
                  <a:t>de </a:t>
                </a:r>
                <a:r>
                  <a:rPr lang="es-MX" sz="1300" dirty="0" err="1">
                    <a:latin typeface="Arial" panose="020B0604020202020204" pitchFamily="34" charset="0"/>
                    <a:cs typeface="Arial" panose="020B0604020202020204" pitchFamily="34" charset="0"/>
                  </a:rPr>
                  <a:t>Student</a:t>
                </a:r>
                <a:r>
                  <a:rPr lang="es-MX" sz="1300" dirty="0">
                    <a:latin typeface="Arial" panose="020B0604020202020204" pitchFamily="34" charset="0"/>
                    <a:cs typeface="Arial" panose="020B0604020202020204" pitchFamily="34" charset="0"/>
                  </a:rPr>
                  <a:t>. Esta prueba trabaja principalmente con la media de los datos bajo ciertos supuestos estadísticos. Para este análisis, se definió un valor de referencia de 10 minutos, que es el tiempo máximo deseado de espera para un cliente y un nivel de significancia </a:t>
                </a:r>
                <a14:m>
                  <m:oMath xmlns:m="http://schemas.openxmlformats.org/officeDocument/2006/math">
                    <m:r>
                      <a:rPr lang="el-GR" sz="1300" i="1" dirty="0" smtClean="0">
                        <a:latin typeface="Cambria Math" panose="02040503050406030204" pitchFamily="18" charset="0"/>
                      </a:rPr>
                      <m:t>𝛼</m:t>
                    </m:r>
                    <m:r>
                      <a:rPr lang="es-MX" sz="1300" i="1" dirty="0" smtClean="0">
                        <a:latin typeface="Cambria Math" panose="02040503050406030204" pitchFamily="18" charset="0"/>
                        <a:cs typeface="Arial" panose="020B0604020202020204" pitchFamily="34" charset="0"/>
                      </a:rPr>
                      <m:t> </m:t>
                    </m:r>
                  </m:oMath>
                </a14:m>
                <a:r>
                  <a:rPr lang="es-MX" sz="1300" dirty="0">
                    <a:latin typeface="Arial" panose="020B0604020202020204" pitchFamily="34" charset="0"/>
                    <a:cs typeface="Arial" panose="020B0604020202020204" pitchFamily="34" charset="0"/>
                  </a:rPr>
                  <a:t>de 0.05. Al ejecutar la validación, el programa arroja un p-valor de 0.0885. Dado que </a:t>
                </a:r>
                <a14:m>
                  <m:oMath xmlns:m="http://schemas.openxmlformats.org/officeDocument/2006/math">
                    <m:r>
                      <a:rPr lang="es-MX" sz="1300" i="1" dirty="0" smtClean="0">
                        <a:latin typeface="Cambria Math" panose="02040503050406030204" pitchFamily="18" charset="0"/>
                        <a:cs typeface="Arial" panose="020B0604020202020204" pitchFamily="34" charset="0"/>
                      </a:rPr>
                      <m:t>(</m:t>
                    </m:r>
                    <m:r>
                      <a:rPr lang="es-MX" sz="1300" i="1" dirty="0">
                        <a:latin typeface="Cambria Math" panose="02040503050406030204" pitchFamily="18" charset="0"/>
                        <a:cs typeface="Arial" panose="020B0604020202020204" pitchFamily="34" charset="0"/>
                      </a:rPr>
                      <m:t>0.</m:t>
                    </m:r>
                    <m:r>
                      <a:rPr lang="es-MX" sz="1300" b="0" i="1" dirty="0" smtClean="0">
                        <a:latin typeface="Cambria Math" panose="02040503050406030204" pitchFamily="18" charset="0"/>
                        <a:cs typeface="Arial" panose="020B0604020202020204" pitchFamily="34" charset="0"/>
                      </a:rPr>
                      <m:t>0885</m:t>
                    </m:r>
                    <m:r>
                      <a:rPr lang="es-MX" sz="1300" i="1" dirty="0">
                        <a:latin typeface="Cambria Math" panose="02040503050406030204" pitchFamily="18" charset="0"/>
                        <a:ea typeface="Cambria Math" panose="02040503050406030204" pitchFamily="18" charset="0"/>
                        <a:cs typeface="Arial" panose="020B0604020202020204" pitchFamily="34" charset="0"/>
                      </a:rPr>
                      <m:t>&gt;</m:t>
                    </m:r>
                    <m:r>
                      <a:rPr lang="es-MX" sz="1300" i="1" dirty="0">
                        <a:latin typeface="Cambria Math" panose="02040503050406030204" pitchFamily="18" charset="0"/>
                        <a:cs typeface="Arial" panose="020B0604020202020204" pitchFamily="34" charset="0"/>
                      </a:rPr>
                      <m:t> </m:t>
                    </m:r>
                    <m:r>
                      <a:rPr lang="es-MX" sz="1300" i="1" dirty="0" smtClean="0">
                        <a:latin typeface="Cambria Math" panose="02040503050406030204" pitchFamily="18" charset="0"/>
                        <a:cs typeface="Arial" panose="020B0604020202020204" pitchFamily="34" charset="0"/>
                      </a:rPr>
                      <m:t>0.05), </m:t>
                    </m:r>
                  </m:oMath>
                </a14:m>
                <a:r>
                  <a:rPr lang="es-MX" sz="1300" dirty="0">
                    <a:latin typeface="Arial" panose="020B0604020202020204" pitchFamily="34" charset="0"/>
                    <a:cs typeface="Arial" panose="020B0604020202020204" pitchFamily="34" charset="0"/>
                  </a:rPr>
                  <a:t> No se rechaza la hipótesis nula </a:t>
                </a:r>
                <a14:m>
                  <m:oMath xmlns:m="http://schemas.openxmlformats.org/officeDocument/2006/math">
                    <m:sSub>
                      <m:sSubPr>
                        <m:ctrlPr>
                          <a:rPr lang="es-MX" sz="1300" i="1" dirty="0" smtClean="0">
                            <a:latin typeface="Cambria Math" panose="02040503050406030204" pitchFamily="18" charset="0"/>
                            <a:cs typeface="Arial" panose="020B0604020202020204" pitchFamily="34" charset="0"/>
                          </a:rPr>
                        </m:ctrlPr>
                      </m:sSubPr>
                      <m:e>
                        <m:r>
                          <a:rPr lang="es-MX" sz="1300" b="0" i="1" dirty="0" smtClean="0">
                            <a:latin typeface="Cambria Math" panose="02040503050406030204" pitchFamily="18" charset="0"/>
                            <a:cs typeface="Arial" panose="020B0604020202020204" pitchFamily="34" charset="0"/>
                          </a:rPr>
                          <m:t>𝐻</m:t>
                        </m:r>
                      </m:e>
                      <m:sub>
                        <m:r>
                          <a:rPr lang="es-MX" sz="1300" b="0" i="1" dirty="0" smtClean="0">
                            <a:latin typeface="Cambria Math" panose="02040503050406030204" pitchFamily="18" charset="0"/>
                            <a:cs typeface="Arial" panose="020B0604020202020204" pitchFamily="34" charset="0"/>
                          </a:rPr>
                          <m:t>0</m:t>
                        </m:r>
                      </m:sub>
                    </m:sSub>
                    <m:r>
                      <a:rPr lang="es-MX" sz="1300" b="0" i="0" dirty="0" smtClean="0">
                        <a:latin typeface="Cambria Math" panose="02040503050406030204" pitchFamily="18" charset="0"/>
                        <a:cs typeface="Arial" panose="020B0604020202020204" pitchFamily="34" charset="0"/>
                      </a:rPr>
                      <m:t>. </m:t>
                    </m:r>
                  </m:oMath>
                </a14:m>
                <a:r>
                  <a:rPr lang="es-MX" sz="1300" dirty="0">
                    <a:latin typeface="Arial" panose="020B0604020202020204" pitchFamily="34" charset="0"/>
                    <a:cs typeface="Arial" panose="020B0604020202020204" pitchFamily="34" charset="0"/>
                  </a:rPr>
                  <a:t>Es como preguntarle al programa si los clientes realmente esperan un lapso de 10 minutos o mas</a:t>
                </a:r>
              </a:p>
              <a:p>
                <a:pPr marL="0" indent="0" algn="just">
                  <a:lnSpc>
                    <a:spcPct val="150000"/>
                  </a:lnSpc>
                  <a:buNone/>
                </a:pPr>
                <a:r>
                  <a:rPr lang="es-MX" sz="1300" dirty="0">
                    <a:latin typeface="Arial" panose="020B0604020202020204" pitchFamily="34" charset="0"/>
                    <a:cs typeface="Arial" panose="020B0604020202020204" pitchFamily="34" charset="0"/>
                  </a:rPr>
                  <a:t>En caso de que se disminuimos el tiempo a un aproximado de 5 minutos de espera acercándose al valor promedio del análisis, en el valor de referencia y la prueba paramétrica eventualmente comenzará a rechazar las mediciones al detectar semejanzas significativas. </a:t>
                </a:r>
              </a:p>
            </p:txBody>
          </p:sp>
        </mc:Choice>
        <mc:Fallback>
          <p:sp>
            <p:nvSpPr>
              <p:cNvPr id="15" name="Marcador de texto 19">
                <a:extLst>
                  <a:ext uri="{FF2B5EF4-FFF2-40B4-BE49-F238E27FC236}">
                    <a16:creationId xmlns:a16="http://schemas.microsoft.com/office/drawing/2014/main" id="{4E2CC535-4543-45FA-ABFB-EBC45633A1A3}"/>
                  </a:ext>
                </a:extLst>
              </p:cNvPr>
              <p:cNvSpPr txBox="1">
                <a:spLocks noRot="1" noChangeAspect="1" noMove="1" noResize="1" noEditPoints="1" noAdjustHandles="1" noChangeArrowheads="1" noChangeShapeType="1" noTextEdit="1"/>
              </p:cNvSpPr>
              <p:nvPr/>
            </p:nvSpPr>
            <p:spPr>
              <a:xfrm>
                <a:off x="239850" y="1484351"/>
                <a:ext cx="4896925" cy="5373649"/>
              </a:xfrm>
              <a:prstGeom prst="rect">
                <a:avLst/>
              </a:prstGeom>
              <a:blipFill>
                <a:blip r:embed="rId2"/>
                <a:stretch>
                  <a:fillRect l="-124" r="-124"/>
                </a:stretch>
              </a:blipFill>
            </p:spPr>
            <p:txBody>
              <a:bodyPr/>
              <a:lstStyle/>
              <a:p>
                <a:r>
                  <a:rPr lang="es-MX">
                    <a:noFill/>
                  </a:rPr>
                  <a:t> </a:t>
                </a:r>
              </a:p>
            </p:txBody>
          </p:sp>
        </mc:Fallback>
      </mc:AlternateContent>
      <p:sp>
        <p:nvSpPr>
          <p:cNvPr id="6" name="CuadroTexto 5">
            <a:extLst>
              <a:ext uri="{FF2B5EF4-FFF2-40B4-BE49-F238E27FC236}">
                <a16:creationId xmlns:a16="http://schemas.microsoft.com/office/drawing/2014/main" id="{B1149586-47B3-48D8-9234-E0135F0BDA61}"/>
              </a:ext>
            </a:extLst>
          </p:cNvPr>
          <p:cNvSpPr txBox="1"/>
          <p:nvPr/>
        </p:nvSpPr>
        <p:spPr>
          <a:xfrm>
            <a:off x="6659726" y="6041043"/>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19</a:t>
            </a:r>
          </a:p>
        </p:txBody>
      </p:sp>
      <p:pic>
        <p:nvPicPr>
          <p:cNvPr id="4" name="Imagen 3">
            <a:extLst>
              <a:ext uri="{FF2B5EF4-FFF2-40B4-BE49-F238E27FC236}">
                <a16:creationId xmlns:a16="http://schemas.microsoft.com/office/drawing/2014/main" id="{B92D4B59-263C-4531-B983-CD700A9BBE9C}"/>
              </a:ext>
            </a:extLst>
          </p:cNvPr>
          <p:cNvPicPr>
            <a:picLocks noChangeAspect="1"/>
          </p:cNvPicPr>
          <p:nvPr/>
        </p:nvPicPr>
        <p:blipFill>
          <a:blip r:embed="rId3"/>
          <a:stretch>
            <a:fillRect/>
          </a:stretch>
        </p:blipFill>
        <p:spPr>
          <a:xfrm>
            <a:off x="5499758" y="1645623"/>
            <a:ext cx="5473042" cy="4110890"/>
          </a:xfrm>
          <a:prstGeom prst="rect">
            <a:avLst/>
          </a:prstGeom>
        </p:spPr>
      </p:pic>
    </p:spTree>
    <p:extLst>
      <p:ext uri="{BB962C8B-B14F-4D97-AF65-F5344CB8AC3E}">
        <p14:creationId xmlns:p14="http://schemas.microsoft.com/office/powerpoint/2010/main" val="166005320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Resultado de la Prueba  no paramétrica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334188"/>
            <a:ext cx="4400150" cy="541056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400" dirty="0">
                <a:latin typeface="Arial" panose="020B0604020202020204" pitchFamily="34" charset="0"/>
                <a:cs typeface="Arial" panose="020B0604020202020204" pitchFamily="34" charset="0"/>
              </a:rPr>
              <a:t>En la imagen 20 se observa la validación mediante la prueba no paramétrica de Wilcoxon. Esta prueba sirve como una alternativa que no depende de los mismos supuestos de distribución que una prueba paramétrica, ya que se basa en los rangos y la posición de las observaciones para evaluar los datos desde otro enfoque.</a:t>
            </a:r>
          </a:p>
          <a:p>
            <a:pPr marL="0" indent="0" algn="just">
              <a:lnSpc>
                <a:spcPct val="150000"/>
              </a:lnSpc>
              <a:buNone/>
            </a:pPr>
            <a:r>
              <a:rPr lang="es-MX" sz="1400" dirty="0">
                <a:latin typeface="Arial" panose="020B0604020202020204" pitchFamily="34" charset="0"/>
                <a:cs typeface="Arial" panose="020B0604020202020204" pitchFamily="34" charset="0"/>
              </a:rPr>
              <a:t>El valor de referencia es 4, el cual representa el punto contra el que la prueba estadística compara los datos obtenidos de la simulación. Con un nivel de significancia de 0.05 (5 %), y dado que el p-valor resultante es menor (0.00 &lt; 0.05), se rechaza la hipótesis nula (H₀). Esto demuestra que la diferencia entre la mediana simulada y el valor de referencia es estadísticamente significativa.</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629399" y="6190750"/>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20</a:t>
            </a:r>
          </a:p>
        </p:txBody>
      </p:sp>
      <p:pic>
        <p:nvPicPr>
          <p:cNvPr id="3" name="Imagen 2">
            <a:extLst>
              <a:ext uri="{FF2B5EF4-FFF2-40B4-BE49-F238E27FC236}">
                <a16:creationId xmlns:a16="http://schemas.microsoft.com/office/drawing/2014/main" id="{79600E82-46A6-4260-BC9D-862C064DF2E0}"/>
              </a:ext>
            </a:extLst>
          </p:cNvPr>
          <p:cNvPicPr>
            <a:picLocks noChangeAspect="1"/>
          </p:cNvPicPr>
          <p:nvPr/>
        </p:nvPicPr>
        <p:blipFill>
          <a:blip r:embed="rId2"/>
          <a:stretch>
            <a:fillRect/>
          </a:stretch>
        </p:blipFill>
        <p:spPr>
          <a:xfrm>
            <a:off x="5186047" y="1595111"/>
            <a:ext cx="6009377" cy="4182035"/>
          </a:xfrm>
          <a:prstGeom prst="rect">
            <a:avLst/>
          </a:prstGeom>
        </p:spPr>
      </p:pic>
    </p:spTree>
    <p:extLst>
      <p:ext uri="{BB962C8B-B14F-4D97-AF65-F5344CB8AC3E}">
        <p14:creationId xmlns:p14="http://schemas.microsoft.com/office/powerpoint/2010/main" val="2268834674"/>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 Inicio de la simulación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334188"/>
            <a:ext cx="4400150" cy="5410561"/>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400" dirty="0">
                <a:latin typeface="Arial" panose="020B0604020202020204" pitchFamily="34" charset="0"/>
                <a:cs typeface="Arial" panose="020B0604020202020204" pitchFamily="34" charset="0"/>
              </a:rPr>
              <a:t>En la imagen 21 muestra la ejecución de una simulación inventario. En ella se observa el inicio de inventario con 130 unidades, el numero de pedidos que comúnmente se surten 20, un numero de demanda mínima por pedido 8 unidades y un numero de demanda máxima por pedido 12 unidades, limite de artículos para volver a resurtir 20 y la cantidad de pedidos que se deba realizar 1 . En la sección de resultados, se aprecia que el inventario ya no es suficiente después de despachar los pedidos, que faltaría  70 unidades para surtir el pedido actual, sugiere resurtir una vez el inventario se cuenta con 20 unidades o menos lo cual aun se considera un inventario suficiente. </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658332" y="5899121"/>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21</a:t>
            </a:r>
          </a:p>
        </p:txBody>
      </p:sp>
      <p:pic>
        <p:nvPicPr>
          <p:cNvPr id="4" name="Imagen 3">
            <a:extLst>
              <a:ext uri="{FF2B5EF4-FFF2-40B4-BE49-F238E27FC236}">
                <a16:creationId xmlns:a16="http://schemas.microsoft.com/office/drawing/2014/main" id="{95280006-22C0-4E89-9CD6-97637BBFDCEC}"/>
              </a:ext>
            </a:extLst>
          </p:cNvPr>
          <p:cNvPicPr>
            <a:picLocks noChangeAspect="1"/>
          </p:cNvPicPr>
          <p:nvPr/>
        </p:nvPicPr>
        <p:blipFill>
          <a:blip r:embed="rId2"/>
          <a:stretch>
            <a:fillRect/>
          </a:stretch>
        </p:blipFill>
        <p:spPr>
          <a:xfrm>
            <a:off x="5327972" y="1539687"/>
            <a:ext cx="5783395" cy="4359434"/>
          </a:xfrm>
          <a:prstGeom prst="rect">
            <a:avLst/>
          </a:prstGeom>
        </p:spPr>
      </p:pic>
    </p:spTree>
    <p:extLst>
      <p:ext uri="{BB962C8B-B14F-4D97-AF65-F5344CB8AC3E}">
        <p14:creationId xmlns:p14="http://schemas.microsoft.com/office/powerpoint/2010/main" val="1494488918"/>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 Inicio de la simulación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2510960"/>
            <a:ext cx="4400150" cy="2794059"/>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500" dirty="0">
                <a:latin typeface="Arial" panose="020B0604020202020204" pitchFamily="34" charset="0"/>
                <a:cs typeface="Arial" panose="020B0604020202020204" pitchFamily="34" charset="0"/>
              </a:rPr>
              <a:t>En la imagen 22 se observa los detalles de la simulación mediante una tabla de resultados que se genera aleatoriamente  La demanda de cada pedido, nos muestra cual es el estado actual de cada inventario después de realizar una compra.</a:t>
            </a:r>
          </a:p>
          <a:p>
            <a:pPr marL="0" indent="0" algn="just">
              <a:lnSpc>
                <a:spcPct val="150000"/>
              </a:lnSpc>
              <a:buNone/>
            </a:pPr>
            <a:r>
              <a:rPr lang="es-MX" sz="1500" dirty="0">
                <a:latin typeface="Arial" panose="020B0604020202020204" pitchFamily="34" charset="0"/>
                <a:cs typeface="Arial" panose="020B0604020202020204" pitchFamily="34" charset="0"/>
              </a:rPr>
              <a:t>La tabla nos permite ver los faltantes y si es necesario resurtir el producto o no .</a:t>
            </a:r>
          </a:p>
        </p:txBody>
      </p:sp>
      <p:sp>
        <p:nvSpPr>
          <p:cNvPr id="6" name="CuadroTexto 5">
            <a:extLst>
              <a:ext uri="{FF2B5EF4-FFF2-40B4-BE49-F238E27FC236}">
                <a16:creationId xmlns:a16="http://schemas.microsoft.com/office/drawing/2014/main" id="{B1149586-47B3-48D8-9234-E0135F0BDA61}"/>
              </a:ext>
            </a:extLst>
          </p:cNvPr>
          <p:cNvSpPr txBox="1"/>
          <p:nvPr/>
        </p:nvSpPr>
        <p:spPr>
          <a:xfrm>
            <a:off x="6629399" y="6190750"/>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22</a:t>
            </a:r>
          </a:p>
        </p:txBody>
      </p:sp>
      <p:pic>
        <p:nvPicPr>
          <p:cNvPr id="3" name="Imagen 2">
            <a:extLst>
              <a:ext uri="{FF2B5EF4-FFF2-40B4-BE49-F238E27FC236}">
                <a16:creationId xmlns:a16="http://schemas.microsoft.com/office/drawing/2014/main" id="{0A9F3BFA-9924-45D3-B61F-D9E9AE117E1D}"/>
              </a:ext>
            </a:extLst>
          </p:cNvPr>
          <p:cNvPicPr>
            <a:picLocks noChangeAspect="1"/>
          </p:cNvPicPr>
          <p:nvPr/>
        </p:nvPicPr>
        <p:blipFill>
          <a:blip r:embed="rId2"/>
          <a:stretch>
            <a:fillRect/>
          </a:stretch>
        </p:blipFill>
        <p:spPr>
          <a:xfrm>
            <a:off x="5029761" y="1716134"/>
            <a:ext cx="6030370" cy="4348490"/>
          </a:xfrm>
          <a:prstGeom prst="rect">
            <a:avLst/>
          </a:prstGeom>
        </p:spPr>
      </p:pic>
    </p:spTree>
    <p:extLst>
      <p:ext uri="{BB962C8B-B14F-4D97-AF65-F5344CB8AC3E}">
        <p14:creationId xmlns:p14="http://schemas.microsoft.com/office/powerpoint/2010/main" val="287415628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normAutofit/>
          </a:bodyPr>
          <a:lstStyle/>
          <a:p>
            <a:pPr algn="ctr"/>
            <a:r>
              <a:rPr lang="es-MX" sz="3000"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 Inicio de la simulación</a:t>
            </a:r>
          </a:p>
        </p:txBody>
      </p:sp>
      <mc:AlternateContent xmlns:mc="http://schemas.openxmlformats.org/markup-compatibility/2006">
        <mc:Choice xmlns:a14="http://schemas.microsoft.com/office/drawing/2010/main" Requires="a14">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413898" y="1666654"/>
                <a:ext cx="4722878" cy="4276946"/>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sz="1400" dirty="0">
                    <a:latin typeface="Arial" panose="020B0604020202020204" pitchFamily="34" charset="0"/>
                    <a:cs typeface="Arial" panose="020B0604020202020204" pitchFamily="34" charset="0"/>
                  </a:rPr>
                  <a:t>En la imagen 23 se observa la prueba paramétrica </a:t>
                </a:r>
                <a14:m>
                  <m:oMath xmlns:m="http://schemas.openxmlformats.org/officeDocument/2006/math">
                    <m:r>
                      <a:rPr lang="es-MX" sz="1400" i="1" dirty="0" smtClean="0">
                        <a:latin typeface="Cambria Math" panose="02040503050406030204" pitchFamily="18" charset="0"/>
                        <a:cs typeface="Arial" panose="020B0604020202020204" pitchFamily="34" charset="0"/>
                      </a:rPr>
                      <m:t>𝑡</m:t>
                    </m:r>
                  </m:oMath>
                </a14:m>
                <a:r>
                  <a:rPr lang="es-MX" sz="1400" dirty="0">
                    <a:latin typeface="Arial" panose="020B0604020202020204" pitchFamily="34" charset="0"/>
                    <a:cs typeface="Arial" panose="020B0604020202020204" pitchFamily="34" charset="0"/>
                  </a:rPr>
                  <a:t> de </a:t>
                </a:r>
                <a:r>
                  <a:rPr lang="es-MX" sz="1400" dirty="0" err="1">
                    <a:latin typeface="Arial" panose="020B0604020202020204" pitchFamily="34" charset="0"/>
                    <a:cs typeface="Arial" panose="020B0604020202020204" pitchFamily="34" charset="0"/>
                  </a:rPr>
                  <a:t>Student</a:t>
                </a:r>
                <a:r>
                  <a:rPr lang="es-MX" sz="1400" dirty="0">
                    <a:latin typeface="Arial" panose="020B0604020202020204" pitchFamily="34" charset="0"/>
                    <a:cs typeface="Arial" panose="020B0604020202020204" pitchFamily="34" charset="0"/>
                  </a:rPr>
                  <a:t>; trabaja principalmente con la media de los datos bajo ciertos supuestos estadísticos, comparando el comportamiento de la muestra simulada con un valor de referencia establecido. Para este análisis, se definió un valor de referencia de 30 como sugerencia del punto de reorden para resurtir inventario, y un nivel de significancia de 0.05. Al ejecutar la validación, el programa arroja un p-valor de 0.4961, lo cuál la conclusión indica que ese punto de reorden es el adecuado para poder resurtir el pedido y no llegar a un punto critico, esto simplemente es una simulación que ayuda a entender el sistema</a:t>
                </a:r>
              </a:p>
            </p:txBody>
          </p:sp>
        </mc:Choice>
        <mc:Fallback>
          <p:sp>
            <p:nvSpPr>
              <p:cNvPr id="15" name="Marcador de texto 19">
                <a:extLst>
                  <a:ext uri="{FF2B5EF4-FFF2-40B4-BE49-F238E27FC236}">
                    <a16:creationId xmlns:a16="http://schemas.microsoft.com/office/drawing/2014/main" id="{4E2CC535-4543-45FA-ABFB-EBC45633A1A3}"/>
                  </a:ext>
                </a:extLst>
              </p:cNvPr>
              <p:cNvSpPr txBox="1">
                <a:spLocks noRot="1" noChangeAspect="1" noMove="1" noResize="1" noEditPoints="1" noAdjustHandles="1" noChangeArrowheads="1" noChangeShapeType="1" noTextEdit="1"/>
              </p:cNvSpPr>
              <p:nvPr/>
            </p:nvSpPr>
            <p:spPr>
              <a:xfrm>
                <a:off x="413898" y="1666654"/>
                <a:ext cx="4722878" cy="4276946"/>
              </a:xfrm>
              <a:prstGeom prst="rect">
                <a:avLst/>
              </a:prstGeom>
              <a:blipFill>
                <a:blip r:embed="rId2"/>
                <a:stretch>
                  <a:fillRect l="-387" r="-387"/>
                </a:stretch>
              </a:blipFill>
            </p:spPr>
            <p:txBody>
              <a:bodyPr/>
              <a:lstStyle/>
              <a:p>
                <a:r>
                  <a:rPr lang="es-MX">
                    <a:noFill/>
                  </a:rPr>
                  <a:t> </a:t>
                </a:r>
              </a:p>
            </p:txBody>
          </p:sp>
        </mc:Fallback>
      </mc:AlternateContent>
      <p:sp>
        <p:nvSpPr>
          <p:cNvPr id="6" name="CuadroTexto 5">
            <a:extLst>
              <a:ext uri="{FF2B5EF4-FFF2-40B4-BE49-F238E27FC236}">
                <a16:creationId xmlns:a16="http://schemas.microsoft.com/office/drawing/2014/main" id="{B1149586-47B3-48D8-9234-E0135F0BDA61}"/>
              </a:ext>
            </a:extLst>
          </p:cNvPr>
          <p:cNvSpPr txBox="1"/>
          <p:nvPr/>
        </p:nvSpPr>
        <p:spPr>
          <a:xfrm>
            <a:off x="6629399" y="6190750"/>
            <a:ext cx="3122674"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Imagen 23</a:t>
            </a:r>
          </a:p>
        </p:txBody>
      </p:sp>
      <p:pic>
        <p:nvPicPr>
          <p:cNvPr id="4" name="Imagen 3">
            <a:extLst>
              <a:ext uri="{FF2B5EF4-FFF2-40B4-BE49-F238E27FC236}">
                <a16:creationId xmlns:a16="http://schemas.microsoft.com/office/drawing/2014/main" id="{A5BCD0FD-B856-4392-9A23-4C2BA8316BE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72953" y="1666654"/>
            <a:ext cx="5661212" cy="4276946"/>
          </a:xfrm>
          <a:prstGeom prst="rect">
            <a:avLst/>
          </a:prstGeom>
        </p:spPr>
      </p:pic>
    </p:spTree>
    <p:extLst>
      <p:ext uri="{BB962C8B-B14F-4D97-AF65-F5344CB8AC3E}">
        <p14:creationId xmlns:p14="http://schemas.microsoft.com/office/powerpoint/2010/main" val="65455936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accent2">
              <a:lumMod val="60000"/>
              <a:lumOff val="40000"/>
            </a:schemeClr>
          </a:solidFill>
        </p:spPr>
        <p:txBody>
          <a:bodyPr anchor="ctr"/>
          <a:lstStyle/>
          <a:p>
            <a:pPr algn="ctr"/>
            <a:r>
              <a:rPr lang="es-MX" spc="0" dirty="0">
                <a:ln w="0">
                  <a:solidFill>
                    <a:schemeClr val="tx1"/>
                  </a:solidFill>
                </a:ln>
                <a:effectLst>
                  <a:outerShdw blurRad="38100" dist="19050" dir="2700000" algn="tl" rotWithShape="0">
                    <a:schemeClr val="dk1">
                      <a:alpha val="40000"/>
                    </a:schemeClr>
                  </a:outerShdw>
                </a:effectLst>
                <a:latin typeface="Bahnschrift" panose="020B0502040204020203" pitchFamily="34" charset="0"/>
              </a:rPr>
              <a:t>Conclusión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45233" y="1680882"/>
            <a:ext cx="9778163" cy="4719917"/>
          </a:xfrm>
          <a:prstGeom prst="rect">
            <a:avLst/>
          </a:prstGeom>
        </p:spPr>
        <p:txBody>
          <a:bodyPr vert="horz" lIns="91440" tIns="45720" rIns="91440" bIns="45720" rtlCol="0">
            <a:normAutofit fontScale="70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dirty="0">
                <a:latin typeface="Arial" panose="020B0604020202020204" pitchFamily="34" charset="0"/>
                <a:cs typeface="Arial" panose="020B0604020202020204" pitchFamily="34" charset="0"/>
              </a:rPr>
              <a:t>La ejecución del banco de ejercicios permitió comprobar el funcionamiento de los modelos de Línea de Espera e Inventario implementados en Java, Python y R. Mediante la modificación de los parámetros de entrada fue posible generar diferentes escenarios y observar cómo estas variaciones afectan directamente los resultados de cada simulación.</a:t>
            </a:r>
          </a:p>
          <a:p>
            <a:pPr marL="0" indent="0" algn="just">
              <a:lnSpc>
                <a:spcPct val="150000"/>
              </a:lnSpc>
              <a:buNone/>
            </a:pPr>
            <a:r>
              <a:rPr lang="es-MX" dirty="0">
                <a:latin typeface="Arial" panose="020B0604020202020204" pitchFamily="34" charset="0"/>
                <a:cs typeface="Arial" panose="020B0604020202020204" pitchFamily="34" charset="0"/>
              </a:rPr>
              <a:t>En Línea de Espera se pudo analizar la relación existente entre la llegada de clientes, los tiempos de atención y la disponibilidad de servidores, identificando su efecto sobre los tiempos de espera. En Inventario fue posible observar el comportamiento de las existencias frente a diferentes niveles de demanda, así como detectar situaciones críticas y determinar cuándo es necesario realizar un reabastecimiento.</a:t>
            </a:r>
          </a:p>
          <a:p>
            <a:pPr marL="0" indent="0" algn="just">
              <a:lnSpc>
                <a:spcPct val="150000"/>
              </a:lnSpc>
              <a:buNone/>
            </a:pPr>
            <a:r>
              <a:rPr lang="es-MX" dirty="0">
                <a:latin typeface="Arial" panose="020B0604020202020204" pitchFamily="34" charset="0"/>
                <a:cs typeface="Arial" panose="020B0604020202020204" pitchFamily="34" charset="0"/>
              </a:rPr>
              <a:t>Las pruebas estadísticas complementaron la ejecución de los ejercicios al proporcionar un mecanismo de validación de los datos generados. Finalmente, la realización de los mismos modelos en tres lenguajes permitió comprobar que, aunque Java, Python y R utilizan diferentes herramientas y estructuras de implementación, pueden representar y analizar los mismos sistemas de simulación de manera consistente.</a:t>
            </a:r>
          </a:p>
        </p:txBody>
      </p:sp>
    </p:spTree>
    <p:extLst>
      <p:ext uri="{BB962C8B-B14F-4D97-AF65-F5344CB8AC3E}">
        <p14:creationId xmlns:p14="http://schemas.microsoft.com/office/powerpoint/2010/main" val="1719650261"/>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75C164C0-7EE6-40FB-94B4-97DB2BFBFA92}"/>
              </a:ext>
            </a:extLst>
          </p:cNvPr>
          <p:cNvSpPr txBox="1">
            <a:spLocks/>
          </p:cNvSpPr>
          <p:nvPr/>
        </p:nvSpPr>
        <p:spPr>
          <a:xfrm>
            <a:off x="594882" y="449965"/>
            <a:ext cx="10198788" cy="1031345"/>
          </a:xfrm>
          <a:prstGeom prst="rect">
            <a:avLst/>
          </a:prstGeom>
          <a:solidFill>
            <a:schemeClr val="accent2"/>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ysClr val="windowText" lastClr="000000"/>
                  </a:solidFill>
                </a:ln>
                <a:solidFill>
                  <a:sysClr val="windowText" lastClr="000000"/>
                </a:solidFill>
                <a:effectLst>
                  <a:outerShdw blurRad="38100" dist="19050" dir="2700000" algn="tl" rotWithShape="0">
                    <a:schemeClr val="dk1">
                      <a:alpha val="40000"/>
                    </a:schemeClr>
                  </a:outerShdw>
                </a:effectLst>
                <a:latin typeface="Bahnschrift" panose="020B0502040204020203" pitchFamily="34" charset="0"/>
              </a:rPr>
              <a:t>Referencias</a:t>
            </a:r>
          </a:p>
        </p:txBody>
      </p:sp>
      <p:pic>
        <p:nvPicPr>
          <p:cNvPr id="8" name="Marcador de contenido 13">
            <a:extLst>
              <a:ext uri="{FF2B5EF4-FFF2-40B4-BE49-F238E27FC236}">
                <a16:creationId xmlns:a16="http://schemas.microsoft.com/office/drawing/2014/main" id="{A36164FC-9745-4E7F-B3FA-AACCBFAD3FBB}"/>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1686185" y="2527489"/>
            <a:ext cx="8819629" cy="3120276"/>
          </a:xfrm>
          <a:prstGeom prst="rect">
            <a:avLst/>
          </a:prstGeom>
        </p:spPr>
      </p:pic>
    </p:spTree>
    <p:extLst>
      <p:ext uri="{BB962C8B-B14F-4D97-AF65-F5344CB8AC3E}">
        <p14:creationId xmlns:p14="http://schemas.microsoft.com/office/powerpoint/2010/main" val="5161073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A24F0725-B4D9-4AA4-8DC8-3BC4B7C670B0}"/>
              </a:ext>
            </a:extLst>
          </p:cNvPr>
          <p:cNvSpPr>
            <a:spLocks noGrp="1"/>
          </p:cNvSpPr>
          <p:nvPr>
            <p:ph type="title"/>
          </p:nvPr>
        </p:nvSpPr>
        <p:spPr>
          <a:xfrm>
            <a:off x="806824" y="365760"/>
            <a:ext cx="9771170" cy="1325562"/>
          </a:xfrm>
          <a:solidFill>
            <a:schemeClr val="accent2"/>
          </a:solidFill>
          <a:ln>
            <a:solidFill>
              <a:schemeClr val="accent1"/>
            </a:solidFill>
          </a:ln>
        </p:spPr>
        <p:txBody>
          <a:bodyPr>
            <a:normAutofit fontScale="90000"/>
          </a:bodyPr>
          <a:lstStyle/>
          <a:p>
            <a:pPr algn="ctr"/>
            <a:r>
              <a:rPr lang="es-MX" b="1" dirty="0">
                <a:latin typeface="Arial" panose="020B0604020202020204" pitchFamily="34" charset="0"/>
                <a:cs typeface="Arial" panose="020B0604020202020204" pitchFamily="34" charset="0"/>
              </a:rPr>
              <a:t>Anexo enlace de </a:t>
            </a:r>
            <a:r>
              <a:rPr lang="es-MX" b="1" dirty="0" err="1">
                <a:latin typeface="Arial" panose="020B0604020202020204" pitchFamily="34" charset="0"/>
                <a:cs typeface="Arial" panose="020B0604020202020204" pitchFamily="34" charset="0"/>
              </a:rPr>
              <a:t>github</a:t>
            </a:r>
            <a:r>
              <a:rPr lang="es-MX" b="1" dirty="0">
                <a:latin typeface="Arial" panose="020B0604020202020204" pitchFamily="34" charset="0"/>
                <a:cs typeface="Arial" panose="020B0604020202020204" pitchFamily="34" charset="0"/>
              </a:rPr>
              <a:t> para acceder a mis trabajos completos del </a:t>
            </a:r>
            <a:r>
              <a:rPr lang="es-MX" b="1">
                <a:latin typeface="Arial" panose="020B0604020202020204" pitchFamily="34" charset="0"/>
                <a:cs typeface="Arial" panose="020B0604020202020204" pitchFamily="34" charset="0"/>
              </a:rPr>
              <a:t>tema 3</a:t>
            </a:r>
            <a:endParaRPr lang="es-MX" b="1" dirty="0">
              <a:latin typeface="Arial" panose="020B0604020202020204" pitchFamily="34" charset="0"/>
              <a:cs typeface="Arial" panose="020B0604020202020204" pitchFamily="34" charset="0"/>
            </a:endParaRPr>
          </a:p>
        </p:txBody>
      </p:sp>
      <p:sp>
        <p:nvSpPr>
          <p:cNvPr id="6" name="Marcador de contenido 7">
            <a:extLst>
              <a:ext uri="{FF2B5EF4-FFF2-40B4-BE49-F238E27FC236}">
                <a16:creationId xmlns:a16="http://schemas.microsoft.com/office/drawing/2014/main" id="{7A978E4E-1DF2-446D-B3D3-71F9284671A6}"/>
              </a:ext>
            </a:extLst>
          </p:cNvPr>
          <p:cNvSpPr txBox="1">
            <a:spLocks/>
          </p:cNvSpPr>
          <p:nvPr/>
        </p:nvSpPr>
        <p:spPr>
          <a:xfrm>
            <a:off x="1798320" y="3154362"/>
            <a:ext cx="8595360" cy="779929"/>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s-MX" dirty="0" err="1">
                <a:solidFill>
                  <a:schemeClr val="accent6">
                    <a:lumMod val="50000"/>
                  </a:schemeClr>
                </a:solidFill>
              </a:rPr>
              <a:t>aa</a:t>
            </a:r>
            <a:endParaRPr lang="es-MX" dirty="0">
              <a:solidFill>
                <a:schemeClr val="accent6">
                  <a:lumMod val="50000"/>
                </a:schemeClr>
              </a:solidFill>
            </a:endParaRPr>
          </a:p>
        </p:txBody>
      </p:sp>
    </p:spTree>
    <p:extLst>
      <p:ext uri="{BB962C8B-B14F-4D97-AF65-F5344CB8AC3E}">
        <p14:creationId xmlns:p14="http://schemas.microsoft.com/office/powerpoint/2010/main" val="1071991534"/>
      </p:ext>
    </p:extLst>
  </p:cSld>
  <p:clrMapOvr>
    <a:masterClrMapping/>
  </p:clrMapOvr>
</p:sld>
</file>

<file path=ppt/theme/theme1.xml><?xml version="1.0" encoding="utf-8"?>
<a:theme xmlns:a="http://schemas.openxmlformats.org/drawingml/2006/main" name="View">
  <a:themeElements>
    <a:clrScheme name="Verde">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
  <TotalTime>4690</TotalTime>
  <Words>3728</Words>
  <Application>Microsoft Office PowerPoint</Application>
  <PresentationFormat>Panorámica</PresentationFormat>
  <Paragraphs>152</Paragraphs>
  <Slides>45</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45</vt:i4>
      </vt:variant>
    </vt:vector>
  </HeadingPairs>
  <TitlesOfParts>
    <vt:vector size="53" baseType="lpstr">
      <vt:lpstr>Arial</vt:lpstr>
      <vt:lpstr>Arial Rounded MT Bold</vt:lpstr>
      <vt:lpstr>Bahnschrift</vt:lpstr>
      <vt:lpstr>Cambria Math</vt:lpstr>
      <vt:lpstr>Century Schoolbook</vt:lpstr>
      <vt:lpstr>Wingdings</vt:lpstr>
      <vt:lpstr>Wingdings 2</vt:lpstr>
      <vt:lpstr>View</vt:lpstr>
      <vt:lpstr>Presentación de PowerPoint</vt:lpstr>
      <vt:lpstr>Introducción</vt:lpstr>
      <vt:lpstr>Justificación</vt:lpstr>
      <vt:lpstr>Objetivo general</vt:lpstr>
      <vt:lpstr>Objetivo especifico</vt:lpstr>
      <vt:lpstr>¿Qué se resuelve?</vt:lpstr>
      <vt:lpstr>Simulador de Lista de Espera e Inventario desarrollado en Java</vt:lpstr>
      <vt:lpstr>Simulador de Lista de Espera e Inventario desarrollado en Java</vt:lpstr>
      <vt:lpstr>Ventana principal en JavaFX</vt:lpstr>
      <vt:lpstr>Ventana Principal en JavaFX</vt:lpstr>
      <vt:lpstr>Línea de Espera en JavaFX</vt:lpstr>
      <vt:lpstr>Línea de Espera, Iniciando simulación</vt:lpstr>
      <vt:lpstr>Línea de Espera. Resultados de la simulación</vt:lpstr>
      <vt:lpstr>Línea de Espera. Resultado de la Prueba paramétrica</vt:lpstr>
      <vt:lpstr>Línea de Espera. Resultado de la Prueba  no paramétrica</vt:lpstr>
      <vt:lpstr>Inventario. Inicio de la simulación</vt:lpstr>
      <vt:lpstr>Inventario. Inicio de la simulación</vt:lpstr>
      <vt:lpstr>Inventario. Inicio de la simulación</vt:lpstr>
      <vt:lpstr>Simulador de Lista de Espera e Inventario desarrollado en Python</vt:lpstr>
      <vt:lpstr>Simulador de Lista de Espera e Inventario desarrollado en Python</vt:lpstr>
      <vt:lpstr>Ventana principal en Python</vt:lpstr>
      <vt:lpstr>Ventana Principal en Python</vt:lpstr>
      <vt:lpstr>Línea de Espera en Python</vt:lpstr>
      <vt:lpstr>Línea de Espera, Iniciando simulación</vt:lpstr>
      <vt:lpstr>Línea de Espera. Resultados de la simulación</vt:lpstr>
      <vt:lpstr>Línea de Espera. Resultado de la Prueba paramétrica</vt:lpstr>
      <vt:lpstr>Línea de Espera. Resultado de la Prueba  no paramétrica</vt:lpstr>
      <vt:lpstr>Inventario. Inicio de la simulación</vt:lpstr>
      <vt:lpstr>Inventario. Inicio de la simulación</vt:lpstr>
      <vt:lpstr>Inventario. Inicio de la simulación</vt:lpstr>
      <vt:lpstr>Simulador de Lista de Espera e Inventario desarrollado en R</vt:lpstr>
      <vt:lpstr>Simulador de Lista de Espera e Inventario desarrollado en R</vt:lpstr>
      <vt:lpstr>Ventana principal en R</vt:lpstr>
      <vt:lpstr>Ventana Principal en R</vt:lpstr>
      <vt:lpstr>Línea de Espera en R</vt:lpstr>
      <vt:lpstr>Línea de Espera, Iniciando simulación</vt:lpstr>
      <vt:lpstr>Línea de Espera. Resultados de la simulación</vt:lpstr>
      <vt:lpstr>Línea de Espera. Resultado de la Prueba paramétrica</vt:lpstr>
      <vt:lpstr>Línea de Espera. Resultado de la Prueba  no paramétrica</vt:lpstr>
      <vt:lpstr>Inventario. Inicio de la simulación</vt:lpstr>
      <vt:lpstr>Inventario. Inicio de la simulación</vt:lpstr>
      <vt:lpstr>Inventario. Inicio de la simulación</vt:lpstr>
      <vt:lpstr>Conclusión</vt:lpstr>
      <vt:lpstr>Presentación de PowerPoint</vt:lpstr>
      <vt:lpstr>Anexo enlace de github para acceder a mis trabajos completos del tema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JOSEFINA NIETO HERNÁNDEZ</dc:creator>
  <cp:lastModifiedBy>JOSEFINA NIETO HERNÁNDEZ</cp:lastModifiedBy>
  <cp:revision>214</cp:revision>
  <dcterms:created xsi:type="dcterms:W3CDTF">2025-10-23T03:04:12Z</dcterms:created>
  <dcterms:modified xsi:type="dcterms:W3CDTF">2026-10-01T01:44:43Z</dcterms:modified>
</cp:coreProperties>
</file>