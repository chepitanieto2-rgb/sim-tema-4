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5" r:id="rId3"/>
    <p:sldId id="406" r:id="rId4"/>
    <p:sldId id="408" r:id="rId5"/>
    <p:sldId id="273" r:id="rId6"/>
    <p:sldId id="343" r:id="rId7"/>
    <p:sldId id="335" r:id="rId8"/>
    <p:sldId id="336" r:id="rId9"/>
    <p:sldId id="435" r:id="rId10"/>
    <p:sldId id="436" r:id="rId11"/>
    <p:sldId id="266" r:id="rId12"/>
    <p:sldId id="437" r:id="rId13"/>
    <p:sldId id="438" r:id="rId14"/>
    <p:sldId id="439" r:id="rId15"/>
    <p:sldId id="484" r:id="rId16"/>
    <p:sldId id="440" r:id="rId17"/>
    <p:sldId id="341" r:id="rId18"/>
    <p:sldId id="411" r:id="rId19"/>
    <p:sldId id="485" r:id="rId20"/>
    <p:sldId id="342" r:id="rId21"/>
    <p:sldId id="412" r:id="rId22"/>
    <p:sldId id="428" r:id="rId23"/>
    <p:sldId id="274" r:id="rId24"/>
    <p:sldId id="410" r:id="rId25"/>
    <p:sldId id="483" r:id="rId26"/>
    <p:sldId id="334" r:id="rId27"/>
    <p:sldId id="340" r:id="rId28"/>
    <p:sldId id="280" r:id="rId29"/>
    <p:sldId id="345" r:id="rId30"/>
    <p:sldId id="431" r:id="rId31"/>
    <p:sldId id="433" r:id="rId32"/>
    <p:sldId id="441" r:id="rId33"/>
    <p:sldId id="434" r:id="rId34"/>
    <p:sldId id="486" r:id="rId35"/>
    <p:sldId id="432" r:id="rId36"/>
    <p:sldId id="348" r:id="rId37"/>
    <p:sldId id="487" r:id="rId38"/>
    <p:sldId id="453" r:id="rId39"/>
    <p:sldId id="449" r:id="rId40"/>
    <p:sldId id="488" r:id="rId41"/>
    <p:sldId id="445" r:id="rId42"/>
    <p:sldId id="349" r:id="rId43"/>
    <p:sldId id="350" r:id="rId44"/>
    <p:sldId id="489" r:id="rId45"/>
    <p:sldId id="351" r:id="rId46"/>
    <p:sldId id="490" r:id="rId47"/>
    <p:sldId id="353" r:id="rId48"/>
    <p:sldId id="354" r:id="rId49"/>
    <p:sldId id="491" r:id="rId50"/>
    <p:sldId id="480" r:id="rId51"/>
    <p:sldId id="478" r:id="rId52"/>
    <p:sldId id="479" r:id="rId53"/>
    <p:sldId id="494" r:id="rId54"/>
    <p:sldId id="462" r:id="rId55"/>
    <p:sldId id="458" r:id="rId56"/>
    <p:sldId id="459" r:id="rId57"/>
    <p:sldId id="493" r:id="rId58"/>
    <p:sldId id="461" r:id="rId59"/>
    <p:sldId id="492" r:id="rId60"/>
    <p:sldId id="463" r:id="rId61"/>
    <p:sldId id="464" r:id="rId62"/>
    <p:sldId id="495" r:id="rId63"/>
    <p:sldId id="482" r:id="rId64"/>
    <p:sldId id="409" r:id="rId65"/>
    <p:sldId id="405" r:id="rId66"/>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9142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62" autoAdjust="0"/>
    <p:restoredTop sz="94660"/>
  </p:normalViewPr>
  <p:slideViewPr>
    <p:cSldViewPr snapToGrid="0">
      <p:cViewPr varScale="1">
        <p:scale>
          <a:sx n="71" d="100"/>
          <a:sy n="71" d="100"/>
        </p:scale>
        <p:origin x="570" y="7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448529D4-5FC4-4118-980B-6BA2E9F9D5BC}" type="datetimeFigureOut">
              <a:rPr lang="es-MX" smtClean="0"/>
              <a:t>30/09/2026</a:t>
            </a:fld>
            <a:endParaRPr lang="es-MX"/>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s-MX"/>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2FA0C201-36CB-49AF-8CE6-AD02CF2FB89E}" type="slidenum">
              <a:rPr lang="es-MX" smtClean="0"/>
              <a:t>‹Nº›</a:t>
            </a:fld>
            <a:endParaRPr lang="es-MX"/>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61230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8529D4-5FC4-4118-980B-6BA2E9F9D5BC}" type="datetimeFigureOut">
              <a:rPr lang="es-MX" smtClean="0"/>
              <a:t>30/09/2026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553346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448529D4-5FC4-4118-980B-6BA2E9F9D5BC}" type="datetimeFigureOut">
              <a:rPr lang="es-MX" smtClean="0"/>
              <a:t>30/09/2026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FA0C201-36CB-49AF-8CE6-AD02CF2FB89E}" type="slidenum">
              <a:rPr lang="es-MX" smtClean="0"/>
              <a:t>‹Nº›</a:t>
            </a:fld>
            <a:endParaRPr lang="es-MX"/>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1606839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48529D4-5FC4-4118-980B-6BA2E9F9D5BC}" type="datetimeFigureOut">
              <a:rPr lang="es-MX" smtClean="0"/>
              <a:t>30/09/2026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949608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s-ES"/>
              <a:t>Editar el estilo de texto del patrón</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48529D4-5FC4-4118-980B-6BA2E9F9D5BC}" type="datetimeFigureOut">
              <a:rPr lang="es-MX" smtClean="0"/>
              <a:t>30/09/2026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1788196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48529D4-5FC4-4118-980B-6BA2E9F9D5BC}" type="datetimeFigureOut">
              <a:rPr lang="es-MX" smtClean="0"/>
              <a:t>30/09/2026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3304111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8529D4-5FC4-4118-980B-6BA2E9F9D5BC}" type="datetimeFigureOut">
              <a:rPr lang="es-MX" smtClean="0"/>
              <a:t>30/09/2026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2207427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448529D4-5FC4-4118-980B-6BA2E9F9D5BC}" type="datetimeFigureOut">
              <a:rPr lang="es-MX" smtClean="0"/>
              <a:t>30/09/2026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2568316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448529D4-5FC4-4118-980B-6BA2E9F9D5BC}" type="datetimeFigureOut">
              <a:rPr lang="es-MX" smtClean="0"/>
              <a:t>30/09/2026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3264799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8529D4-5FC4-4118-980B-6BA2E9F9D5BC}" type="datetimeFigureOut">
              <a:rPr lang="es-MX" smtClean="0"/>
              <a:t>30/09/2026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3273739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48529D4-5FC4-4118-980B-6BA2E9F9D5BC}" type="datetimeFigureOut">
              <a:rPr lang="es-MX" smtClean="0"/>
              <a:t>30/09/2026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FA0C201-36CB-49AF-8CE6-AD02CF2FB89E}" type="slidenum">
              <a:rPr lang="es-MX" smtClean="0"/>
              <a:t>‹Nº›</a:t>
            </a:fld>
            <a:endParaRPr lang="es-MX"/>
          </a:p>
        </p:txBody>
      </p:sp>
    </p:spTree>
    <p:extLst>
      <p:ext uri="{BB962C8B-B14F-4D97-AF65-F5344CB8AC3E}">
        <p14:creationId xmlns:p14="http://schemas.microsoft.com/office/powerpoint/2010/main" val="3893702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448529D4-5FC4-4118-980B-6BA2E9F9D5BC}" type="datetimeFigureOut">
              <a:rPr lang="es-MX" smtClean="0"/>
              <a:t>30/09/2026</a:t>
            </a:fld>
            <a:endParaRPr lang="es-MX"/>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s-MX"/>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2FA0C201-36CB-49AF-8CE6-AD02CF2FB89E}" type="slidenum">
              <a:rPr lang="es-MX" smtClean="0"/>
              <a:t>‹Nº›</a:t>
            </a:fld>
            <a:endParaRPr lang="es-MX"/>
          </a:p>
        </p:txBody>
      </p:sp>
    </p:spTree>
    <p:extLst>
      <p:ext uri="{BB962C8B-B14F-4D97-AF65-F5344CB8AC3E}">
        <p14:creationId xmlns:p14="http://schemas.microsoft.com/office/powerpoint/2010/main" val="25039867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hyperlink" Target="https://github.com/chepitanieto2-rgb/Sim-Tema-4.gi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2000172" y="1280903"/>
            <a:ext cx="8098179" cy="4401205"/>
          </a:xfrm>
          <a:prstGeom prst="rect">
            <a:avLst/>
          </a:prstGeom>
          <a:noFill/>
        </p:spPr>
        <p:txBody>
          <a:bodyPr wrap="square" rtlCol="0">
            <a:spAutoFit/>
          </a:bodyPr>
          <a:lstStyle/>
          <a:p>
            <a:pPr algn="ctr"/>
            <a:r>
              <a:rPr lang="es-MX" b="1" dirty="0">
                <a:solidFill>
                  <a:schemeClr val="tx1">
                    <a:lumMod val="85000"/>
                    <a:lumOff val="15000"/>
                  </a:schemeClr>
                </a:solidFill>
              </a:rPr>
              <a:t>“INGENIERÍA EN SISTEMAS COMPUTACIONALES”</a:t>
            </a:r>
          </a:p>
          <a:p>
            <a:pPr algn="ctr"/>
            <a:endParaRPr lang="es-MX" b="1" dirty="0"/>
          </a:p>
          <a:p>
            <a:pPr algn="ctr"/>
            <a:r>
              <a:rPr lang="es-MX" sz="2000" b="1" dirty="0">
                <a:solidFill>
                  <a:srgbClr val="0070C0"/>
                </a:solidFill>
              </a:rPr>
              <a:t>Materia:</a:t>
            </a:r>
          </a:p>
          <a:p>
            <a:pPr algn="ctr"/>
            <a:r>
              <a:rPr lang="es-MX" b="1" dirty="0"/>
              <a:t>Simulación.</a:t>
            </a:r>
          </a:p>
          <a:p>
            <a:pPr algn="ctr"/>
            <a:r>
              <a:rPr lang="es-MX" b="1" dirty="0"/>
              <a:t> </a:t>
            </a:r>
          </a:p>
          <a:p>
            <a:pPr algn="ctr"/>
            <a:r>
              <a:rPr lang="es-MX" sz="2000" b="1" dirty="0">
                <a:solidFill>
                  <a:srgbClr val="0070C0"/>
                </a:solidFill>
              </a:rPr>
              <a:t>Actividad:</a:t>
            </a:r>
          </a:p>
          <a:p>
            <a:pPr algn="ctr"/>
            <a:r>
              <a:rPr lang="es-ES" b="1"/>
              <a:t>“4.2 </a:t>
            </a:r>
            <a:r>
              <a:rPr lang="es-ES" b="1" dirty="0"/>
              <a:t>Reporte de practica”.</a:t>
            </a:r>
            <a:endParaRPr lang="es-MX" b="1" dirty="0"/>
          </a:p>
          <a:p>
            <a:pPr algn="ctr"/>
            <a:r>
              <a:rPr lang="es-MX" b="1" dirty="0"/>
              <a:t> </a:t>
            </a:r>
          </a:p>
          <a:p>
            <a:pPr algn="ctr"/>
            <a:r>
              <a:rPr lang="es-MX" sz="2000" b="1" dirty="0">
                <a:solidFill>
                  <a:srgbClr val="0070C0"/>
                </a:solidFill>
              </a:rPr>
              <a:t>Docente:</a:t>
            </a:r>
          </a:p>
          <a:p>
            <a:pPr algn="ctr"/>
            <a:r>
              <a:rPr lang="es-MX" b="1" dirty="0"/>
              <a:t>Ing. Francisco Javier Mingo Velázquez</a:t>
            </a:r>
          </a:p>
          <a:p>
            <a:pPr algn="ctr"/>
            <a:endParaRPr lang="es-MX" b="1" dirty="0"/>
          </a:p>
          <a:p>
            <a:pPr algn="ctr"/>
            <a:r>
              <a:rPr lang="es-MX" sz="2000" b="1" dirty="0">
                <a:solidFill>
                  <a:srgbClr val="0070C0"/>
                </a:solidFill>
              </a:rPr>
              <a:t>Alumno:</a:t>
            </a:r>
          </a:p>
          <a:p>
            <a:pPr algn="ctr"/>
            <a:endParaRPr lang="es-MX" sz="2000" b="1" dirty="0">
              <a:solidFill>
                <a:srgbClr val="0070C0"/>
              </a:solidFill>
            </a:endParaRPr>
          </a:p>
          <a:p>
            <a:pPr algn="ctr"/>
            <a:r>
              <a:rPr lang="es-MX" b="1" dirty="0"/>
              <a:t>Josefina Nieto Hernández.</a:t>
            </a:r>
            <a:endParaRPr lang="es-MX" dirty="0"/>
          </a:p>
          <a:p>
            <a:endParaRPr lang="es-MX" dirty="0"/>
          </a:p>
        </p:txBody>
      </p:sp>
      <p:pic>
        <p:nvPicPr>
          <p:cNvPr id="5" name="Imagen 4" descr="Logotipo&#10;&#10;Descripción generada automáticamente"/>
          <p:cNvPicPr/>
          <p:nvPr/>
        </p:nvPicPr>
        <p:blipFill>
          <a:blip r:embed="rId2" cstate="email">
            <a:extLst>
              <a:ext uri="{28A0092B-C50C-407E-A947-70E740481C1C}">
                <a14:useLocalDpi xmlns:a14="http://schemas.microsoft.com/office/drawing/2010/main"/>
              </a:ext>
            </a:extLst>
          </a:blip>
          <a:srcRect/>
          <a:stretch>
            <a:fillRect/>
          </a:stretch>
        </p:blipFill>
        <p:spPr bwMode="auto">
          <a:xfrm>
            <a:off x="9533392" y="322476"/>
            <a:ext cx="2301875" cy="1016000"/>
          </a:xfrm>
          <a:prstGeom prst="rect">
            <a:avLst/>
          </a:prstGeom>
          <a:noFill/>
          <a:ln>
            <a:noFill/>
          </a:ln>
        </p:spPr>
      </p:pic>
      <p:pic>
        <p:nvPicPr>
          <p:cNvPr id="6" name="Imagen 5" descr="Diagrama, Forma, Flecha&#10;&#10;Descripción generada automáticamente"/>
          <p:cNvPicPr/>
          <p:nvPr/>
        </p:nvPicPr>
        <p:blipFill>
          <a:blip r:embed="rId3" cstate="email">
            <a:extLst>
              <a:ext uri="{28A0092B-C50C-407E-A947-70E740481C1C}">
                <a14:useLocalDpi xmlns:a14="http://schemas.microsoft.com/office/drawing/2010/main"/>
              </a:ext>
            </a:extLst>
          </a:blip>
          <a:stretch>
            <a:fillRect/>
          </a:stretch>
        </p:blipFill>
        <p:spPr bwMode="auto">
          <a:xfrm>
            <a:off x="463752" y="322477"/>
            <a:ext cx="2055233" cy="1116180"/>
          </a:xfrm>
          <a:prstGeom prst="rect">
            <a:avLst/>
          </a:prstGeom>
          <a:noFill/>
        </p:spPr>
      </p:pic>
      <p:sp>
        <p:nvSpPr>
          <p:cNvPr id="7" name="CuadroTexto 6"/>
          <p:cNvSpPr txBox="1"/>
          <p:nvPr/>
        </p:nvSpPr>
        <p:spPr>
          <a:xfrm>
            <a:off x="8187908" y="6055759"/>
            <a:ext cx="3820886" cy="584775"/>
          </a:xfrm>
          <a:prstGeom prst="rect">
            <a:avLst/>
          </a:prstGeom>
          <a:noFill/>
        </p:spPr>
        <p:txBody>
          <a:bodyPr wrap="square" rtlCol="0">
            <a:spAutoFit/>
          </a:bodyPr>
          <a:lstStyle/>
          <a:p>
            <a:pPr algn="r"/>
            <a:r>
              <a:rPr lang="es-MX" sz="1600" b="1"/>
              <a:t>26 de septiembre </a:t>
            </a:r>
            <a:r>
              <a:rPr lang="es-MX" sz="1600" b="1" dirty="0"/>
              <a:t>del 2026.</a:t>
            </a:r>
          </a:p>
          <a:p>
            <a:pPr algn="r"/>
            <a:r>
              <a:rPr lang="es-MX" sz="1600" b="1" dirty="0"/>
              <a:t>Venustiano Carranza; Chiapas.</a:t>
            </a:r>
          </a:p>
        </p:txBody>
      </p:sp>
      <p:sp>
        <p:nvSpPr>
          <p:cNvPr id="8" name="CuadroTexto 7"/>
          <p:cNvSpPr txBox="1"/>
          <p:nvPr/>
        </p:nvSpPr>
        <p:spPr>
          <a:xfrm>
            <a:off x="2273938" y="141903"/>
            <a:ext cx="7824413" cy="738664"/>
          </a:xfrm>
          <a:prstGeom prst="rect">
            <a:avLst/>
          </a:prstGeom>
          <a:noFill/>
        </p:spPr>
        <p:txBody>
          <a:bodyPr wrap="square" rtlCol="0">
            <a:spAutoFit/>
          </a:bodyPr>
          <a:lstStyle/>
          <a:p>
            <a:pPr algn="ctr">
              <a:spcAft>
                <a:spcPts val="0"/>
              </a:spcAft>
            </a:pPr>
            <a:r>
              <a:rPr lang="es-MX" sz="2400" b="1" dirty="0">
                <a:solidFill>
                  <a:schemeClr val="tx1">
                    <a:lumMod val="85000"/>
                    <a:lumOff val="15000"/>
                  </a:schemeClr>
                </a:solidFill>
                <a:latin typeface="Arial" panose="020B0604020202020204" pitchFamily="34" charset="0"/>
                <a:ea typeface="Arial" panose="020B0604020202020204" pitchFamily="34" charset="0"/>
              </a:rPr>
              <a:t>TECNOLÓGICO NACIONAL DE MÉXICO</a:t>
            </a:r>
            <a:endParaRPr lang="es-MX" sz="1600" dirty="0">
              <a:solidFill>
                <a:schemeClr val="tx1">
                  <a:lumMod val="85000"/>
                  <a:lumOff val="15000"/>
                </a:schemeClr>
              </a:solidFill>
              <a:latin typeface="Arial" panose="020B0604020202020204" pitchFamily="34" charset="0"/>
              <a:ea typeface="Arial" panose="020B0604020202020204" pitchFamily="34" charset="0"/>
            </a:endParaRPr>
          </a:p>
          <a:p>
            <a:pPr algn="ctr">
              <a:spcAft>
                <a:spcPts val="0"/>
              </a:spcAft>
            </a:pPr>
            <a:r>
              <a:rPr lang="es-MX" b="1" dirty="0">
                <a:solidFill>
                  <a:schemeClr val="tx1">
                    <a:lumMod val="85000"/>
                    <a:lumOff val="15000"/>
                  </a:schemeClr>
                </a:solidFill>
                <a:latin typeface="Arial" panose="020B0604020202020204" pitchFamily="34" charset="0"/>
                <a:ea typeface="Arial" panose="020B0604020202020204" pitchFamily="34" charset="0"/>
              </a:rPr>
              <a:t>INSTITUTO TECNOLÓGICO DE FRONTERA COMALAPA</a:t>
            </a:r>
            <a:endParaRPr lang="es-MX" dirty="0">
              <a:solidFill>
                <a:schemeClr val="tx1">
                  <a:lumMod val="85000"/>
                  <a:lumOff val="15000"/>
                </a:schemeClr>
              </a:solidFill>
            </a:endParaRPr>
          </a:p>
        </p:txBody>
      </p:sp>
    </p:spTree>
    <p:extLst>
      <p:ext uri="{BB962C8B-B14F-4D97-AF65-F5344CB8AC3E}">
        <p14:creationId xmlns:p14="http://schemas.microsoft.com/office/powerpoint/2010/main" val="428822273"/>
      </p:ext>
    </p:extLst>
  </p:cSld>
  <p:clrMapOvr>
    <a:masterClrMapping/>
  </p:clrMapOvr>
  <mc:AlternateContent xmlns:mc="http://schemas.openxmlformats.org/markup-compatibility/2006" xmlns:p14="http://schemas.microsoft.com/office/powerpoint/2010/main">
    <mc:Choice Requires="p14">
      <p:transition spd="slow" p14:dur="2000" advTm="16663"/>
    </mc:Choice>
    <mc:Fallback xmlns="">
      <p:transition spd="slow" advTm="1666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ítulo 18">
            <a:extLst>
              <a:ext uri="{FF2B5EF4-FFF2-40B4-BE49-F238E27FC236}">
                <a16:creationId xmlns:a16="http://schemas.microsoft.com/office/drawing/2014/main" id="{622C38E7-AB3A-4467-9E91-9B1FCD14C009}"/>
              </a:ext>
            </a:extLst>
          </p:cNvPr>
          <p:cNvSpPr>
            <a:spLocks noGrp="1"/>
          </p:cNvSpPr>
          <p:nvPr>
            <p:ph type="title"/>
          </p:nvPr>
        </p:nvSpPr>
        <p:spPr>
          <a:xfrm>
            <a:off x="791225" y="258183"/>
            <a:ext cx="9418320" cy="1177424"/>
          </a:xfrm>
        </p:spPr>
        <p:txBody>
          <a:bodyPr anchor="ctr">
            <a:normAutofit/>
          </a:bodyPr>
          <a:lstStyle/>
          <a:p>
            <a:pPr algn="just"/>
            <a:r>
              <a:rPr lang="es-MX" sz="4000" dirty="0">
                <a:latin typeface="Arial Rounded MT Bold" panose="020F0704030504030204" pitchFamily="34" charset="0"/>
              </a:rPr>
              <a:t>Introducción</a:t>
            </a:r>
          </a:p>
        </p:txBody>
      </p:sp>
      <p:sp>
        <p:nvSpPr>
          <p:cNvPr id="20" name="Marcador de texto 19">
            <a:extLst>
              <a:ext uri="{FF2B5EF4-FFF2-40B4-BE49-F238E27FC236}">
                <a16:creationId xmlns:a16="http://schemas.microsoft.com/office/drawing/2014/main" id="{02E3D66B-922C-4241-9FC0-B769DC7417E4}"/>
              </a:ext>
            </a:extLst>
          </p:cNvPr>
          <p:cNvSpPr>
            <a:spLocks noGrp="1"/>
          </p:cNvSpPr>
          <p:nvPr>
            <p:ph type="body" idx="1"/>
          </p:nvPr>
        </p:nvSpPr>
        <p:spPr>
          <a:xfrm>
            <a:off x="791225" y="1435608"/>
            <a:ext cx="10047104" cy="4965192"/>
          </a:xfrm>
        </p:spPr>
        <p:txBody>
          <a:bodyPr>
            <a:noAutofit/>
          </a:bodyPr>
          <a:lstStyle/>
          <a:p>
            <a:pPr algn="just">
              <a:lnSpc>
                <a:spcPct val="150000"/>
              </a:lnSpc>
            </a:pPr>
            <a:r>
              <a:rPr lang="es-MX" sz="1800" dirty="0">
                <a:solidFill>
                  <a:schemeClr val="tx1"/>
                </a:solidFill>
                <a:latin typeface="Arial" panose="020B0604020202020204" pitchFamily="34" charset="0"/>
                <a:cs typeface="Arial" panose="020B0604020202020204" pitchFamily="34" charset="0"/>
              </a:rPr>
              <a:t>La simulación de líneas de espera (colas) representa la congestión, los tiempos de espera y la capacidad de atención en sistemas reales, permitiendo optimizar los recursos y reducir cuellos de botella; mientras que la simulación de inventarios modela el flujo de mercancías, la fluctuación de la demanda y los costos asociados al almacenamiento y desabastecimiento, ayudando a determinar políticas de pedido óptimas.</a:t>
            </a:r>
          </a:p>
          <a:p>
            <a:pPr algn="just">
              <a:lnSpc>
                <a:spcPct val="150000"/>
              </a:lnSpc>
            </a:pPr>
            <a:r>
              <a:rPr lang="es-MX" sz="1800" dirty="0">
                <a:solidFill>
                  <a:schemeClr val="tx1"/>
                </a:solidFill>
                <a:latin typeface="Arial" panose="020B0604020202020204" pitchFamily="34" charset="0"/>
                <a:cs typeface="Arial" panose="020B0604020202020204" pitchFamily="34" charset="0"/>
              </a:rPr>
              <a:t>En esta práctica consiste en el desarrollo de un sistema de simulación para analizar dos modelos: línea de espera e inventario. Permite representar diferentes escenarios mediante parámetros definidos por el usuario y evaluar su comportamiento a través de pruebas estadísticas. El sistema fue implementado en Java, Python y R, manteniendo una estructura modular que separa la interfaz, la lógica y la ejecución principal.</a:t>
            </a:r>
          </a:p>
        </p:txBody>
      </p:sp>
    </p:spTree>
    <p:extLst>
      <p:ext uri="{BB962C8B-B14F-4D97-AF65-F5344CB8AC3E}">
        <p14:creationId xmlns:p14="http://schemas.microsoft.com/office/powerpoint/2010/main" val="2722755390"/>
      </p:ext>
    </p:extLst>
  </p:cSld>
  <p:clrMapOvr>
    <a:masterClrMapping/>
  </p:clrMapOvr>
  <mc:AlternateContent xmlns:mc="http://schemas.openxmlformats.org/markup-compatibility/2006" xmlns:p14="http://schemas.microsoft.com/office/powerpoint/2010/main">
    <mc:Choice Requires="p14">
      <p:transition spd="slow" p14:dur="2000" advTm="3740"/>
    </mc:Choice>
    <mc:Fallback xmlns="">
      <p:transition spd="slow" advTm="374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8">
            <a:extLst>
              <a:ext uri="{FF2B5EF4-FFF2-40B4-BE49-F238E27FC236}">
                <a16:creationId xmlns:a16="http://schemas.microsoft.com/office/drawing/2014/main" id="{8527966B-96FC-4DDF-A671-ACF9AECA7336}"/>
              </a:ext>
            </a:extLst>
          </p:cNvPr>
          <p:cNvSpPr txBox="1">
            <a:spLocks/>
          </p:cNvSpPr>
          <p:nvPr/>
        </p:nvSpPr>
        <p:spPr>
          <a:xfrm>
            <a:off x="791225" y="368988"/>
            <a:ext cx="9418320" cy="117742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7200" b="0" kern="1200" spc="-50" baseline="0">
                <a:solidFill>
                  <a:schemeClr val="tx1"/>
                </a:solidFill>
                <a:latin typeface="+mj-lt"/>
                <a:ea typeface="+mj-ea"/>
                <a:cs typeface="+mj-cs"/>
              </a:defRPr>
            </a:lvl1pPr>
          </a:lstStyle>
          <a:p>
            <a:pPr algn="just"/>
            <a:r>
              <a:rPr lang="es-MX" sz="4000" dirty="0">
                <a:latin typeface="Arial Rounded MT Bold" panose="020F0704030504030204" pitchFamily="34" charset="0"/>
              </a:rPr>
              <a:t>Justificación</a:t>
            </a:r>
          </a:p>
        </p:txBody>
      </p:sp>
      <p:sp>
        <p:nvSpPr>
          <p:cNvPr id="6" name="Marcador de texto 19">
            <a:extLst>
              <a:ext uri="{FF2B5EF4-FFF2-40B4-BE49-F238E27FC236}">
                <a16:creationId xmlns:a16="http://schemas.microsoft.com/office/drawing/2014/main" id="{B8CA571F-3BB7-428C-9DF6-45FD431A0208}"/>
              </a:ext>
            </a:extLst>
          </p:cNvPr>
          <p:cNvSpPr>
            <a:spLocks noGrp="1"/>
          </p:cNvSpPr>
          <p:nvPr>
            <p:ph type="body" idx="1"/>
          </p:nvPr>
        </p:nvSpPr>
        <p:spPr>
          <a:xfrm>
            <a:off x="791225" y="1546412"/>
            <a:ext cx="10181575" cy="4719917"/>
          </a:xfrm>
        </p:spPr>
        <p:txBody>
          <a:bodyPr>
            <a:normAutofit fontScale="85000" lnSpcReduction="10000"/>
          </a:bodyPr>
          <a:lstStyle/>
          <a:p>
            <a:pPr algn="just">
              <a:lnSpc>
                <a:spcPct val="150000"/>
              </a:lnSpc>
            </a:pPr>
            <a:r>
              <a:rPr lang="es-MX" dirty="0">
                <a:solidFill>
                  <a:schemeClr val="tx1"/>
                </a:solidFill>
                <a:latin typeface="Arial" panose="020B0604020202020204" pitchFamily="34" charset="0"/>
                <a:cs typeface="Arial" panose="020B0604020202020204" pitchFamily="34" charset="0"/>
              </a:rPr>
              <a:t>La simulación computacional constituye una herramienta indispensable para estudiar el comportamiento de sistemas complejos del mundo real sin necesidad de intervenir directamente en sus operaciones físicas, lo cual evita costos elevados y riesgos operativos.</a:t>
            </a:r>
          </a:p>
          <a:p>
            <a:pPr algn="just">
              <a:lnSpc>
                <a:spcPct val="150000"/>
              </a:lnSpc>
            </a:pPr>
            <a:r>
              <a:rPr lang="es-MX" dirty="0">
                <a:solidFill>
                  <a:schemeClr val="tx1"/>
                </a:solidFill>
                <a:latin typeface="Arial" panose="020B0604020202020204" pitchFamily="34" charset="0"/>
                <a:cs typeface="Arial" panose="020B0604020202020204" pitchFamily="34" charset="0"/>
              </a:rPr>
              <a:t>Esta actividad se justifica en su capacidad para ofrecer un entorno de análisis predictivo enfocado en dos pilares críticos para la eficiencia organizacional:</a:t>
            </a:r>
          </a:p>
          <a:p>
            <a:pPr marL="342900" indent="-342900" algn="just">
              <a:lnSpc>
                <a:spcPct val="150000"/>
              </a:lnSpc>
              <a:buSzPct val="100000"/>
              <a:buBlip>
                <a:blip r:embed="rId2"/>
              </a:buBlip>
            </a:pPr>
            <a:r>
              <a:rPr lang="es-MX" dirty="0">
                <a:solidFill>
                  <a:schemeClr val="tx1"/>
                </a:solidFill>
                <a:latin typeface="Arial" panose="020B0604020202020204" pitchFamily="34" charset="0"/>
                <a:cs typeface="Arial" panose="020B0604020202020204" pitchFamily="34" charset="0"/>
              </a:rPr>
              <a:t>La gestión de líneas de espera, permitiendo evaluar tiempos de espera, optimizar la capacidad de atención y reducir cuellos de botella en la atención al cliente.</a:t>
            </a:r>
          </a:p>
          <a:p>
            <a:pPr marL="342900" indent="-342900" algn="just">
              <a:lnSpc>
                <a:spcPct val="150000"/>
              </a:lnSpc>
              <a:buSzPct val="100000"/>
              <a:buBlip>
                <a:blip r:embed="rId2"/>
              </a:buBlip>
            </a:pPr>
            <a:r>
              <a:rPr lang="es-MX" dirty="0">
                <a:solidFill>
                  <a:schemeClr val="tx1"/>
                </a:solidFill>
                <a:latin typeface="Arial" panose="020B0604020202020204" pitchFamily="34" charset="0"/>
                <a:cs typeface="Arial" panose="020B0604020202020204" pitchFamily="34" charset="0"/>
              </a:rPr>
              <a:t>El control de inventarios, facilitando el monitoreo de la disponibilidad de mercancías y el diseño de políticas de reabastecimiento que minimicen costos de almacenamiento y desabastecimiento.</a:t>
            </a:r>
          </a:p>
        </p:txBody>
      </p:sp>
    </p:spTree>
    <p:extLst>
      <p:ext uri="{BB962C8B-B14F-4D97-AF65-F5344CB8AC3E}">
        <p14:creationId xmlns:p14="http://schemas.microsoft.com/office/powerpoint/2010/main" val="1812548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8">
            <a:extLst>
              <a:ext uri="{FF2B5EF4-FFF2-40B4-BE49-F238E27FC236}">
                <a16:creationId xmlns:a16="http://schemas.microsoft.com/office/drawing/2014/main" id="{8527966B-96FC-4DDF-A671-ACF9AECA7336}"/>
              </a:ext>
            </a:extLst>
          </p:cNvPr>
          <p:cNvSpPr txBox="1">
            <a:spLocks/>
          </p:cNvSpPr>
          <p:nvPr/>
        </p:nvSpPr>
        <p:spPr>
          <a:xfrm>
            <a:off x="791225" y="368988"/>
            <a:ext cx="9418320" cy="117742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7200" b="0" kern="1200" spc="-50" baseline="0">
                <a:solidFill>
                  <a:schemeClr val="tx1"/>
                </a:solidFill>
                <a:latin typeface="+mj-lt"/>
                <a:ea typeface="+mj-ea"/>
                <a:cs typeface="+mj-cs"/>
              </a:defRPr>
            </a:lvl1pPr>
          </a:lstStyle>
          <a:p>
            <a:pPr algn="just"/>
            <a:r>
              <a:rPr lang="es-MX" sz="4000" dirty="0">
                <a:latin typeface="Arial Rounded MT Bold" panose="020F0704030504030204" pitchFamily="34" charset="0"/>
              </a:rPr>
              <a:t>Objetivo general</a:t>
            </a:r>
          </a:p>
        </p:txBody>
      </p:sp>
      <p:sp>
        <p:nvSpPr>
          <p:cNvPr id="6" name="Marcador de texto 19">
            <a:extLst>
              <a:ext uri="{FF2B5EF4-FFF2-40B4-BE49-F238E27FC236}">
                <a16:creationId xmlns:a16="http://schemas.microsoft.com/office/drawing/2014/main" id="{B8CA571F-3BB7-428C-9DF6-45FD431A0208}"/>
              </a:ext>
            </a:extLst>
          </p:cNvPr>
          <p:cNvSpPr>
            <a:spLocks noGrp="1"/>
          </p:cNvSpPr>
          <p:nvPr>
            <p:ph type="body" idx="1"/>
          </p:nvPr>
        </p:nvSpPr>
        <p:spPr>
          <a:xfrm>
            <a:off x="791225" y="1546412"/>
            <a:ext cx="9778163" cy="4719917"/>
          </a:xfrm>
        </p:spPr>
        <p:txBody>
          <a:bodyPr/>
          <a:lstStyle/>
          <a:p>
            <a:pPr algn="just">
              <a:lnSpc>
                <a:spcPct val="150000"/>
              </a:lnSpc>
            </a:pPr>
            <a:r>
              <a:rPr lang="es-MX" dirty="0">
                <a:solidFill>
                  <a:schemeClr val="tx1"/>
                </a:solidFill>
                <a:latin typeface="Arial" panose="020B0604020202020204" pitchFamily="34" charset="0"/>
                <a:cs typeface="Arial" panose="020B0604020202020204" pitchFamily="34" charset="0"/>
              </a:rPr>
              <a:t>Desarrollar e implementar un sistema de simulación basada en Java, Python y R orientada al análisis de modelos de colas e inventarios, con el fin de representar escenarios operativos complejos y validar sus resultados a través de métodos estadísticos.</a:t>
            </a:r>
          </a:p>
        </p:txBody>
      </p:sp>
    </p:spTree>
    <p:extLst>
      <p:ext uri="{BB962C8B-B14F-4D97-AF65-F5344CB8AC3E}">
        <p14:creationId xmlns:p14="http://schemas.microsoft.com/office/powerpoint/2010/main" val="1619425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8">
            <a:extLst>
              <a:ext uri="{FF2B5EF4-FFF2-40B4-BE49-F238E27FC236}">
                <a16:creationId xmlns:a16="http://schemas.microsoft.com/office/drawing/2014/main" id="{8527966B-96FC-4DDF-A671-ACF9AECA7336}"/>
              </a:ext>
            </a:extLst>
          </p:cNvPr>
          <p:cNvSpPr txBox="1">
            <a:spLocks/>
          </p:cNvSpPr>
          <p:nvPr/>
        </p:nvSpPr>
        <p:spPr>
          <a:xfrm>
            <a:off x="791225" y="368988"/>
            <a:ext cx="9418320" cy="117742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7200" b="0" kern="1200" spc="-50" baseline="0">
                <a:solidFill>
                  <a:schemeClr val="tx1"/>
                </a:solidFill>
                <a:latin typeface="+mj-lt"/>
                <a:ea typeface="+mj-ea"/>
                <a:cs typeface="+mj-cs"/>
              </a:defRPr>
            </a:lvl1pPr>
          </a:lstStyle>
          <a:p>
            <a:pPr algn="just"/>
            <a:r>
              <a:rPr lang="es-MX" sz="4000" dirty="0">
                <a:latin typeface="Arial Rounded MT Bold" panose="020F0704030504030204" pitchFamily="34" charset="0"/>
              </a:rPr>
              <a:t>Objetivo especifico</a:t>
            </a:r>
          </a:p>
        </p:txBody>
      </p:sp>
      <p:sp>
        <p:nvSpPr>
          <p:cNvPr id="6" name="Marcador de texto 19">
            <a:extLst>
              <a:ext uri="{FF2B5EF4-FFF2-40B4-BE49-F238E27FC236}">
                <a16:creationId xmlns:a16="http://schemas.microsoft.com/office/drawing/2014/main" id="{B8CA571F-3BB7-428C-9DF6-45FD431A0208}"/>
              </a:ext>
            </a:extLst>
          </p:cNvPr>
          <p:cNvSpPr>
            <a:spLocks noGrp="1"/>
          </p:cNvSpPr>
          <p:nvPr>
            <p:ph type="body" idx="1"/>
          </p:nvPr>
        </p:nvSpPr>
        <p:spPr>
          <a:xfrm>
            <a:off x="791225" y="1546412"/>
            <a:ext cx="9778163" cy="4719917"/>
          </a:xfrm>
        </p:spPr>
        <p:txBody>
          <a:bodyPr>
            <a:normAutofit/>
          </a:bodyPr>
          <a:lstStyle/>
          <a:p>
            <a:pPr marL="342900" indent="-342900" algn="just">
              <a:lnSpc>
                <a:spcPct val="150000"/>
              </a:lnSpc>
              <a:buClr>
                <a:schemeClr val="tx1">
                  <a:lumMod val="95000"/>
                  <a:lumOff val="5000"/>
                </a:schemeClr>
              </a:buClr>
              <a:buFont typeface="Wingdings" panose="05000000000000000000" pitchFamily="2" charset="2"/>
              <a:buChar char="q"/>
            </a:pPr>
            <a:r>
              <a:rPr lang="es-MX" dirty="0">
                <a:solidFill>
                  <a:schemeClr val="tx1"/>
                </a:solidFill>
                <a:latin typeface="Arial" panose="020B0604020202020204" pitchFamily="34" charset="0"/>
                <a:cs typeface="Arial" panose="020B0604020202020204" pitchFamily="34" charset="0"/>
              </a:rPr>
              <a:t>Simular el comportamiento de una línea de espera considerando llegadas, tiempos de atención y número de servidores.</a:t>
            </a:r>
          </a:p>
          <a:p>
            <a:pPr marL="342900" indent="-342900" algn="just">
              <a:lnSpc>
                <a:spcPct val="150000"/>
              </a:lnSpc>
              <a:buClr>
                <a:schemeClr val="tx1">
                  <a:lumMod val="95000"/>
                  <a:lumOff val="5000"/>
                </a:schemeClr>
              </a:buClr>
              <a:buSzPct val="90000"/>
              <a:buFont typeface="Wingdings" panose="05000000000000000000" pitchFamily="2" charset="2"/>
              <a:buChar char="q"/>
            </a:pPr>
            <a:r>
              <a:rPr lang="es-MX" dirty="0">
                <a:solidFill>
                  <a:schemeClr val="tx1"/>
                </a:solidFill>
                <a:latin typeface="Arial" panose="020B0604020202020204" pitchFamily="34" charset="0"/>
                <a:cs typeface="Arial" panose="020B0604020202020204" pitchFamily="34" charset="0"/>
              </a:rPr>
              <a:t>Simular el control de inventario, identificando niveles críticos y necesidades de reabastecimiento.</a:t>
            </a:r>
          </a:p>
          <a:p>
            <a:pPr marL="342900" indent="-342900" algn="just">
              <a:lnSpc>
                <a:spcPct val="150000"/>
              </a:lnSpc>
              <a:buClr>
                <a:schemeClr val="tx1">
                  <a:lumMod val="95000"/>
                  <a:lumOff val="5000"/>
                </a:schemeClr>
              </a:buClr>
              <a:buFont typeface="Wingdings" panose="05000000000000000000" pitchFamily="2" charset="2"/>
              <a:buChar char="q"/>
            </a:pPr>
            <a:r>
              <a:rPr lang="es-MX" dirty="0">
                <a:solidFill>
                  <a:schemeClr val="tx1"/>
                </a:solidFill>
                <a:latin typeface="Arial" panose="020B0604020202020204" pitchFamily="34" charset="0"/>
                <a:cs typeface="Arial" panose="020B0604020202020204" pitchFamily="34" charset="0"/>
              </a:rPr>
              <a:t>Aplicar pruebas paramétricas y no paramétricas para analizar los resultados de las simulaciones.</a:t>
            </a:r>
          </a:p>
          <a:p>
            <a:pPr marL="342900" indent="-342900" algn="just">
              <a:lnSpc>
                <a:spcPct val="150000"/>
              </a:lnSpc>
              <a:buClr>
                <a:schemeClr val="tx1">
                  <a:lumMod val="95000"/>
                  <a:lumOff val="5000"/>
                </a:schemeClr>
              </a:buClr>
              <a:buFont typeface="Wingdings" panose="05000000000000000000" pitchFamily="2" charset="2"/>
              <a:buChar char="q"/>
            </a:pPr>
            <a:r>
              <a:rPr lang="es-MX" dirty="0">
                <a:solidFill>
                  <a:schemeClr val="tx1"/>
                </a:solidFill>
                <a:latin typeface="Arial" panose="020B0604020202020204" pitchFamily="34" charset="0"/>
                <a:cs typeface="Arial" panose="020B0604020202020204" pitchFamily="34" charset="0"/>
              </a:rPr>
              <a:t>Implementar el mismo modelo mediante una estructura modular en tres lenguajes de programación.</a:t>
            </a:r>
          </a:p>
        </p:txBody>
      </p:sp>
    </p:spTree>
    <p:extLst>
      <p:ext uri="{BB962C8B-B14F-4D97-AF65-F5344CB8AC3E}">
        <p14:creationId xmlns:p14="http://schemas.microsoft.com/office/powerpoint/2010/main" val="1221941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9093-64EC-4FF0-8FE0-A72506422719}"/>
              </a:ext>
            </a:extLst>
          </p:cNvPr>
          <p:cNvSpPr>
            <a:spLocks noGrp="1"/>
          </p:cNvSpPr>
          <p:nvPr>
            <p:ph type="title"/>
          </p:nvPr>
        </p:nvSpPr>
        <p:spPr>
          <a:xfrm>
            <a:off x="1288766" y="1408176"/>
            <a:ext cx="9418320" cy="4041648"/>
          </a:xfrm>
        </p:spPr>
        <p:txBody>
          <a:bodyPr anchor="ctr">
            <a:normAutofit/>
          </a:bodyPr>
          <a:lstStyle/>
          <a:p>
            <a:pPr algn="ctr"/>
            <a:r>
              <a:rPr lang="es-MX" sz="6600" dirty="0">
                <a:latin typeface="Arial Rounded MT Bold" panose="020F0704030504030204" pitchFamily="34" charset="0"/>
              </a:rPr>
              <a:t>Línea de espera y sistema de inventario en </a:t>
            </a:r>
            <a:r>
              <a:rPr lang="es-MX" sz="6600" dirty="0" err="1">
                <a:latin typeface="Arial Rounded MT Bold" panose="020F0704030504030204" pitchFamily="34" charset="0"/>
              </a:rPr>
              <a:t>JavaFX</a:t>
            </a:r>
            <a:r>
              <a:rPr lang="es-MX" sz="6600" dirty="0">
                <a:latin typeface="Arial Rounded MT Bold" panose="020F0704030504030204" pitchFamily="34" charset="0"/>
              </a:rPr>
              <a:t>.</a:t>
            </a:r>
          </a:p>
        </p:txBody>
      </p:sp>
    </p:spTree>
    <p:extLst>
      <p:ext uri="{BB962C8B-B14F-4D97-AF65-F5344CB8AC3E}">
        <p14:creationId xmlns:p14="http://schemas.microsoft.com/office/powerpoint/2010/main" val="3946345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Línea de espera y sistema de inventario en </a:t>
            </a:r>
            <a:r>
              <a:rPr lang="es-MX" spc="0"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JavaFX</a:t>
            </a: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45233" y="1681324"/>
            <a:ext cx="9778163" cy="4719917"/>
          </a:xfrm>
          <a:prstGeom prst="rect">
            <a:avLst/>
          </a:prstGeom>
        </p:spPr>
        <p:txBody>
          <a:bodyPr vert="horz" lIns="91440" tIns="45720" rIns="91440" bIns="45720" rtlCol="0">
            <a:normAutofit fontScale="92500" lnSpcReduction="1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b="1" dirty="0">
                <a:latin typeface="Arial" panose="020B0604020202020204" pitchFamily="34" charset="0"/>
                <a:cs typeface="Arial" panose="020B0604020202020204" pitchFamily="34" charset="0"/>
              </a:rPr>
              <a:t>Descripción</a:t>
            </a:r>
          </a:p>
          <a:p>
            <a:pPr marL="0" indent="0" algn="just">
              <a:lnSpc>
                <a:spcPct val="150000"/>
              </a:lnSpc>
              <a:buNone/>
            </a:pPr>
            <a:r>
              <a:rPr lang="es-MX" dirty="0">
                <a:latin typeface="Arial" panose="020B0604020202020204" pitchFamily="34" charset="0"/>
                <a:cs typeface="Arial" panose="020B0604020202020204" pitchFamily="34" charset="0"/>
              </a:rPr>
              <a:t>Java es un lenguaje de programación orientado a objetos utilizado para desarrollar la primera versión del simulador. El proyecto emplea una estructura modular que separa los datos, la lógica de funcionamiento y las interfaces gráficas.</a:t>
            </a:r>
          </a:p>
          <a:p>
            <a:pPr marL="0" indent="0" algn="just">
              <a:lnSpc>
                <a:spcPct val="150000"/>
              </a:lnSpc>
              <a:buNone/>
            </a:pPr>
            <a:r>
              <a:rPr lang="es-MX" b="1" dirty="0">
                <a:latin typeface="Arial" panose="020B0604020202020204" pitchFamily="34" charset="0"/>
                <a:cs typeface="Arial" panose="020B0604020202020204" pitchFamily="34" charset="0"/>
              </a:rPr>
              <a:t>Funcionamiento</a:t>
            </a:r>
          </a:p>
          <a:p>
            <a:pPr marL="0" indent="0" algn="just">
              <a:lnSpc>
                <a:spcPct val="150000"/>
              </a:lnSpc>
              <a:buNone/>
            </a:pPr>
            <a:r>
              <a:rPr lang="es-MX" dirty="0">
                <a:latin typeface="Arial" panose="020B0604020202020204" pitchFamily="34" charset="0"/>
                <a:cs typeface="Arial" panose="020B0604020202020204" pitchFamily="34" charset="0"/>
              </a:rPr>
              <a:t>El programa permite seleccionar entre dos modelos de simulación: línea de espera e inventario. En la línea de espera procesa los datos de llegada, atención y servidores para calcular los tiempos de espera y resultados del servicio. En inventario simula la demanda y los despachos, controla las existencias e identifica cuándo es necesario realizar un reabastecimiento.</a:t>
            </a:r>
          </a:p>
        </p:txBody>
      </p:sp>
    </p:spTree>
    <p:extLst>
      <p:ext uri="{BB962C8B-B14F-4D97-AF65-F5344CB8AC3E}">
        <p14:creationId xmlns:p14="http://schemas.microsoft.com/office/powerpoint/2010/main" val="3246759260"/>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Línea de espera y sistema de inventario en </a:t>
            </a:r>
            <a:r>
              <a:rPr lang="es-MX" spc="0"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JavaFX</a:t>
            </a: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534921" y="1546412"/>
            <a:ext cx="10034467" cy="5042647"/>
          </a:xfrm>
          <a:prstGeom prst="rect">
            <a:avLst/>
          </a:prstGeom>
        </p:spPr>
        <p:txBody>
          <a:bodyPr vert="horz" lIns="91440" tIns="45720" rIns="91440" bIns="45720" rtlCol="0">
            <a:normAutofit fontScale="85000" lnSpcReduction="2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b="1" dirty="0">
                <a:latin typeface="Arial" panose="020B0604020202020204" pitchFamily="34" charset="0"/>
                <a:cs typeface="Arial" panose="020B0604020202020204" pitchFamily="34" charset="0"/>
              </a:rPr>
              <a:t>Herramientas utilizadas</a:t>
            </a:r>
          </a:p>
          <a:p>
            <a:pPr algn="just">
              <a:lnSpc>
                <a:spcPct val="150000"/>
              </a:lnSpc>
              <a:buFont typeface="Wingdings" panose="05000000000000000000" pitchFamily="2" charset="2"/>
              <a:buChar char="q"/>
            </a:pPr>
            <a:r>
              <a:rPr lang="es-MX" b="1" dirty="0">
                <a:latin typeface="Arial" panose="020B0604020202020204" pitchFamily="34" charset="0"/>
                <a:cs typeface="Arial" panose="020B0604020202020204" pitchFamily="34" charset="0"/>
              </a:rPr>
              <a:t>Java: </a:t>
            </a:r>
            <a:r>
              <a:rPr lang="es-MX" dirty="0">
                <a:latin typeface="Arial" panose="020B0604020202020204" pitchFamily="34" charset="0"/>
                <a:cs typeface="Arial" panose="020B0604020202020204" pitchFamily="34" charset="0"/>
              </a:rPr>
              <a:t>esta implementación emplea una estructura orientada a objetos, utilizando controladores para administrar las diferentes ventanas y clases de modelo para representar y procesar las operaciones relacionadas con las variables aleatorias.</a:t>
            </a:r>
          </a:p>
          <a:p>
            <a:pPr algn="just">
              <a:lnSpc>
                <a:spcPct val="150000"/>
              </a:lnSpc>
              <a:buFont typeface="Wingdings" panose="05000000000000000000" pitchFamily="2" charset="2"/>
              <a:buChar char="q"/>
            </a:pPr>
            <a:r>
              <a:rPr lang="es-MX" b="1" dirty="0">
                <a:latin typeface="Arial" panose="020B0604020202020204" pitchFamily="34" charset="0"/>
                <a:cs typeface="Arial" panose="020B0604020202020204" pitchFamily="34" charset="0"/>
              </a:rPr>
              <a:t>FXML: </a:t>
            </a:r>
            <a:r>
              <a:rPr lang="es-MX" dirty="0">
                <a:latin typeface="Arial" panose="020B0604020202020204" pitchFamily="34" charset="0"/>
                <a:cs typeface="Arial" panose="020B0604020202020204" pitchFamily="34" charset="0"/>
              </a:rPr>
              <a:t>se utilizó en la implementación de Java para definir las diferentes interfaces gráficas del sistema. Se crearon vistas independientes para las variables discretas, variables continuas, métodos, procedimientos y pruebas estadísticas.</a:t>
            </a:r>
          </a:p>
          <a:p>
            <a:pPr algn="just">
              <a:lnSpc>
                <a:spcPct val="150000"/>
              </a:lnSpc>
              <a:buFont typeface="Wingdings" panose="05000000000000000000" pitchFamily="2" charset="2"/>
              <a:buChar char="q"/>
            </a:pPr>
            <a:r>
              <a:rPr lang="es-MX" b="1" dirty="0">
                <a:latin typeface="Arial" panose="020B0604020202020204" pitchFamily="34" charset="0"/>
                <a:cs typeface="Arial" panose="020B0604020202020204" pitchFamily="34" charset="0"/>
              </a:rPr>
              <a:t>Entorno de desarrollo: </a:t>
            </a:r>
            <a:r>
              <a:rPr lang="es-MX" dirty="0">
                <a:latin typeface="Arial" panose="020B0604020202020204" pitchFamily="34" charset="0"/>
                <a:cs typeface="Arial" panose="020B0604020202020204" pitchFamily="34" charset="0"/>
              </a:rPr>
              <a:t>se utilizó IntelliJ IDEA un entorno de programación para escribir, organizar, ejecutar y realizar pruebas sobre el código correspondiente a cada uno de los lenguajes.</a:t>
            </a:r>
          </a:p>
          <a:p>
            <a:pPr algn="just">
              <a:lnSpc>
                <a:spcPct val="150000"/>
              </a:lnSpc>
              <a:buFont typeface="Wingdings" panose="05000000000000000000" pitchFamily="2" charset="2"/>
              <a:buChar char="q"/>
            </a:pPr>
            <a:r>
              <a:rPr lang="es-MX" b="1" dirty="0" err="1">
                <a:latin typeface="Arial" panose="020B0604020202020204" pitchFamily="34" charset="0"/>
                <a:cs typeface="Arial" panose="020B0604020202020204" pitchFamily="34" charset="0"/>
              </a:rPr>
              <a:t>Scener</a:t>
            </a:r>
            <a:r>
              <a:rPr lang="es-MX" b="1" dirty="0">
                <a:latin typeface="Arial" panose="020B0604020202020204" pitchFamily="34" charset="0"/>
                <a:cs typeface="Arial" panose="020B0604020202020204" pitchFamily="34" charset="0"/>
              </a:rPr>
              <a:t> </a:t>
            </a:r>
            <a:r>
              <a:rPr lang="es-MX" b="1" dirty="0" err="1">
                <a:latin typeface="Arial" panose="020B0604020202020204" pitchFamily="34" charset="0"/>
                <a:cs typeface="Arial" panose="020B0604020202020204" pitchFamily="34" charset="0"/>
              </a:rPr>
              <a:t>Builder</a:t>
            </a:r>
            <a:r>
              <a:rPr lang="es-MX" b="1" dirty="0">
                <a:latin typeface="Arial" panose="020B0604020202020204" pitchFamily="34" charset="0"/>
                <a:cs typeface="Arial" panose="020B0604020202020204" pitchFamily="34" charset="0"/>
              </a:rPr>
              <a:t>: </a:t>
            </a:r>
            <a:r>
              <a:rPr lang="es-MX" dirty="0">
                <a:latin typeface="Arial" panose="020B0604020202020204" pitchFamily="34" charset="0"/>
                <a:cs typeface="Arial" panose="020B0604020202020204" pitchFamily="34" charset="0"/>
              </a:rPr>
              <a:t>es una herramienta visual para crear interfaces gráficas de usuario, sirve para diseñar ventanas, botones, menús y otros elementos visuales sin necesidad de escribir todo el código de diseño a mano.</a:t>
            </a:r>
          </a:p>
        </p:txBody>
      </p:sp>
    </p:spTree>
    <p:extLst>
      <p:ext uri="{BB962C8B-B14F-4D97-AF65-F5344CB8AC3E}">
        <p14:creationId xmlns:p14="http://schemas.microsoft.com/office/powerpoint/2010/main" val="1345308158"/>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897E976F-6D20-49F8-97CB-9A9A745A5E77}"/>
              </a:ext>
            </a:extLst>
          </p:cNvPr>
          <p:cNvSpPr>
            <a:spLocks noGrp="1"/>
          </p:cNvSpPr>
          <p:nvPr>
            <p:ph type="title"/>
          </p:nvPr>
        </p:nvSpPr>
        <p:spPr>
          <a:xfrm>
            <a:off x="832014" y="2913327"/>
            <a:ext cx="10198788" cy="1031345"/>
          </a:xfrm>
          <a:solidFill>
            <a:schemeClr val="tx2">
              <a:lumMod val="75000"/>
            </a:schemeClr>
          </a:solidFill>
        </p:spPr>
        <p:txBody>
          <a:bodyPr anchor="ctr">
            <a:normAutofit/>
          </a:bodyPr>
          <a:lstStyle/>
          <a:p>
            <a:pPr algn="ctr"/>
            <a:r>
              <a:rPr lang="es-MX" spc="0"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Launcher</a:t>
            </a:r>
            <a:endPar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endParaRPr>
          </a:p>
        </p:txBody>
      </p:sp>
    </p:spTree>
    <p:extLst>
      <p:ext uri="{BB962C8B-B14F-4D97-AF65-F5344CB8AC3E}">
        <p14:creationId xmlns:p14="http://schemas.microsoft.com/office/powerpoint/2010/main" val="9062493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ángulo 18">
            <a:extLst>
              <a:ext uri="{FF2B5EF4-FFF2-40B4-BE49-F238E27FC236}">
                <a16:creationId xmlns:a16="http://schemas.microsoft.com/office/drawing/2014/main" id="{F63D3981-118F-4BCF-80D5-EDE659EA45F6}"/>
              </a:ext>
            </a:extLst>
          </p:cNvPr>
          <p:cNvSpPr/>
          <p:nvPr/>
        </p:nvSpPr>
        <p:spPr>
          <a:xfrm>
            <a:off x="5710220" y="1347080"/>
            <a:ext cx="5023489" cy="5097263"/>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Marcador de texto 8">
            <a:extLst>
              <a:ext uri="{FF2B5EF4-FFF2-40B4-BE49-F238E27FC236}">
                <a16:creationId xmlns:a16="http://schemas.microsoft.com/office/drawing/2014/main" id="{5D7C41EF-F0A1-40D6-BC10-D60D83CF8167}"/>
              </a:ext>
            </a:extLst>
          </p:cNvPr>
          <p:cNvSpPr txBox="1">
            <a:spLocks/>
          </p:cNvSpPr>
          <p:nvPr/>
        </p:nvSpPr>
        <p:spPr>
          <a:xfrm>
            <a:off x="5878286" y="1718711"/>
            <a:ext cx="4688114" cy="3346775"/>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400" dirty="0" err="1">
                <a:latin typeface="Arial" panose="020B0604020202020204" pitchFamily="34" charset="0"/>
                <a:cs typeface="Arial" panose="020B0604020202020204" pitchFamily="34" charset="0"/>
              </a:rPr>
              <a:t>Launcher</a:t>
            </a:r>
            <a:r>
              <a:rPr lang="es-MX" sz="1400" dirty="0">
                <a:latin typeface="Arial" panose="020B0604020202020204" pitchFamily="34" charset="0"/>
                <a:cs typeface="Arial" panose="020B0604020202020204" pitchFamily="34" charset="0"/>
              </a:rPr>
              <a:t> es la clase de arranque principal (Bootstrap) del proyecto, la cual actúa como el punto de entrada técnico (</a:t>
            </a:r>
            <a:r>
              <a:rPr lang="es-MX" sz="1400" dirty="0" err="1">
                <a:latin typeface="Arial" panose="020B0604020202020204" pitchFamily="34" charset="0"/>
                <a:cs typeface="Arial" panose="020B0604020202020204" pitchFamily="34" charset="0"/>
              </a:rPr>
              <a:t>main</a:t>
            </a:r>
            <a:r>
              <a:rPr lang="es-MX" sz="1400" dirty="0">
                <a:latin typeface="Arial" panose="020B0604020202020204" pitchFamily="34" charset="0"/>
                <a:cs typeface="Arial" panose="020B0604020202020204" pitchFamily="34" charset="0"/>
              </a:rPr>
              <a:t>) para ejecutar una aplicación de escritorio con interfaz gráfica basada en el </a:t>
            </a:r>
            <a:r>
              <a:rPr lang="es-MX" sz="1400" dirty="0" err="1">
                <a:latin typeface="Arial" panose="020B0604020202020204" pitchFamily="34" charset="0"/>
                <a:cs typeface="Arial" panose="020B0604020202020204" pitchFamily="34" charset="0"/>
              </a:rPr>
              <a:t>framework</a:t>
            </a:r>
            <a:r>
              <a:rPr lang="es-MX" sz="1400" dirty="0">
                <a:latin typeface="Arial" panose="020B0604020202020204" pitchFamily="34" charset="0"/>
                <a:cs typeface="Arial" panose="020B0604020202020204" pitchFamily="34" charset="0"/>
              </a:rPr>
              <a:t> </a:t>
            </a:r>
            <a:r>
              <a:rPr lang="es-MX" sz="1400" dirty="0" err="1">
                <a:latin typeface="Arial" panose="020B0604020202020204" pitchFamily="34" charset="0"/>
                <a:cs typeface="Arial" panose="020B0604020202020204" pitchFamily="34" charset="0"/>
              </a:rPr>
              <a:t>JavaFX</a:t>
            </a:r>
            <a:r>
              <a:rPr lang="es-MX" sz="1400" dirty="0">
                <a:latin typeface="Arial" panose="020B0604020202020204" pitchFamily="34" charset="0"/>
                <a:cs typeface="Arial" panose="020B0604020202020204" pitchFamily="34" charset="0"/>
              </a:rPr>
              <a:t>.</a:t>
            </a:r>
          </a:p>
          <a:p>
            <a:pPr algn="just"/>
            <a:r>
              <a:rPr lang="es-MX" sz="1400" dirty="0">
                <a:latin typeface="Arial" panose="020B0604020202020204" pitchFamily="34" charset="0"/>
                <a:cs typeface="Arial" panose="020B0604020202020204" pitchFamily="34" charset="0"/>
              </a:rPr>
              <a:t>En términos prácticos, esta clase funciona como el interruptor que enciende todo el programa: al ejecutarla, se inicializa el entorno de manera segura y se transfiere el control al hilo de diseño, permitiendo que toda la interfaz gráfica comience a operar correctamente y sin errores de compatibilidad.</a:t>
            </a:r>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Launcher</a:t>
            </a:r>
            <a:endPar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endParaRPr>
          </a:p>
        </p:txBody>
      </p:sp>
      <p:pic>
        <p:nvPicPr>
          <p:cNvPr id="4" name="Imagen 3">
            <a:extLst>
              <a:ext uri="{FF2B5EF4-FFF2-40B4-BE49-F238E27FC236}">
                <a16:creationId xmlns:a16="http://schemas.microsoft.com/office/drawing/2014/main" id="{5DDD83D2-906F-45FF-8F5A-E3637BB82E07}"/>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34921" y="1421816"/>
            <a:ext cx="4790114" cy="4947790"/>
          </a:xfrm>
          <a:prstGeom prst="rect">
            <a:avLst/>
          </a:prstGeom>
        </p:spPr>
      </p:pic>
    </p:spTree>
    <p:extLst>
      <p:ext uri="{BB962C8B-B14F-4D97-AF65-F5344CB8AC3E}">
        <p14:creationId xmlns:p14="http://schemas.microsoft.com/office/powerpoint/2010/main" val="2955836982"/>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772665" y="2913327"/>
            <a:ext cx="10198788" cy="1031345"/>
          </a:xfrm>
          <a:solidFill>
            <a:schemeClr val="tx2">
              <a:lumMod val="75000"/>
            </a:schemeClr>
          </a:solidFill>
        </p:spPr>
        <p:txBody>
          <a:bodyPr anchor="ctr"/>
          <a:lstStyle/>
          <a:p>
            <a:pPr algn="ctr"/>
            <a:r>
              <a:rPr lang="es-MX" spc="0"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Main</a:t>
            </a: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 (Ventana principal).</a:t>
            </a:r>
          </a:p>
        </p:txBody>
      </p:sp>
    </p:spTree>
    <p:extLst>
      <p:ext uri="{BB962C8B-B14F-4D97-AF65-F5344CB8AC3E}">
        <p14:creationId xmlns:p14="http://schemas.microsoft.com/office/powerpoint/2010/main" val="275777122"/>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ángulo 18">
            <a:extLst>
              <a:ext uri="{FF2B5EF4-FFF2-40B4-BE49-F238E27FC236}">
                <a16:creationId xmlns:a16="http://schemas.microsoft.com/office/drawing/2014/main" id="{F63D3981-118F-4BCF-80D5-EDE659EA45F6}"/>
              </a:ext>
            </a:extLst>
          </p:cNvPr>
          <p:cNvSpPr/>
          <p:nvPr/>
        </p:nvSpPr>
        <p:spPr>
          <a:xfrm>
            <a:off x="5710220" y="1347080"/>
            <a:ext cx="5023489" cy="5097263"/>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Marcador de texto 8">
            <a:extLst>
              <a:ext uri="{FF2B5EF4-FFF2-40B4-BE49-F238E27FC236}">
                <a16:creationId xmlns:a16="http://schemas.microsoft.com/office/drawing/2014/main" id="{5D7C41EF-F0A1-40D6-BC10-D60D83CF8167}"/>
              </a:ext>
            </a:extLst>
          </p:cNvPr>
          <p:cNvSpPr txBox="1">
            <a:spLocks/>
          </p:cNvSpPr>
          <p:nvPr/>
        </p:nvSpPr>
        <p:spPr>
          <a:xfrm>
            <a:off x="5877907" y="1581560"/>
            <a:ext cx="4688114" cy="4628301"/>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400" dirty="0">
                <a:latin typeface="Arial" panose="020B0604020202020204" pitchFamily="34" charset="0"/>
                <a:cs typeface="Arial" panose="020B0604020202020204" pitchFamily="34" charset="0"/>
              </a:rPr>
              <a:t>La clase </a:t>
            </a:r>
            <a:r>
              <a:rPr lang="es-MX" sz="1400" dirty="0" err="1">
                <a:latin typeface="Arial" panose="020B0604020202020204" pitchFamily="34" charset="0"/>
                <a:cs typeface="Arial" panose="020B0604020202020204" pitchFamily="34" charset="0"/>
              </a:rPr>
              <a:t>MainApplication</a:t>
            </a:r>
            <a:r>
              <a:rPr lang="es-MX" sz="1400" dirty="0">
                <a:latin typeface="Arial" panose="020B0604020202020204" pitchFamily="34" charset="0"/>
                <a:cs typeface="Arial" panose="020B0604020202020204" pitchFamily="34" charset="0"/>
              </a:rPr>
              <a:t> es la clase principal de la aplicación y constituye el punto de entrada del sistema. Hereda de la clase </a:t>
            </a:r>
            <a:r>
              <a:rPr lang="es-MX" sz="1400" dirty="0" err="1">
                <a:latin typeface="Arial" panose="020B0604020202020204" pitchFamily="34" charset="0"/>
                <a:cs typeface="Arial" panose="020B0604020202020204" pitchFamily="34" charset="0"/>
              </a:rPr>
              <a:t>Application</a:t>
            </a:r>
            <a:r>
              <a:rPr lang="es-MX" sz="1400" dirty="0">
                <a:latin typeface="Arial" panose="020B0604020202020204" pitchFamily="34" charset="0"/>
                <a:cs typeface="Arial" panose="020B0604020202020204" pitchFamily="34" charset="0"/>
              </a:rPr>
              <a:t> proporcionada por </a:t>
            </a:r>
            <a:r>
              <a:rPr lang="es-MX" sz="1400" dirty="0" err="1">
                <a:latin typeface="Arial" panose="020B0604020202020204" pitchFamily="34" charset="0"/>
                <a:cs typeface="Arial" panose="020B0604020202020204" pitchFamily="34" charset="0"/>
              </a:rPr>
              <a:t>JavaFX</a:t>
            </a:r>
            <a:r>
              <a:rPr lang="es-MX" sz="1400" dirty="0">
                <a:latin typeface="Arial" panose="020B0604020202020204" pitchFamily="34" charset="0"/>
                <a:cs typeface="Arial" panose="020B0604020202020204" pitchFamily="34" charset="0"/>
              </a:rPr>
              <a:t>, lo que permite inicializar y ejecutar la interfaz gráfica del programa.</a:t>
            </a:r>
          </a:p>
          <a:p>
            <a:pPr algn="just"/>
            <a:r>
              <a:rPr lang="es-MX" sz="1400" dirty="0">
                <a:latin typeface="Arial" panose="020B0604020202020204" pitchFamily="34" charset="0"/>
                <a:cs typeface="Arial" panose="020B0604020202020204" pitchFamily="34" charset="0"/>
              </a:rPr>
              <a:t>Su función principal es cargar el archivo </a:t>
            </a:r>
            <a:r>
              <a:rPr lang="es-MX" sz="1400" dirty="0" err="1">
                <a:latin typeface="Arial" panose="020B0604020202020204" pitchFamily="34" charset="0"/>
                <a:cs typeface="Arial" panose="020B0604020202020204" pitchFamily="34" charset="0"/>
              </a:rPr>
              <a:t>main-view.fxml</a:t>
            </a:r>
            <a:r>
              <a:rPr lang="es-MX" sz="1400" dirty="0">
                <a:latin typeface="Arial" panose="020B0604020202020204" pitchFamily="34" charset="0"/>
                <a:cs typeface="Arial" panose="020B0604020202020204" pitchFamily="34" charset="0"/>
              </a:rPr>
              <a:t> mediante </a:t>
            </a:r>
            <a:r>
              <a:rPr lang="es-MX" sz="1400" dirty="0" err="1">
                <a:latin typeface="Arial" panose="020B0604020202020204" pitchFamily="34" charset="0"/>
                <a:cs typeface="Arial" panose="020B0604020202020204" pitchFamily="34" charset="0"/>
              </a:rPr>
              <a:t>FXMLLoader</a:t>
            </a:r>
            <a:r>
              <a:rPr lang="es-MX" sz="1400" dirty="0">
                <a:latin typeface="Arial" panose="020B0604020202020204" pitchFamily="34" charset="0"/>
                <a:cs typeface="Arial" panose="020B0604020202020204" pitchFamily="34" charset="0"/>
              </a:rPr>
              <a:t>, crear la escena (</a:t>
            </a:r>
            <a:r>
              <a:rPr lang="es-MX" sz="1400" dirty="0" err="1">
                <a:latin typeface="Arial" panose="020B0604020202020204" pitchFamily="34" charset="0"/>
                <a:cs typeface="Arial" panose="020B0604020202020204" pitchFamily="34" charset="0"/>
              </a:rPr>
              <a:t>Scene</a:t>
            </a:r>
            <a:r>
              <a:rPr lang="es-MX" sz="1400" dirty="0">
                <a:latin typeface="Arial" panose="020B0604020202020204" pitchFamily="34" charset="0"/>
                <a:cs typeface="Arial" panose="020B0604020202020204" pitchFamily="34" charset="0"/>
              </a:rPr>
              <a:t>) a partir de la interfaz definida en FXML y configurar la ventana principal (</a:t>
            </a:r>
            <a:r>
              <a:rPr lang="es-MX" sz="1400" dirty="0" err="1">
                <a:latin typeface="Arial" panose="020B0604020202020204" pitchFamily="34" charset="0"/>
                <a:cs typeface="Arial" panose="020B0604020202020204" pitchFamily="34" charset="0"/>
              </a:rPr>
              <a:t>Stage</a:t>
            </a:r>
            <a:r>
              <a:rPr lang="es-MX" sz="1400" dirty="0">
                <a:latin typeface="Arial" panose="020B0604020202020204" pitchFamily="34" charset="0"/>
                <a:cs typeface="Arial" panose="020B0604020202020204" pitchFamily="34" charset="0"/>
              </a:rPr>
              <a:t>). También establece el título de la aplicación como “Simulador de Variables Aleatorias”, asigna la escena a la ventana y finalmente la muestra al usuario.</a:t>
            </a:r>
          </a:p>
          <a:p>
            <a:pPr algn="just"/>
            <a:r>
              <a:rPr lang="es-MX" sz="1400" dirty="0">
                <a:latin typeface="Arial" panose="020B0604020202020204" pitchFamily="34" charset="0"/>
                <a:cs typeface="Arial" panose="020B0604020202020204" pitchFamily="34" charset="0"/>
              </a:rPr>
              <a:t>El método </a:t>
            </a:r>
            <a:r>
              <a:rPr lang="es-MX" sz="1400" dirty="0" err="1">
                <a:latin typeface="Arial" panose="020B0604020202020204" pitchFamily="34" charset="0"/>
                <a:cs typeface="Arial" panose="020B0604020202020204" pitchFamily="34" charset="0"/>
              </a:rPr>
              <a:t>main</a:t>
            </a:r>
            <a:r>
              <a:rPr lang="es-MX" sz="1400" dirty="0">
                <a:latin typeface="Arial" panose="020B0604020202020204" pitchFamily="34" charset="0"/>
                <a:cs typeface="Arial" panose="020B0604020202020204" pitchFamily="34" charset="0"/>
              </a:rPr>
              <a:t>() utiliza </a:t>
            </a:r>
            <a:r>
              <a:rPr lang="es-MX" sz="1400" dirty="0" err="1">
                <a:latin typeface="Arial" panose="020B0604020202020204" pitchFamily="34" charset="0"/>
                <a:cs typeface="Arial" panose="020B0604020202020204" pitchFamily="34" charset="0"/>
              </a:rPr>
              <a:t>launch</a:t>
            </a:r>
            <a:r>
              <a:rPr lang="es-MX" sz="1400" dirty="0">
                <a:latin typeface="Arial" panose="020B0604020202020204" pitchFamily="34" charset="0"/>
                <a:cs typeface="Arial" panose="020B0604020202020204" pitchFamily="34" charset="0"/>
              </a:rPr>
              <a:t>() para iniciar el ciclo de vida de </a:t>
            </a:r>
            <a:r>
              <a:rPr lang="es-MX" sz="1400" dirty="0" err="1">
                <a:latin typeface="Arial" panose="020B0604020202020204" pitchFamily="34" charset="0"/>
                <a:cs typeface="Arial" panose="020B0604020202020204" pitchFamily="34" charset="0"/>
              </a:rPr>
              <a:t>JavaFX</a:t>
            </a:r>
            <a:r>
              <a:rPr lang="es-MX" sz="1400" dirty="0">
                <a:latin typeface="Arial" panose="020B0604020202020204" pitchFamily="34" charset="0"/>
                <a:cs typeface="Arial" panose="020B0604020202020204" pitchFamily="34" charset="0"/>
              </a:rPr>
              <a:t>, mientras que el método </a:t>
            </a:r>
            <a:r>
              <a:rPr lang="es-MX" sz="1400" dirty="0" err="1">
                <a:latin typeface="Arial" panose="020B0604020202020204" pitchFamily="34" charset="0"/>
                <a:cs typeface="Arial" panose="020B0604020202020204" pitchFamily="34" charset="0"/>
              </a:rPr>
              <a:t>start</a:t>
            </a:r>
            <a:r>
              <a:rPr lang="es-MX" sz="1400" dirty="0">
                <a:latin typeface="Arial" panose="020B0604020202020204" pitchFamily="34" charset="0"/>
                <a:cs typeface="Arial" panose="020B0604020202020204" pitchFamily="34" charset="0"/>
              </a:rPr>
              <a:t>() contiene la configuración inicial de la interfaz gráfica.</a:t>
            </a:r>
          </a:p>
          <a:p>
            <a:pPr algn="just"/>
            <a:r>
              <a:rPr lang="es-MX" sz="1400" dirty="0">
                <a:latin typeface="Arial" panose="020B0604020202020204" pitchFamily="34" charset="0"/>
                <a:cs typeface="Arial" panose="020B0604020202020204" pitchFamily="34" charset="0"/>
              </a:rPr>
              <a:t>Responsabilidad principal: iniciar la aplicación </a:t>
            </a:r>
            <a:r>
              <a:rPr lang="es-MX" sz="1400" dirty="0" err="1">
                <a:latin typeface="Arial" panose="020B0604020202020204" pitchFamily="34" charset="0"/>
                <a:cs typeface="Arial" panose="020B0604020202020204" pitchFamily="34" charset="0"/>
              </a:rPr>
              <a:t>JavaFX</a:t>
            </a:r>
            <a:r>
              <a:rPr lang="es-MX" sz="1400" dirty="0">
                <a:latin typeface="Arial" panose="020B0604020202020204" pitchFamily="34" charset="0"/>
                <a:cs typeface="Arial" panose="020B0604020202020204" pitchFamily="34" charset="0"/>
              </a:rPr>
              <a:t> y mostrar la ventana principal del simulador..</a:t>
            </a:r>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MainApplication.java</a:t>
            </a:r>
          </a:p>
        </p:txBody>
      </p:sp>
      <p:pic>
        <p:nvPicPr>
          <p:cNvPr id="4" name="Imagen 3">
            <a:extLst>
              <a:ext uri="{FF2B5EF4-FFF2-40B4-BE49-F238E27FC236}">
                <a16:creationId xmlns:a16="http://schemas.microsoft.com/office/drawing/2014/main" id="{4B3357A8-2609-4C7D-9CDA-67DF2CA37A5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34921" y="1347080"/>
            <a:ext cx="4822417" cy="5097262"/>
          </a:xfrm>
          <a:prstGeom prst="rect">
            <a:avLst/>
          </a:prstGeom>
        </p:spPr>
      </p:pic>
    </p:spTree>
    <p:extLst>
      <p:ext uri="{BB962C8B-B14F-4D97-AF65-F5344CB8AC3E}">
        <p14:creationId xmlns:p14="http://schemas.microsoft.com/office/powerpoint/2010/main" val="1926512782"/>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ángulo 18">
            <a:extLst>
              <a:ext uri="{FF2B5EF4-FFF2-40B4-BE49-F238E27FC236}">
                <a16:creationId xmlns:a16="http://schemas.microsoft.com/office/drawing/2014/main" id="{F63D3981-118F-4BCF-80D5-EDE659EA45F6}"/>
              </a:ext>
            </a:extLst>
          </p:cNvPr>
          <p:cNvSpPr/>
          <p:nvPr/>
        </p:nvSpPr>
        <p:spPr>
          <a:xfrm>
            <a:off x="5710220" y="1347080"/>
            <a:ext cx="5023489" cy="5097263"/>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Marcador de texto 8">
            <a:extLst>
              <a:ext uri="{FF2B5EF4-FFF2-40B4-BE49-F238E27FC236}">
                <a16:creationId xmlns:a16="http://schemas.microsoft.com/office/drawing/2014/main" id="{5D7C41EF-F0A1-40D6-BC10-D60D83CF8167}"/>
              </a:ext>
            </a:extLst>
          </p:cNvPr>
          <p:cNvSpPr txBox="1">
            <a:spLocks/>
          </p:cNvSpPr>
          <p:nvPr/>
        </p:nvSpPr>
        <p:spPr>
          <a:xfrm>
            <a:off x="5877907" y="1347080"/>
            <a:ext cx="4688114" cy="5097262"/>
          </a:xfrm>
          <a:prstGeom prst="rect">
            <a:avLst/>
          </a:prstGeom>
        </p:spPr>
        <p:txBody>
          <a:bodyPr vert="horz" lIns="91440" tIns="45720" rIns="91440" bIns="45720" rtlCol="0">
            <a:no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100" dirty="0">
                <a:latin typeface="Arial" panose="020B0604020202020204" pitchFamily="34" charset="0"/>
                <a:cs typeface="Arial" panose="020B0604020202020204" pitchFamily="34" charset="0"/>
              </a:rPr>
              <a:t>La clase </a:t>
            </a:r>
            <a:r>
              <a:rPr lang="es-MX" sz="1100" dirty="0" err="1">
                <a:latin typeface="Arial" panose="020B0604020202020204" pitchFamily="34" charset="0"/>
                <a:cs typeface="Arial" panose="020B0604020202020204" pitchFamily="34" charset="0"/>
              </a:rPr>
              <a:t>MainController</a:t>
            </a:r>
            <a:r>
              <a:rPr lang="es-MX" sz="1100" dirty="0">
                <a:latin typeface="Arial" panose="020B0604020202020204" pitchFamily="34" charset="0"/>
                <a:cs typeface="Arial" panose="020B0604020202020204" pitchFamily="34" charset="0"/>
              </a:rPr>
              <a:t> es el controlador asociado a la ventana principal y se encarga de gestionar las acciones realizadas por el usuario sobre los diferentes botones del menú.</a:t>
            </a:r>
          </a:p>
          <a:p>
            <a:pPr algn="just"/>
            <a:r>
              <a:rPr lang="es-MX" sz="1100" dirty="0">
                <a:latin typeface="Arial" panose="020B0604020202020204" pitchFamily="34" charset="0"/>
                <a:cs typeface="Arial" panose="020B0604020202020204" pitchFamily="34" charset="0"/>
              </a:rPr>
              <a:t>La clase utiliza la anotación @FXML para establecer la conexión entre los elementos definidos en </a:t>
            </a:r>
            <a:r>
              <a:rPr lang="es-MX" sz="1100" dirty="0" err="1">
                <a:latin typeface="Arial" panose="020B0604020202020204" pitchFamily="34" charset="0"/>
                <a:cs typeface="Arial" panose="020B0604020202020204" pitchFamily="34" charset="0"/>
              </a:rPr>
              <a:t>main-view.fxml</a:t>
            </a:r>
            <a:r>
              <a:rPr lang="es-MX" sz="1100" dirty="0">
                <a:latin typeface="Arial" panose="020B0604020202020204" pitchFamily="34" charset="0"/>
                <a:cs typeface="Arial" panose="020B0604020202020204" pitchFamily="34" charset="0"/>
              </a:rPr>
              <a:t> y los métodos Java que responden a sus eventos. Cada módulo posee un método específico que permite abrir su correspondiente ventana.</a:t>
            </a:r>
          </a:p>
          <a:p>
            <a:pPr algn="just"/>
            <a:r>
              <a:rPr lang="es-MX" sz="1100" dirty="0">
                <a:latin typeface="Arial" panose="020B0604020202020204" pitchFamily="34" charset="0"/>
                <a:cs typeface="Arial" panose="020B0604020202020204" pitchFamily="34" charset="0"/>
              </a:rPr>
              <a:t>Los métodos principales son:</a:t>
            </a:r>
          </a:p>
          <a:p>
            <a:pPr marL="285750" indent="-285750" algn="just">
              <a:buFont typeface="Wingdings" panose="05000000000000000000" pitchFamily="2" charset="2"/>
              <a:buChar char="q"/>
            </a:pPr>
            <a:r>
              <a:rPr lang="es-MX" sz="1100" dirty="0" err="1">
                <a:latin typeface="Arial" panose="020B0604020202020204" pitchFamily="34" charset="0"/>
                <a:cs typeface="Arial" panose="020B0604020202020204" pitchFamily="34" charset="0"/>
              </a:rPr>
              <a:t>onDiscretasButtonClick</a:t>
            </a:r>
            <a:r>
              <a:rPr lang="es-MX" sz="1100" dirty="0">
                <a:latin typeface="Arial" panose="020B0604020202020204" pitchFamily="34" charset="0"/>
                <a:cs typeface="Arial" panose="020B0604020202020204" pitchFamily="34" charset="0"/>
              </a:rPr>
              <a:t>(): abre el módulo de variables aleatorias discretas.</a:t>
            </a:r>
          </a:p>
          <a:p>
            <a:pPr marL="285750" indent="-285750" algn="just">
              <a:buFont typeface="Wingdings" panose="05000000000000000000" pitchFamily="2" charset="2"/>
              <a:buChar char="q"/>
            </a:pPr>
            <a:r>
              <a:rPr lang="es-MX" sz="1100" dirty="0" err="1">
                <a:latin typeface="Arial" panose="020B0604020202020204" pitchFamily="34" charset="0"/>
                <a:cs typeface="Arial" panose="020B0604020202020204" pitchFamily="34" charset="0"/>
              </a:rPr>
              <a:t>onContinuasButtonClick</a:t>
            </a:r>
            <a:r>
              <a:rPr lang="es-MX" sz="1100" dirty="0">
                <a:latin typeface="Arial" panose="020B0604020202020204" pitchFamily="34" charset="0"/>
                <a:cs typeface="Arial" panose="020B0604020202020204" pitchFamily="34" charset="0"/>
              </a:rPr>
              <a:t>(): abre el módulo de variables aleatorias continuas.</a:t>
            </a:r>
          </a:p>
          <a:p>
            <a:pPr marL="285750" indent="-285750" algn="just">
              <a:buFont typeface="Wingdings" panose="05000000000000000000" pitchFamily="2" charset="2"/>
              <a:buChar char="q"/>
            </a:pPr>
            <a:r>
              <a:rPr lang="es-MX" sz="1100" dirty="0" err="1">
                <a:latin typeface="Arial" panose="020B0604020202020204" pitchFamily="34" charset="0"/>
                <a:cs typeface="Arial" panose="020B0604020202020204" pitchFamily="34" charset="0"/>
              </a:rPr>
              <a:t>onMetodosButtonClick</a:t>
            </a:r>
            <a:r>
              <a:rPr lang="es-MX" sz="1100" dirty="0">
                <a:latin typeface="Arial" panose="020B0604020202020204" pitchFamily="34" charset="0"/>
                <a:cs typeface="Arial" panose="020B0604020202020204" pitchFamily="34" charset="0"/>
              </a:rPr>
              <a:t>(): abre el módulo de métodos de generación.</a:t>
            </a:r>
          </a:p>
          <a:p>
            <a:pPr marL="285750" indent="-285750" algn="just">
              <a:buFont typeface="Wingdings" panose="05000000000000000000" pitchFamily="2" charset="2"/>
              <a:buChar char="q"/>
            </a:pPr>
            <a:r>
              <a:rPr lang="es-MX" sz="1100" dirty="0" err="1">
                <a:latin typeface="Arial" panose="020B0604020202020204" pitchFamily="34" charset="0"/>
                <a:cs typeface="Arial" panose="020B0604020202020204" pitchFamily="34" charset="0"/>
              </a:rPr>
              <a:t>onProcedimientosButtonClick</a:t>
            </a:r>
            <a:r>
              <a:rPr lang="es-MX" sz="1100" dirty="0">
                <a:latin typeface="Arial" panose="020B0604020202020204" pitchFamily="34" charset="0"/>
                <a:cs typeface="Arial" panose="020B0604020202020204" pitchFamily="34" charset="0"/>
              </a:rPr>
              <a:t>(): abre el módulo de procedimientos especiales.</a:t>
            </a:r>
          </a:p>
          <a:p>
            <a:pPr marL="285750" indent="-285750" algn="just">
              <a:buFont typeface="Wingdings" panose="05000000000000000000" pitchFamily="2" charset="2"/>
              <a:buChar char="q"/>
            </a:pPr>
            <a:r>
              <a:rPr lang="es-MX" sz="1100" dirty="0" err="1">
                <a:latin typeface="Arial" panose="020B0604020202020204" pitchFamily="34" charset="0"/>
                <a:cs typeface="Arial" panose="020B0604020202020204" pitchFamily="34" charset="0"/>
              </a:rPr>
              <a:t>onPruebasButtonClick</a:t>
            </a:r>
            <a:r>
              <a:rPr lang="es-MX" sz="1100" dirty="0">
                <a:latin typeface="Arial" panose="020B0604020202020204" pitchFamily="34" charset="0"/>
                <a:cs typeface="Arial" panose="020B0604020202020204" pitchFamily="34" charset="0"/>
              </a:rPr>
              <a:t>(): abre el módulo de pruebas estadísticas.</a:t>
            </a:r>
          </a:p>
          <a:p>
            <a:pPr marL="285750" indent="-285750" algn="just">
              <a:buFont typeface="Wingdings" panose="05000000000000000000" pitchFamily="2" charset="2"/>
              <a:buChar char="q"/>
            </a:pPr>
            <a:r>
              <a:rPr lang="es-MX" sz="1100" dirty="0" err="1">
                <a:latin typeface="Arial" panose="020B0604020202020204" pitchFamily="34" charset="0"/>
                <a:cs typeface="Arial" panose="020B0604020202020204" pitchFamily="34" charset="0"/>
              </a:rPr>
              <a:t>onSalirButtonClick</a:t>
            </a:r>
            <a:r>
              <a:rPr lang="es-MX" sz="1100" dirty="0">
                <a:latin typeface="Arial" panose="020B0604020202020204" pitchFamily="34" charset="0"/>
                <a:cs typeface="Arial" panose="020B0604020202020204" pitchFamily="34" charset="0"/>
              </a:rPr>
              <a:t>(): finaliza la ejecución del programa.</a:t>
            </a:r>
          </a:p>
          <a:p>
            <a:pPr algn="just"/>
            <a:r>
              <a:rPr lang="es-MX" sz="1100" dirty="0">
                <a:latin typeface="Arial" panose="020B0604020202020204" pitchFamily="34" charset="0"/>
                <a:cs typeface="Arial" panose="020B0604020202020204" pitchFamily="34" charset="0"/>
              </a:rPr>
              <a:t>La navegación entre ventanas se centraliza mediante el método </a:t>
            </a:r>
            <a:r>
              <a:rPr lang="es-MX" sz="1100" dirty="0" err="1">
                <a:latin typeface="Arial" panose="020B0604020202020204" pitchFamily="34" charset="0"/>
                <a:cs typeface="Arial" panose="020B0604020202020204" pitchFamily="34" charset="0"/>
              </a:rPr>
              <a:t>abrirVentanaSecundaria</a:t>
            </a:r>
            <a:r>
              <a:rPr lang="es-MX" sz="1100" dirty="0">
                <a:latin typeface="Arial" panose="020B0604020202020204" pitchFamily="34" charset="0"/>
                <a:cs typeface="Arial" panose="020B0604020202020204" pitchFamily="34" charset="0"/>
              </a:rPr>
              <a:t>(). </a:t>
            </a:r>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MainController</a:t>
            </a:r>
            <a:endPar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endParaRPr>
          </a:p>
        </p:txBody>
      </p:sp>
      <p:pic>
        <p:nvPicPr>
          <p:cNvPr id="2" name="Imagen 1">
            <a:extLst>
              <a:ext uri="{FF2B5EF4-FFF2-40B4-BE49-F238E27FC236}">
                <a16:creationId xmlns:a16="http://schemas.microsoft.com/office/drawing/2014/main" id="{C7827EF8-74A2-4113-87AE-2485356B183B}"/>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34921" y="1347080"/>
            <a:ext cx="4929363" cy="5097262"/>
          </a:xfrm>
          <a:prstGeom prst="rect">
            <a:avLst/>
          </a:prstGeom>
        </p:spPr>
      </p:pic>
    </p:spTree>
    <p:extLst>
      <p:ext uri="{BB962C8B-B14F-4D97-AF65-F5344CB8AC3E}">
        <p14:creationId xmlns:p14="http://schemas.microsoft.com/office/powerpoint/2010/main" val="2143128790"/>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ángulo 18">
            <a:extLst>
              <a:ext uri="{FF2B5EF4-FFF2-40B4-BE49-F238E27FC236}">
                <a16:creationId xmlns:a16="http://schemas.microsoft.com/office/drawing/2014/main" id="{F63D3981-118F-4BCF-80D5-EDE659EA45F6}"/>
              </a:ext>
            </a:extLst>
          </p:cNvPr>
          <p:cNvSpPr/>
          <p:nvPr/>
        </p:nvSpPr>
        <p:spPr>
          <a:xfrm>
            <a:off x="5710220" y="1347080"/>
            <a:ext cx="5023489" cy="5097263"/>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Marcador de texto 8">
            <a:extLst>
              <a:ext uri="{FF2B5EF4-FFF2-40B4-BE49-F238E27FC236}">
                <a16:creationId xmlns:a16="http://schemas.microsoft.com/office/drawing/2014/main" id="{5D7C41EF-F0A1-40D6-BC10-D60D83CF8167}"/>
              </a:ext>
            </a:extLst>
          </p:cNvPr>
          <p:cNvSpPr txBox="1">
            <a:spLocks/>
          </p:cNvSpPr>
          <p:nvPr/>
        </p:nvSpPr>
        <p:spPr>
          <a:xfrm>
            <a:off x="5877907" y="1581560"/>
            <a:ext cx="4688114" cy="4628301"/>
          </a:xfrm>
          <a:prstGeom prst="rect">
            <a:avLst/>
          </a:prstGeom>
        </p:spPr>
        <p:txBody>
          <a:bodyPr vert="horz" lIns="91440" tIns="45720" rIns="91440" bIns="45720" rtlCol="0">
            <a:normAutofit fontScale="92500" lnSpcReduction="10000"/>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400" dirty="0">
                <a:latin typeface="Arial" panose="020B0604020202020204" pitchFamily="34" charset="0"/>
                <a:cs typeface="Arial" panose="020B0604020202020204" pitchFamily="34" charset="0"/>
              </a:rPr>
              <a:t>El archivo </a:t>
            </a:r>
            <a:r>
              <a:rPr lang="es-MX" sz="1400" dirty="0" err="1">
                <a:latin typeface="Arial" panose="020B0604020202020204" pitchFamily="34" charset="0"/>
                <a:cs typeface="Arial" panose="020B0604020202020204" pitchFamily="34" charset="0"/>
              </a:rPr>
              <a:t>main-view.fxml</a:t>
            </a:r>
            <a:r>
              <a:rPr lang="es-MX" sz="1400" dirty="0">
                <a:latin typeface="Arial" panose="020B0604020202020204" pitchFamily="34" charset="0"/>
                <a:cs typeface="Arial" panose="020B0604020202020204" pitchFamily="34" charset="0"/>
              </a:rPr>
              <a:t> define la estructura visual de la ventana principal del programa utilizando </a:t>
            </a:r>
            <a:r>
              <a:rPr lang="es-MX" sz="1400" dirty="0" err="1">
                <a:latin typeface="Arial" panose="020B0604020202020204" pitchFamily="34" charset="0"/>
                <a:cs typeface="Arial" panose="020B0604020202020204" pitchFamily="34" charset="0"/>
              </a:rPr>
              <a:t>JavaFX</a:t>
            </a:r>
            <a:r>
              <a:rPr lang="es-MX" sz="1400" dirty="0">
                <a:latin typeface="Arial" panose="020B0604020202020204" pitchFamily="34" charset="0"/>
                <a:cs typeface="Arial" panose="020B0604020202020204" pitchFamily="34" charset="0"/>
              </a:rPr>
              <a:t> FXML. No corresponde a una clase Java, pero es un componente fundamental de la interfaz.</a:t>
            </a:r>
          </a:p>
          <a:p>
            <a:pPr algn="just"/>
            <a:r>
              <a:rPr lang="es-MX" sz="1400" dirty="0">
                <a:latin typeface="Arial" panose="020B0604020202020204" pitchFamily="34" charset="0"/>
                <a:cs typeface="Arial" panose="020B0604020202020204" pitchFamily="34" charset="0"/>
              </a:rPr>
              <a:t>La ventana contiene un encabezado con el nombre del programa, una descripción general y un apartado denominado “MÓDULOS DEL SIMULADOR”. Los diferentes módulos se organizan mediante un </a:t>
            </a:r>
            <a:r>
              <a:rPr lang="es-MX" sz="1400" dirty="0" err="1">
                <a:latin typeface="Arial" panose="020B0604020202020204" pitchFamily="34" charset="0"/>
                <a:cs typeface="Arial" panose="020B0604020202020204" pitchFamily="34" charset="0"/>
              </a:rPr>
              <a:t>GridPane</a:t>
            </a:r>
            <a:r>
              <a:rPr lang="es-MX" sz="1400" dirty="0">
                <a:latin typeface="Arial" panose="020B0604020202020204" pitchFamily="34" charset="0"/>
                <a:cs typeface="Arial" panose="020B0604020202020204" pitchFamily="34" charset="0"/>
              </a:rPr>
              <a:t> en forma de tarjetas.</a:t>
            </a:r>
          </a:p>
          <a:p>
            <a:pPr algn="just"/>
            <a:r>
              <a:rPr lang="es-MX" sz="1400" dirty="0">
                <a:latin typeface="Arial" panose="020B0604020202020204" pitchFamily="34" charset="0"/>
                <a:cs typeface="Arial" panose="020B0604020202020204" pitchFamily="34" charset="0"/>
              </a:rPr>
              <a:t>Cada tarjeta contiene un icono, un título, una descripción y un botón de acceso. Los botones están vinculados mediante </a:t>
            </a:r>
            <a:r>
              <a:rPr lang="es-MX" sz="1400" dirty="0" err="1">
                <a:latin typeface="Arial" panose="020B0604020202020204" pitchFamily="34" charset="0"/>
                <a:cs typeface="Arial" panose="020B0604020202020204" pitchFamily="34" charset="0"/>
              </a:rPr>
              <a:t>onAction</a:t>
            </a:r>
            <a:r>
              <a:rPr lang="es-MX" sz="1400" dirty="0">
                <a:latin typeface="Arial" panose="020B0604020202020204" pitchFamily="34" charset="0"/>
                <a:cs typeface="Arial" panose="020B0604020202020204" pitchFamily="34" charset="0"/>
              </a:rPr>
              <a:t> con los métodos correspondientes de </a:t>
            </a:r>
            <a:r>
              <a:rPr lang="es-MX" sz="1400" dirty="0" err="1">
                <a:latin typeface="Arial" panose="020B0604020202020204" pitchFamily="34" charset="0"/>
                <a:cs typeface="Arial" panose="020B0604020202020204" pitchFamily="34" charset="0"/>
              </a:rPr>
              <a:t>MainController</a:t>
            </a:r>
            <a:r>
              <a:rPr lang="es-MX" sz="1400" dirty="0">
                <a:latin typeface="Arial" panose="020B0604020202020204" pitchFamily="34" charset="0"/>
                <a:cs typeface="Arial" panose="020B0604020202020204" pitchFamily="34" charset="0"/>
              </a:rPr>
              <a:t>.</a:t>
            </a:r>
          </a:p>
          <a:p>
            <a:pPr algn="just"/>
            <a:r>
              <a:rPr lang="es-MX" sz="1400" dirty="0">
                <a:latin typeface="Arial" panose="020B0604020202020204" pitchFamily="34" charset="0"/>
                <a:cs typeface="Arial" panose="020B0604020202020204" pitchFamily="34" charset="0"/>
              </a:rPr>
              <a:t>Los módulos disponibles desde la ventana principal son variables discretas, variables continuas, métodos de generación, procedimientos especiales y pruebas estadísticas. También se incluye un botón para salir del simulador y un pie de página con información general del proyecto.</a:t>
            </a:r>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main-view.fxml</a:t>
            </a: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 </a:t>
            </a:r>
          </a:p>
        </p:txBody>
      </p:sp>
      <p:pic>
        <p:nvPicPr>
          <p:cNvPr id="5" name="Imagen 4">
            <a:extLst>
              <a:ext uri="{FF2B5EF4-FFF2-40B4-BE49-F238E27FC236}">
                <a16:creationId xmlns:a16="http://schemas.microsoft.com/office/drawing/2014/main" id="{910F8296-E65E-4A59-8E8C-6948C55387FF}"/>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34921" y="1347080"/>
            <a:ext cx="4848173" cy="5097263"/>
          </a:xfrm>
          <a:prstGeom prst="rect">
            <a:avLst/>
          </a:prstGeom>
        </p:spPr>
      </p:pic>
    </p:spTree>
    <p:extLst>
      <p:ext uri="{BB962C8B-B14F-4D97-AF65-F5344CB8AC3E}">
        <p14:creationId xmlns:p14="http://schemas.microsoft.com/office/powerpoint/2010/main" val="87974852"/>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ángulo 18">
            <a:extLst>
              <a:ext uri="{FF2B5EF4-FFF2-40B4-BE49-F238E27FC236}">
                <a16:creationId xmlns:a16="http://schemas.microsoft.com/office/drawing/2014/main" id="{F63D3981-118F-4BCF-80D5-EDE659EA45F6}"/>
              </a:ext>
            </a:extLst>
          </p:cNvPr>
          <p:cNvSpPr/>
          <p:nvPr/>
        </p:nvSpPr>
        <p:spPr>
          <a:xfrm>
            <a:off x="5804345" y="1368672"/>
            <a:ext cx="5269424" cy="533916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Marcador de texto 8">
            <a:extLst>
              <a:ext uri="{FF2B5EF4-FFF2-40B4-BE49-F238E27FC236}">
                <a16:creationId xmlns:a16="http://schemas.microsoft.com/office/drawing/2014/main" id="{5D7C41EF-F0A1-40D6-BC10-D60D83CF8167}"/>
              </a:ext>
            </a:extLst>
          </p:cNvPr>
          <p:cNvSpPr txBox="1">
            <a:spLocks/>
          </p:cNvSpPr>
          <p:nvPr/>
        </p:nvSpPr>
        <p:spPr>
          <a:xfrm>
            <a:off x="5856909" y="2393577"/>
            <a:ext cx="5216860" cy="3402105"/>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600" dirty="0">
                <a:latin typeface="Arial" panose="020B0604020202020204" pitchFamily="34" charset="0"/>
                <a:cs typeface="Arial" panose="020B0604020202020204" pitchFamily="34" charset="0"/>
              </a:rPr>
              <a:t>Figura 1: Interfaz gráfica principal del programa de </a:t>
            </a:r>
            <a:r>
              <a:rPr lang="es-MX" sz="1600" dirty="0" err="1">
                <a:latin typeface="Arial" panose="020B0604020202020204" pitchFamily="34" charset="0"/>
                <a:cs typeface="Arial" panose="020B0604020202020204" pitchFamily="34" charset="0"/>
              </a:rPr>
              <a:t>simulacion</a:t>
            </a:r>
            <a:r>
              <a:rPr lang="es-MX" sz="1600" dirty="0">
                <a:latin typeface="Arial" panose="020B0604020202020204" pitchFamily="34" charset="0"/>
                <a:cs typeface="Arial" panose="020B0604020202020204" pitchFamily="34" charset="0"/>
              </a:rPr>
              <a:t> en ejecución (</a:t>
            </a:r>
            <a:r>
              <a:rPr lang="es-MX" sz="1600" dirty="0" err="1">
                <a:latin typeface="Arial" panose="020B0604020202020204" pitchFamily="34" charset="0"/>
                <a:cs typeface="Arial" panose="020B0604020202020204" pitchFamily="34" charset="0"/>
              </a:rPr>
              <a:t>main-view.fxml</a:t>
            </a:r>
            <a:r>
              <a:rPr lang="es-MX" sz="1600" dirty="0">
                <a:latin typeface="Arial" panose="020B0604020202020204" pitchFamily="34" charset="0"/>
                <a:cs typeface="Arial" panose="020B0604020202020204" pitchFamily="34" charset="0"/>
              </a:rPr>
              <a:t>).</a:t>
            </a:r>
          </a:p>
          <a:p>
            <a:pPr algn="just"/>
            <a:endParaRPr lang="es-MX" sz="1600" dirty="0">
              <a:latin typeface="Arial" panose="020B0604020202020204" pitchFamily="34" charset="0"/>
              <a:cs typeface="Arial" panose="020B0604020202020204" pitchFamily="34" charset="0"/>
            </a:endParaRPr>
          </a:p>
          <a:p>
            <a:pPr algn="just"/>
            <a:r>
              <a:rPr lang="es-MX" sz="1600" dirty="0">
                <a:latin typeface="Arial" panose="020B0604020202020204" pitchFamily="34" charset="0"/>
                <a:cs typeface="Arial" panose="020B0604020202020204" pitchFamily="34" charset="0"/>
              </a:rPr>
              <a:t>Se muestra la ventana activa con el panel de configuración de parámetros de entrada cargados, en este caso se muestra dos opciones de simulación que el usuario desee elegir</a:t>
            </a:r>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main-view.fxml</a:t>
            </a:r>
            <a:endPar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endParaRPr>
          </a:p>
        </p:txBody>
      </p:sp>
      <p:pic>
        <p:nvPicPr>
          <p:cNvPr id="3" name="Imagen 2">
            <a:extLst>
              <a:ext uri="{FF2B5EF4-FFF2-40B4-BE49-F238E27FC236}">
                <a16:creationId xmlns:a16="http://schemas.microsoft.com/office/drawing/2014/main" id="{C749C734-DF95-46C3-ABA5-0F6C9F81753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34921" y="2106741"/>
            <a:ext cx="5083386" cy="3688941"/>
          </a:xfrm>
          <a:prstGeom prst="rect">
            <a:avLst/>
          </a:prstGeom>
        </p:spPr>
      </p:pic>
      <p:sp>
        <p:nvSpPr>
          <p:cNvPr id="5" name="CuadroTexto 4">
            <a:extLst>
              <a:ext uri="{FF2B5EF4-FFF2-40B4-BE49-F238E27FC236}">
                <a16:creationId xmlns:a16="http://schemas.microsoft.com/office/drawing/2014/main" id="{10972AF0-265E-4947-98A6-0A6E100DFF7A}"/>
              </a:ext>
            </a:extLst>
          </p:cNvPr>
          <p:cNvSpPr txBox="1"/>
          <p:nvPr/>
        </p:nvSpPr>
        <p:spPr>
          <a:xfrm>
            <a:off x="1452282" y="6131859"/>
            <a:ext cx="3173506" cy="261610"/>
          </a:xfrm>
          <a:prstGeom prst="rect">
            <a:avLst/>
          </a:prstGeom>
          <a:noFill/>
        </p:spPr>
        <p:txBody>
          <a:bodyPr wrap="square" rtlCol="0">
            <a:spAutoFit/>
          </a:bodyPr>
          <a:lstStyle/>
          <a:p>
            <a:pPr algn="ctr"/>
            <a:r>
              <a:rPr lang="es-MX" sz="1100" dirty="0">
                <a:latin typeface="Arial" panose="020B0604020202020204" pitchFamily="34" charset="0"/>
                <a:cs typeface="Arial" panose="020B0604020202020204" pitchFamily="34" charset="0"/>
              </a:rPr>
              <a:t>Figura 1</a:t>
            </a:r>
          </a:p>
        </p:txBody>
      </p:sp>
    </p:spTree>
    <p:extLst>
      <p:ext uri="{BB962C8B-B14F-4D97-AF65-F5344CB8AC3E}">
        <p14:creationId xmlns:p14="http://schemas.microsoft.com/office/powerpoint/2010/main" val="3777197582"/>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80912" y="2913327"/>
            <a:ext cx="10198788" cy="1031345"/>
          </a:xfrm>
          <a:solidFill>
            <a:schemeClr val="tx2">
              <a:lumMod val="75000"/>
            </a:schemeClr>
          </a:solidFill>
        </p:spPr>
        <p:txBody>
          <a:bodyPr anchor="ct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Módulo Línea de Espera</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91225" y="1546412"/>
            <a:ext cx="9778163" cy="4945828"/>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66106043"/>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464285" y="1342312"/>
            <a:ext cx="5535409" cy="512250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0" name="Marcador de texto 8">
            <a:extLst>
              <a:ext uri="{FF2B5EF4-FFF2-40B4-BE49-F238E27FC236}">
                <a16:creationId xmlns:a16="http://schemas.microsoft.com/office/drawing/2014/main" id="{5A14CD3C-1779-4574-833C-E3BFB23B5AB7}"/>
              </a:ext>
            </a:extLst>
          </p:cNvPr>
          <p:cNvSpPr txBox="1">
            <a:spLocks/>
          </p:cNvSpPr>
          <p:nvPr/>
        </p:nvSpPr>
        <p:spPr>
          <a:xfrm>
            <a:off x="5634314" y="1598108"/>
            <a:ext cx="5254079" cy="4690150"/>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400" dirty="0">
                <a:latin typeface="Arial" panose="020B0604020202020204" pitchFamily="34" charset="0"/>
                <a:cs typeface="Arial" panose="020B0604020202020204" pitchFamily="34" charset="0"/>
              </a:rPr>
              <a:t>EsperaApplication.java es el gestor de interfaz y punto de entrada para el módulo de líneas de espera.</a:t>
            </a:r>
          </a:p>
          <a:p>
            <a:pPr marL="285750" indent="-285750" algn="just">
              <a:buClr>
                <a:srgbClr val="7030A0"/>
              </a:buClr>
              <a:buFont typeface="Wingdings" panose="05000000000000000000" pitchFamily="2" charset="2"/>
              <a:buChar char="q"/>
            </a:pPr>
            <a:r>
              <a:rPr lang="es-MX" sz="1400" dirty="0">
                <a:latin typeface="Arial" panose="020B0604020202020204" pitchFamily="34" charset="0"/>
                <a:cs typeface="Arial" panose="020B0604020202020204" pitchFamily="34" charset="0"/>
              </a:rPr>
              <a:t>Inicialización de la Vista: Se encarga de cargar y desplegar el archivo espera-</a:t>
            </a:r>
            <a:r>
              <a:rPr lang="es-MX" sz="1400" dirty="0" err="1">
                <a:latin typeface="Arial" panose="020B0604020202020204" pitchFamily="34" charset="0"/>
                <a:cs typeface="Arial" panose="020B0604020202020204" pitchFamily="34" charset="0"/>
              </a:rPr>
              <a:t>view.fxml</a:t>
            </a:r>
            <a:r>
              <a:rPr lang="es-MX" sz="1400" dirty="0">
                <a:latin typeface="Arial" panose="020B0604020202020204" pitchFamily="34" charset="0"/>
                <a:cs typeface="Arial" panose="020B0604020202020204" pitchFamily="34" charset="0"/>
              </a:rPr>
              <a:t> correspondiente al módulo de colas.</a:t>
            </a:r>
          </a:p>
          <a:p>
            <a:pPr marL="285750" indent="-285750" algn="just">
              <a:buClr>
                <a:srgbClr val="7030A0"/>
              </a:buClr>
              <a:buFont typeface="Wingdings" panose="05000000000000000000" pitchFamily="2" charset="2"/>
              <a:buChar char="q"/>
            </a:pPr>
            <a:r>
              <a:rPr lang="es-MX" sz="1400" dirty="0">
                <a:latin typeface="Arial" panose="020B0604020202020204" pitchFamily="34" charset="0"/>
                <a:cs typeface="Arial" panose="020B0604020202020204" pitchFamily="34" charset="0"/>
              </a:rPr>
              <a:t>Configuración de Ventana: Establece las dimensiones, propiedades y parámetros visuales iniciales de la interfaz gráfica.</a:t>
            </a:r>
          </a:p>
          <a:p>
            <a:pPr marL="285750" indent="-285750" algn="just">
              <a:buClr>
                <a:srgbClr val="7030A0"/>
              </a:buClr>
              <a:buFont typeface="Wingdings" panose="05000000000000000000" pitchFamily="2" charset="2"/>
              <a:buChar char="q"/>
            </a:pPr>
            <a:r>
              <a:rPr lang="es-MX" sz="1400" dirty="0">
                <a:latin typeface="Arial" panose="020B0604020202020204" pitchFamily="34" charset="0"/>
                <a:cs typeface="Arial" panose="020B0604020202020204" pitchFamily="34" charset="0"/>
              </a:rPr>
              <a:t>Navegación Modular: Habilita el mecanismo de retorno seguro hacia el menú principal de la aplicación al cerrar o finalizar el módulo.</a:t>
            </a:r>
          </a:p>
          <a:p>
            <a:pPr marL="285750" indent="-285750" algn="just">
              <a:buClr>
                <a:srgbClr val="7030A0"/>
              </a:buClr>
              <a:buFont typeface="Wingdings" panose="05000000000000000000" pitchFamily="2" charset="2"/>
              <a:buChar char="q"/>
            </a:pPr>
            <a:r>
              <a:rPr lang="es-MX" sz="1400" dirty="0">
                <a:latin typeface="Arial" panose="020B0604020202020204" pitchFamily="34" charset="0"/>
                <a:cs typeface="Arial" panose="020B0604020202020204" pitchFamily="34" charset="0"/>
              </a:rPr>
              <a:t>Separación de Responsabilidades: Actúa exclusivamente como un lanzador visual, manteniendo la arquitectura limpia al no procesar cálculos matemáticos ni lógica de simulación en esta clase. </a:t>
            </a:r>
          </a:p>
        </p:txBody>
      </p:sp>
      <p:sp>
        <p:nvSpPr>
          <p:cNvPr id="12" name="Título 1">
            <a:extLst>
              <a:ext uri="{FF2B5EF4-FFF2-40B4-BE49-F238E27FC236}">
                <a16:creationId xmlns:a16="http://schemas.microsoft.com/office/drawing/2014/main" id="{90BBEA06-E389-4B10-979D-74DC39F0D51C}"/>
              </a:ext>
            </a:extLst>
          </p:cNvPr>
          <p:cNvSpPr>
            <a:spLocks noGrp="1"/>
          </p:cNvSpPr>
          <p:nvPr>
            <p:ph type="title"/>
          </p:nvPr>
        </p:nvSpPr>
        <p:spPr>
          <a:xfrm>
            <a:off x="534921" y="150162"/>
            <a:ext cx="10198788" cy="1031345"/>
          </a:xfrm>
          <a:solidFill>
            <a:schemeClr val="tx2">
              <a:lumMod val="75000"/>
            </a:schemeClr>
          </a:solidFill>
        </p:spPr>
        <p:txBody>
          <a:bodyPr anchor="ct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EsperaApplication.java</a:t>
            </a:r>
          </a:p>
        </p:txBody>
      </p:sp>
      <p:pic>
        <p:nvPicPr>
          <p:cNvPr id="4" name="Imagen 3">
            <a:extLst>
              <a:ext uri="{FF2B5EF4-FFF2-40B4-BE49-F238E27FC236}">
                <a16:creationId xmlns:a16="http://schemas.microsoft.com/office/drawing/2014/main" id="{0BEEBB29-D022-4A99-9C2B-DDDB6BE220A6}"/>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03003" y="1342312"/>
            <a:ext cx="4949981" cy="5122506"/>
          </a:xfrm>
          <a:prstGeom prst="rect">
            <a:avLst/>
          </a:prstGeom>
        </p:spPr>
      </p:pic>
    </p:spTree>
    <p:extLst>
      <p:ext uri="{BB962C8B-B14F-4D97-AF65-F5344CB8AC3E}">
        <p14:creationId xmlns:p14="http://schemas.microsoft.com/office/powerpoint/2010/main" val="2022151462"/>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464285" y="1342312"/>
            <a:ext cx="5535409" cy="512250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0" name="Marcador de texto 8">
            <a:extLst>
              <a:ext uri="{FF2B5EF4-FFF2-40B4-BE49-F238E27FC236}">
                <a16:creationId xmlns:a16="http://schemas.microsoft.com/office/drawing/2014/main" id="{5A14CD3C-1779-4574-833C-E3BFB23B5AB7}"/>
              </a:ext>
            </a:extLst>
          </p:cNvPr>
          <p:cNvSpPr txBox="1">
            <a:spLocks/>
          </p:cNvSpPr>
          <p:nvPr/>
        </p:nvSpPr>
        <p:spPr>
          <a:xfrm>
            <a:off x="5634314" y="1598108"/>
            <a:ext cx="5254079" cy="4690150"/>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400" dirty="0">
                <a:latin typeface="Arial" panose="020B0604020202020204" pitchFamily="34" charset="0"/>
                <a:cs typeface="Arial" panose="020B0604020202020204" pitchFamily="34" charset="0"/>
              </a:rPr>
              <a:t>espera-</a:t>
            </a:r>
            <a:r>
              <a:rPr lang="es-MX" sz="1400" dirty="0" err="1">
                <a:latin typeface="Arial" panose="020B0604020202020204" pitchFamily="34" charset="0"/>
                <a:cs typeface="Arial" panose="020B0604020202020204" pitchFamily="34" charset="0"/>
              </a:rPr>
              <a:t>view.fxml</a:t>
            </a:r>
            <a:r>
              <a:rPr lang="es-MX" sz="1400" dirty="0">
                <a:latin typeface="Arial" panose="020B0604020202020204" pitchFamily="34" charset="0"/>
                <a:cs typeface="Arial" panose="020B0604020202020204" pitchFamily="34" charset="0"/>
              </a:rPr>
              <a:t> define la estructura, el diseño y la disposición visual de la interfaz gráfica de usuario (GUI) para el simulador del modelo de líneas de espera (colas). Este archivo organiza de manera intuitiva los componentes interactivos y de visualización necesarios para que el usuario configure, ejecute y analice el comportamiento del sistema de atención.</a:t>
            </a:r>
          </a:p>
          <a:p>
            <a:pPr algn="just"/>
            <a:r>
              <a:rPr lang="es-MX" sz="1400" dirty="0">
                <a:latin typeface="Arial" panose="020B0604020202020204" pitchFamily="34" charset="0"/>
                <a:cs typeface="Arial" panose="020B0604020202020204" pitchFamily="34" charset="0"/>
              </a:rPr>
              <a:t>Su diseño modular se encuentra distribuido en secciones clave que comprenden:</a:t>
            </a:r>
          </a:p>
          <a:p>
            <a:pPr marL="285750" indent="-285750" algn="just">
              <a:buClr>
                <a:srgbClr val="7030A0"/>
              </a:buClr>
              <a:buFont typeface="Wingdings" panose="05000000000000000000" pitchFamily="2" charset="2"/>
              <a:buChar char="q"/>
            </a:pPr>
            <a:r>
              <a:rPr lang="es-MX" sz="1400" dirty="0">
                <a:latin typeface="Arial" panose="020B0604020202020204" pitchFamily="34" charset="0"/>
                <a:cs typeface="Arial" panose="020B0604020202020204" pitchFamily="34" charset="0"/>
              </a:rPr>
              <a:t>El panel de parámetros de entrada: Contiene los campos de texto y selectores requeridos para ingresar las variables determinantes del sistema, tales como las tasas de llegada de clientes, las tasas de servicio y la capacidad de las colas.</a:t>
            </a:r>
          </a:p>
          <a:p>
            <a:pPr marL="285750" indent="-285750" algn="just">
              <a:buClr>
                <a:srgbClr val="7030A0"/>
              </a:buClr>
              <a:buFont typeface="Wingdings" panose="05000000000000000000" pitchFamily="2" charset="2"/>
              <a:buChar char="q"/>
            </a:pPr>
            <a:r>
              <a:rPr lang="es-MX" sz="1400" dirty="0">
                <a:latin typeface="Arial" panose="020B0604020202020204" pitchFamily="34" charset="0"/>
                <a:cs typeface="Arial" panose="020B0604020202020204" pitchFamily="34" charset="0"/>
              </a:rPr>
              <a:t>Los controles de ejecución y validación: Agrupa los botones y elementos de acción que permiten iniciar la simulación, limpiar datos o activar los módulos de pruebas estadísticas.</a:t>
            </a:r>
          </a:p>
          <a:p>
            <a:pPr marL="285750" indent="-285750" algn="just">
              <a:buClr>
                <a:srgbClr val="7030A0"/>
              </a:buClr>
              <a:buFont typeface="Wingdings" panose="05000000000000000000" pitchFamily="2" charset="2"/>
              <a:buChar char="q"/>
            </a:pPr>
            <a:r>
              <a:rPr lang="es-MX" sz="1400" dirty="0">
                <a:latin typeface="Arial" panose="020B0604020202020204" pitchFamily="34" charset="0"/>
                <a:cs typeface="Arial" panose="020B0604020202020204" pitchFamily="34" charset="0"/>
              </a:rPr>
              <a:t>El panel de resultados y métricas: Dispone de áreas visuales tablas y contenedores de texto diseñadas para mostrar en tiempo real los registros de la simulación, los tiempos de espera promedio, la longitud de las colas y los indicadores clave de desempeño.</a:t>
            </a:r>
          </a:p>
        </p:txBody>
      </p:sp>
      <p:sp>
        <p:nvSpPr>
          <p:cNvPr id="12" name="Título 1">
            <a:extLst>
              <a:ext uri="{FF2B5EF4-FFF2-40B4-BE49-F238E27FC236}">
                <a16:creationId xmlns:a16="http://schemas.microsoft.com/office/drawing/2014/main" id="{90BBEA06-E389-4B10-979D-74DC39F0D51C}"/>
              </a:ext>
            </a:extLst>
          </p:cNvPr>
          <p:cNvSpPr>
            <a:spLocks noGrp="1"/>
          </p:cNvSpPr>
          <p:nvPr>
            <p:ph type="title"/>
          </p:nvPr>
        </p:nvSpPr>
        <p:spPr>
          <a:xfrm>
            <a:off x="534921" y="150162"/>
            <a:ext cx="10198788" cy="1031345"/>
          </a:xfrm>
          <a:solidFill>
            <a:schemeClr val="tx2">
              <a:lumMod val="75000"/>
            </a:schemeClr>
          </a:solidFill>
        </p:spPr>
        <p:txBody>
          <a:bodyPr anchor="ct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espera-</a:t>
            </a:r>
            <a:r>
              <a:rPr lang="es-MX" spc="0"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view.fxml</a:t>
            </a:r>
            <a:endPar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endParaRPr>
          </a:p>
        </p:txBody>
      </p:sp>
      <p:pic>
        <p:nvPicPr>
          <p:cNvPr id="3" name="Imagen 2">
            <a:extLst>
              <a:ext uri="{FF2B5EF4-FFF2-40B4-BE49-F238E27FC236}">
                <a16:creationId xmlns:a16="http://schemas.microsoft.com/office/drawing/2014/main" id="{3397025D-C96D-403D-A1D8-9909D43E9EF4}"/>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34921" y="1342312"/>
            <a:ext cx="4730470" cy="5122506"/>
          </a:xfrm>
          <a:prstGeom prst="rect">
            <a:avLst/>
          </a:prstGeom>
        </p:spPr>
      </p:pic>
    </p:spTree>
    <p:extLst>
      <p:ext uri="{BB962C8B-B14F-4D97-AF65-F5344CB8AC3E}">
        <p14:creationId xmlns:p14="http://schemas.microsoft.com/office/powerpoint/2010/main" val="815864707"/>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768785" y="1381930"/>
            <a:ext cx="5424108" cy="512250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0" name="Marcador de texto 8">
            <a:extLst>
              <a:ext uri="{FF2B5EF4-FFF2-40B4-BE49-F238E27FC236}">
                <a16:creationId xmlns:a16="http://schemas.microsoft.com/office/drawing/2014/main" id="{5A14CD3C-1779-4574-833C-E3BFB23B5AB7}"/>
              </a:ext>
            </a:extLst>
          </p:cNvPr>
          <p:cNvSpPr txBox="1">
            <a:spLocks/>
          </p:cNvSpPr>
          <p:nvPr/>
        </p:nvSpPr>
        <p:spPr>
          <a:xfrm>
            <a:off x="5853799" y="1598108"/>
            <a:ext cx="5254079" cy="4690150"/>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400" dirty="0">
                <a:latin typeface="Arial" panose="020B0604020202020204" pitchFamily="34" charset="0"/>
                <a:cs typeface="Arial" panose="020B0604020202020204" pitchFamily="34" charset="0"/>
              </a:rPr>
              <a:t>Figura 2.  representa la interfaz gráfica secundaria del sistema, es la interfaz del módulo de líneas de espera en ejecución (espera-</a:t>
            </a:r>
            <a:r>
              <a:rPr lang="es-MX" sz="1400" dirty="0" err="1">
                <a:latin typeface="Arial" panose="020B0604020202020204" pitchFamily="34" charset="0"/>
                <a:cs typeface="Arial" panose="020B0604020202020204" pitchFamily="34" charset="0"/>
              </a:rPr>
              <a:t>view.fxml</a:t>
            </a:r>
            <a:r>
              <a:rPr lang="es-MX" sz="1400" dirty="0">
                <a:latin typeface="Arial" panose="020B0604020202020204" pitchFamily="34" charset="0"/>
                <a:cs typeface="Arial" panose="020B0604020202020204" pitchFamily="34" charset="0"/>
              </a:rPr>
              <a:t>).</a:t>
            </a:r>
          </a:p>
          <a:p>
            <a:pPr algn="just"/>
            <a:r>
              <a:rPr lang="es-MX" sz="1400" dirty="0">
                <a:latin typeface="Arial" panose="020B0604020202020204" pitchFamily="34" charset="0"/>
                <a:cs typeface="Arial" panose="020B0604020202020204" pitchFamily="34" charset="0"/>
              </a:rPr>
              <a:t>Se visualiza la ventana activa del simulador con los campos de parámetros de entrada configurados (tasas de llegada, tiempos de servicio y número de servidores). Asimismo, se muestran los controles de ejecución activos y el panel inferior con la tabla de resultados detallados por cliente y los indicadores estadísticos del sistema.</a:t>
            </a:r>
          </a:p>
        </p:txBody>
      </p:sp>
      <p:sp>
        <p:nvSpPr>
          <p:cNvPr id="12" name="Título 1">
            <a:extLst>
              <a:ext uri="{FF2B5EF4-FFF2-40B4-BE49-F238E27FC236}">
                <a16:creationId xmlns:a16="http://schemas.microsoft.com/office/drawing/2014/main" id="{90BBEA06-E389-4B10-979D-74DC39F0D51C}"/>
              </a:ext>
            </a:extLst>
          </p:cNvPr>
          <p:cNvSpPr>
            <a:spLocks noGrp="1"/>
          </p:cNvSpPr>
          <p:nvPr>
            <p:ph type="title"/>
          </p:nvPr>
        </p:nvSpPr>
        <p:spPr>
          <a:xfrm>
            <a:off x="534921" y="150162"/>
            <a:ext cx="10198788" cy="1031345"/>
          </a:xfrm>
          <a:solidFill>
            <a:schemeClr val="tx2">
              <a:lumMod val="75000"/>
            </a:schemeClr>
          </a:solidFill>
        </p:spPr>
        <p:txBody>
          <a:bodyPr anchor="ct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espera-</a:t>
            </a:r>
            <a:r>
              <a:rPr lang="es-MX" spc="0"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view.fxml</a:t>
            </a:r>
            <a:endPar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endParaRPr>
          </a:p>
        </p:txBody>
      </p:sp>
      <p:pic>
        <p:nvPicPr>
          <p:cNvPr id="2" name="Imagen 1">
            <a:extLst>
              <a:ext uri="{FF2B5EF4-FFF2-40B4-BE49-F238E27FC236}">
                <a16:creationId xmlns:a16="http://schemas.microsoft.com/office/drawing/2014/main" id="{7DDEB788-819B-4D1B-A469-25A5886ED99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04934" y="1462612"/>
            <a:ext cx="5129381" cy="4644719"/>
          </a:xfrm>
          <a:prstGeom prst="rect">
            <a:avLst/>
          </a:prstGeom>
        </p:spPr>
      </p:pic>
      <p:sp>
        <p:nvSpPr>
          <p:cNvPr id="7" name="CuadroTexto 6">
            <a:extLst>
              <a:ext uri="{FF2B5EF4-FFF2-40B4-BE49-F238E27FC236}">
                <a16:creationId xmlns:a16="http://schemas.microsoft.com/office/drawing/2014/main" id="{C52D9E84-694F-4F5A-8063-E875A0412A3E}"/>
              </a:ext>
            </a:extLst>
          </p:cNvPr>
          <p:cNvSpPr txBox="1"/>
          <p:nvPr/>
        </p:nvSpPr>
        <p:spPr>
          <a:xfrm>
            <a:off x="1482871" y="6242826"/>
            <a:ext cx="3173506" cy="261610"/>
          </a:xfrm>
          <a:prstGeom prst="rect">
            <a:avLst/>
          </a:prstGeom>
          <a:noFill/>
        </p:spPr>
        <p:txBody>
          <a:bodyPr wrap="square" rtlCol="0">
            <a:spAutoFit/>
          </a:bodyPr>
          <a:lstStyle/>
          <a:p>
            <a:pPr algn="ctr"/>
            <a:r>
              <a:rPr lang="es-MX" sz="1100" dirty="0">
                <a:latin typeface="Arial" panose="020B0604020202020204" pitchFamily="34" charset="0"/>
                <a:cs typeface="Arial" panose="020B0604020202020204" pitchFamily="34" charset="0"/>
              </a:rPr>
              <a:t>Figura 2</a:t>
            </a:r>
          </a:p>
        </p:txBody>
      </p:sp>
    </p:spTree>
    <p:extLst>
      <p:ext uri="{BB962C8B-B14F-4D97-AF65-F5344CB8AC3E}">
        <p14:creationId xmlns:p14="http://schemas.microsoft.com/office/powerpoint/2010/main" val="15470618"/>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634314" y="1347473"/>
            <a:ext cx="5365379" cy="5179935"/>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Marcador de texto 8">
            <a:extLst>
              <a:ext uri="{FF2B5EF4-FFF2-40B4-BE49-F238E27FC236}">
                <a16:creationId xmlns:a16="http://schemas.microsoft.com/office/drawing/2014/main" id="{5A14CD3C-1779-4574-833C-E3BFB23B5AB7}"/>
              </a:ext>
            </a:extLst>
          </p:cNvPr>
          <p:cNvSpPr txBox="1">
            <a:spLocks/>
          </p:cNvSpPr>
          <p:nvPr/>
        </p:nvSpPr>
        <p:spPr>
          <a:xfrm>
            <a:off x="5830015" y="1598108"/>
            <a:ext cx="4903694" cy="4676083"/>
          </a:xfrm>
          <a:prstGeom prst="rect">
            <a:avLst/>
          </a:prstGeom>
        </p:spPr>
        <p:txBody>
          <a:bodyPr vert="horz" lIns="91440" tIns="45720" rIns="91440" bIns="45720" rtlCol="0">
            <a:normAutofit fontScale="70000" lnSpcReduction="20000"/>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latin typeface="Arial" panose="020B0604020202020204" pitchFamily="34" charset="0"/>
                <a:cs typeface="Arial" panose="020B0604020202020204" pitchFamily="34" charset="0"/>
              </a:rPr>
              <a:t>cliente,.java representa de manera individual a cada cliente o entidad que ingresa por el sistema durante la simulación de líneas de espera. Funciona como un contenedor de datos de ciclo de vida completo del sistema.</a:t>
            </a:r>
          </a:p>
          <a:p>
            <a:pPr algn="just"/>
            <a:r>
              <a:rPr lang="es-MX" sz="1800" dirty="0">
                <a:latin typeface="Arial" panose="020B0604020202020204" pitchFamily="34" charset="0"/>
                <a:cs typeface="Arial" panose="020B0604020202020204" pitchFamily="34" charset="0"/>
              </a:rPr>
              <a:t>Su estructura interna almacena las variables temporales y operativas esenciales para el análisis estadístico del modelo:</a:t>
            </a:r>
          </a:p>
          <a:p>
            <a:pPr marL="285750" indent="-285750" algn="just">
              <a:buClr>
                <a:srgbClr val="7030A0"/>
              </a:buClr>
              <a:buFont typeface="Wingdings" panose="05000000000000000000" pitchFamily="2" charset="2"/>
              <a:buChar char="q"/>
            </a:pPr>
            <a:r>
              <a:rPr lang="es-MX" sz="1800" dirty="0">
                <a:latin typeface="Arial" panose="020B0604020202020204" pitchFamily="34" charset="0"/>
                <a:cs typeface="Arial" panose="020B0604020202020204" pitchFamily="34" charset="0"/>
              </a:rPr>
              <a:t>Identificación: un número o código único que garantiza el seguimiento del cliente a lo largo de toda la corrida de simulación.</a:t>
            </a:r>
          </a:p>
          <a:p>
            <a:pPr marL="285750" indent="-285750" algn="just">
              <a:buClr>
                <a:srgbClr val="7030A0"/>
              </a:buClr>
              <a:buFont typeface="Wingdings" panose="05000000000000000000" pitchFamily="2" charset="2"/>
              <a:buChar char="q"/>
            </a:pPr>
            <a:r>
              <a:rPr lang="es-MX" sz="1800" dirty="0">
                <a:latin typeface="Arial" panose="020B0604020202020204" pitchFamily="34" charset="0"/>
                <a:cs typeface="Arial" panose="020B0604020202020204" pitchFamily="34" charset="0"/>
              </a:rPr>
              <a:t>Dinámica temporal: el instante exacto de llegada al sistema, la duración estimada o aleatoria del tiempo de servicio requerido y el tiempo de espera acumulado en la cola antes de ser atendido.</a:t>
            </a:r>
          </a:p>
          <a:p>
            <a:pPr marL="285750" indent="-285750" algn="just">
              <a:buClr>
                <a:srgbClr val="7030A0"/>
              </a:buClr>
              <a:buFont typeface="Wingdings" panose="05000000000000000000" pitchFamily="2" charset="2"/>
              <a:buChar char="q"/>
            </a:pPr>
            <a:r>
              <a:rPr lang="es-MX" sz="1800" dirty="0">
                <a:latin typeface="Arial" panose="020B0604020202020204" pitchFamily="34" charset="0"/>
                <a:cs typeface="Arial" panose="020B0604020202020204" pitchFamily="34" charset="0"/>
              </a:rPr>
              <a:t>Marcas de control operativo: El momento preciso en que inicia el servicio y el instante en que finaliza, lo que permite calcular el tiempo total de permanencia en el sistema.</a:t>
            </a:r>
          </a:p>
          <a:p>
            <a:pPr marL="285750" indent="-285750" algn="just">
              <a:buClr>
                <a:srgbClr val="7030A0"/>
              </a:buClr>
              <a:buFont typeface="Wingdings" panose="05000000000000000000" pitchFamily="2" charset="2"/>
              <a:buChar char="q"/>
            </a:pPr>
            <a:r>
              <a:rPr lang="es-MX" sz="1800" dirty="0">
                <a:latin typeface="Arial" panose="020B0604020202020204" pitchFamily="34" charset="0"/>
                <a:cs typeface="Arial" panose="020B0604020202020204" pitchFamily="34" charset="0"/>
              </a:rPr>
              <a:t>Asignación de recursos: El identificador del servidor específico que atendió al cliente, facilitando posteriormente la evaluación de la carga de trabajo y la utilización de los canales de atención.</a:t>
            </a:r>
          </a:p>
        </p:txBody>
      </p:sp>
      <p:sp>
        <p:nvSpPr>
          <p:cNvPr id="11" name="Título 1">
            <a:extLst>
              <a:ext uri="{FF2B5EF4-FFF2-40B4-BE49-F238E27FC236}">
                <a16:creationId xmlns:a16="http://schemas.microsoft.com/office/drawing/2014/main" id="{2ECC095B-1636-46F0-B1EF-6C204BA19036}"/>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Cliente.java</a:t>
            </a:r>
          </a:p>
        </p:txBody>
      </p:sp>
      <p:pic>
        <p:nvPicPr>
          <p:cNvPr id="4" name="Imagen 3">
            <a:extLst>
              <a:ext uri="{FF2B5EF4-FFF2-40B4-BE49-F238E27FC236}">
                <a16:creationId xmlns:a16="http://schemas.microsoft.com/office/drawing/2014/main" id="{758D58D1-F46F-4C7A-944E-3C2C5A3DDB2A}"/>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34920" y="1347472"/>
            <a:ext cx="4548067" cy="5190883"/>
          </a:xfrm>
          <a:prstGeom prst="rect">
            <a:avLst/>
          </a:prstGeom>
        </p:spPr>
      </p:pic>
    </p:spTree>
    <p:extLst>
      <p:ext uri="{BB962C8B-B14F-4D97-AF65-F5344CB8AC3E}">
        <p14:creationId xmlns:p14="http://schemas.microsoft.com/office/powerpoint/2010/main" val="412790321"/>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634314" y="1347473"/>
            <a:ext cx="5365379" cy="5179935"/>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Marcador de texto 8">
            <a:extLst>
              <a:ext uri="{FF2B5EF4-FFF2-40B4-BE49-F238E27FC236}">
                <a16:creationId xmlns:a16="http://schemas.microsoft.com/office/drawing/2014/main" id="{5A14CD3C-1779-4574-833C-E3BFB23B5AB7}"/>
              </a:ext>
            </a:extLst>
          </p:cNvPr>
          <p:cNvSpPr txBox="1">
            <a:spLocks/>
          </p:cNvSpPr>
          <p:nvPr/>
        </p:nvSpPr>
        <p:spPr>
          <a:xfrm>
            <a:off x="5830015" y="1557767"/>
            <a:ext cx="4903694" cy="4748904"/>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400" dirty="0">
                <a:latin typeface="Arial" panose="020B0604020202020204" pitchFamily="34" charset="0"/>
                <a:cs typeface="Arial" panose="020B0604020202020204" pitchFamily="34" charset="0"/>
              </a:rPr>
              <a:t>EsperaController.java es la clase estructuralmente más robusta y compleja de este módulo. Actúa como el puente integrador que coordina todo el ciclo de vida del proceso simulado, garantizando una separación limpia entre la capa de presentación (la interfaz gráfica) y la capa de lógica computacional y estadística.</a:t>
            </a:r>
          </a:p>
          <a:p>
            <a:pPr algn="just"/>
            <a:r>
              <a:rPr lang="es-MX" sz="1400" dirty="0">
                <a:latin typeface="Arial" panose="020B0604020202020204" pitchFamily="34" charset="0"/>
                <a:cs typeface="Arial" panose="020B0604020202020204" pitchFamily="34" charset="0"/>
              </a:rPr>
              <a:t>Su arquitectura interna gestiona un flujo secuencial y controlado que se puede resumir de la siguiente manera:</a:t>
            </a:r>
          </a:p>
          <a:p>
            <a:pPr marL="285750" indent="-285750" algn="just">
              <a:buClr>
                <a:srgbClr val="7030A0"/>
              </a:buClr>
              <a:buSzPct val="90000"/>
              <a:buFont typeface="Wingdings" panose="05000000000000000000" pitchFamily="2" charset="2"/>
              <a:buChar char="q"/>
            </a:pPr>
            <a:r>
              <a:rPr lang="es-MX" sz="1400" dirty="0">
                <a:latin typeface="Arial" panose="020B0604020202020204" pitchFamily="34" charset="0"/>
                <a:cs typeface="Arial" panose="020B0604020202020204" pitchFamily="34" charset="0"/>
              </a:rPr>
              <a:t>Interfaz y Datos ingresados: Recopila, analiza y valida rigurosamente los parámetros introducidos por el usuario en la vista asegurando que cumplan con las restricciones lógicas antes de iniciar el proceso.</a:t>
            </a:r>
          </a:p>
          <a:p>
            <a:pPr marL="285750" indent="-285750" algn="just">
              <a:buClr>
                <a:srgbClr val="7030A0"/>
              </a:buClr>
              <a:buSzPct val="90000"/>
              <a:buFont typeface="Wingdings" panose="05000000000000000000" pitchFamily="2" charset="2"/>
              <a:buChar char="q"/>
            </a:pPr>
            <a:r>
              <a:rPr lang="es-MX" sz="1400" dirty="0">
                <a:latin typeface="Arial" panose="020B0604020202020204" pitchFamily="34" charset="0"/>
                <a:cs typeface="Arial" panose="020B0604020202020204" pitchFamily="34" charset="0"/>
              </a:rPr>
              <a:t>Simulación: Ejecuta el motor aleatorio del modelo, encargándose de generar y modelar el flujo de clientes, asignarlos de manera dinámica a los servidores disponibles y calcular los tiempos de espera y de atención en cada período.</a:t>
            </a:r>
          </a:p>
          <a:p>
            <a:pPr marL="285750" indent="-285750" algn="just">
              <a:buClr>
                <a:srgbClr val="7030A0"/>
              </a:buClr>
              <a:buSzPct val="90000"/>
              <a:buFont typeface="Wingdings" panose="05000000000000000000" pitchFamily="2" charset="2"/>
              <a:buChar char="q"/>
            </a:pPr>
            <a:r>
              <a:rPr lang="es-MX" sz="1400" dirty="0">
                <a:latin typeface="Arial" panose="020B0604020202020204" pitchFamily="34" charset="0"/>
                <a:cs typeface="Arial" panose="020B0604020202020204" pitchFamily="34" charset="0"/>
              </a:rPr>
              <a:t>Resultados y Validación: Consolida todas las medidas generadas y procesa las pruebas estadísticas necesarias para validar los datos obtenidos, preparándolos para su visualización final en pantalla.</a:t>
            </a:r>
          </a:p>
        </p:txBody>
      </p:sp>
      <p:sp>
        <p:nvSpPr>
          <p:cNvPr id="11" name="Título 1">
            <a:extLst>
              <a:ext uri="{FF2B5EF4-FFF2-40B4-BE49-F238E27FC236}">
                <a16:creationId xmlns:a16="http://schemas.microsoft.com/office/drawing/2014/main" id="{2ECC095B-1636-46F0-B1EF-6C204BA19036}"/>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EsperaController.java</a:t>
            </a:r>
          </a:p>
        </p:txBody>
      </p:sp>
      <p:pic>
        <p:nvPicPr>
          <p:cNvPr id="4" name="Imagen 3">
            <a:extLst>
              <a:ext uri="{FF2B5EF4-FFF2-40B4-BE49-F238E27FC236}">
                <a16:creationId xmlns:a16="http://schemas.microsoft.com/office/drawing/2014/main" id="{F21320C5-4D58-4976-85A8-AAF282D5A26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34921" y="1347473"/>
            <a:ext cx="4736318" cy="5179935"/>
          </a:xfrm>
          <a:prstGeom prst="rect">
            <a:avLst/>
          </a:prstGeom>
        </p:spPr>
      </p:pic>
    </p:spTree>
    <p:extLst>
      <p:ext uri="{BB962C8B-B14F-4D97-AF65-F5344CB8AC3E}">
        <p14:creationId xmlns:p14="http://schemas.microsoft.com/office/powerpoint/2010/main" val="3420154855"/>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80912" y="2397655"/>
            <a:ext cx="10198788" cy="1031345"/>
          </a:xfrm>
          <a:solidFill>
            <a:schemeClr val="tx2">
              <a:lumMod val="75000"/>
            </a:schemeClr>
          </a:solidFill>
        </p:spPr>
        <p:txBody>
          <a:bodyPr anchor="ct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Módulo Inventario</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91225" y="1546412"/>
            <a:ext cx="9778163" cy="4945828"/>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99842136"/>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ángulo 18">
            <a:extLst>
              <a:ext uri="{FF2B5EF4-FFF2-40B4-BE49-F238E27FC236}">
                <a16:creationId xmlns:a16="http://schemas.microsoft.com/office/drawing/2014/main" id="{F63D3981-118F-4BCF-80D5-EDE659EA45F6}"/>
              </a:ext>
            </a:extLst>
          </p:cNvPr>
          <p:cNvSpPr/>
          <p:nvPr/>
        </p:nvSpPr>
        <p:spPr>
          <a:xfrm>
            <a:off x="5804345" y="1368672"/>
            <a:ext cx="5269424" cy="533916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InventarioApplication.java</a:t>
            </a:r>
          </a:p>
        </p:txBody>
      </p:sp>
      <p:sp>
        <p:nvSpPr>
          <p:cNvPr id="14" name="Marcador de texto 8">
            <a:extLst>
              <a:ext uri="{FF2B5EF4-FFF2-40B4-BE49-F238E27FC236}">
                <a16:creationId xmlns:a16="http://schemas.microsoft.com/office/drawing/2014/main" id="{0147663C-B2A8-4735-92F2-6A1EE1084F74}"/>
              </a:ext>
            </a:extLst>
          </p:cNvPr>
          <p:cNvSpPr txBox="1">
            <a:spLocks/>
          </p:cNvSpPr>
          <p:nvPr/>
        </p:nvSpPr>
        <p:spPr>
          <a:xfrm>
            <a:off x="6060930" y="1523928"/>
            <a:ext cx="4756251" cy="4876871"/>
          </a:xfrm>
          <a:prstGeom prst="rect">
            <a:avLst/>
          </a:prstGeom>
        </p:spPr>
        <p:txBody>
          <a:bodyPr vert="horz" lIns="91440" tIns="45720" rIns="91440" bIns="45720" rtlCol="0">
            <a:no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450" dirty="0" err="1">
                <a:latin typeface="Arial" panose="020B0604020202020204" pitchFamily="34" charset="0"/>
                <a:cs typeface="Arial" panose="020B0604020202020204" pitchFamily="34" charset="0"/>
              </a:rPr>
              <a:t>InventarioApplication</a:t>
            </a:r>
            <a:r>
              <a:rPr lang="es-MX" sz="1450" dirty="0">
                <a:latin typeface="Arial" panose="020B0604020202020204" pitchFamily="34" charset="0"/>
                <a:cs typeface="Arial" panose="020B0604020202020204" pitchFamily="34" charset="0"/>
              </a:rPr>
              <a:t> administra la apertura de la ventana de Inventario. </a:t>
            </a:r>
          </a:p>
          <a:p>
            <a:pPr algn="just"/>
            <a:endParaRPr lang="es-MX" sz="1450" dirty="0">
              <a:latin typeface="Arial" panose="020B0604020202020204" pitchFamily="34" charset="0"/>
              <a:cs typeface="Arial" panose="020B0604020202020204" pitchFamily="34" charset="0"/>
            </a:endParaRPr>
          </a:p>
          <a:p>
            <a:pPr algn="just"/>
            <a:r>
              <a:rPr lang="es-MX" sz="1450" dirty="0">
                <a:latin typeface="Arial" panose="020B0604020202020204" pitchFamily="34" charset="0"/>
                <a:cs typeface="Arial" panose="020B0604020202020204" pitchFamily="34" charset="0"/>
              </a:rPr>
              <a:t>Actúa como el punto de entrada (Controlador de la Interfaz Gráfica) para el módulo de inventarios. Se encarga de inicializar y cargar la vista inventario-</a:t>
            </a:r>
            <a:r>
              <a:rPr lang="es-MX" sz="1450" dirty="0" err="1">
                <a:latin typeface="Arial" panose="020B0604020202020204" pitchFamily="34" charset="0"/>
                <a:cs typeface="Arial" panose="020B0604020202020204" pitchFamily="34" charset="0"/>
              </a:rPr>
              <a:t>view.fxml</a:t>
            </a:r>
            <a:r>
              <a:rPr lang="es-MX" sz="1450" dirty="0">
                <a:latin typeface="Arial" panose="020B0604020202020204" pitchFamily="34" charset="0"/>
                <a:cs typeface="Arial" panose="020B0604020202020204" pitchFamily="34" charset="0"/>
              </a:rPr>
              <a:t>, configurar las dimensiones de la ventana de ejecución y gestionar la transición de retorno al menú principal al finalizar la sesión del módulo.</a:t>
            </a:r>
          </a:p>
        </p:txBody>
      </p:sp>
      <p:pic>
        <p:nvPicPr>
          <p:cNvPr id="11" name="Imagen 10">
            <a:extLst>
              <a:ext uri="{FF2B5EF4-FFF2-40B4-BE49-F238E27FC236}">
                <a16:creationId xmlns:a16="http://schemas.microsoft.com/office/drawing/2014/main" id="{8B743B89-459B-4906-A9F5-D27B9420FCF5}"/>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28516" y="1368672"/>
            <a:ext cx="5119241" cy="5339167"/>
          </a:xfrm>
          <a:prstGeom prst="rect">
            <a:avLst/>
          </a:prstGeom>
        </p:spPr>
      </p:pic>
    </p:spTree>
    <p:extLst>
      <p:ext uri="{BB962C8B-B14F-4D97-AF65-F5344CB8AC3E}">
        <p14:creationId xmlns:p14="http://schemas.microsoft.com/office/powerpoint/2010/main" val="2261111865"/>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ángulo 18">
            <a:extLst>
              <a:ext uri="{FF2B5EF4-FFF2-40B4-BE49-F238E27FC236}">
                <a16:creationId xmlns:a16="http://schemas.microsoft.com/office/drawing/2014/main" id="{F63D3981-118F-4BCF-80D5-EDE659EA45F6}"/>
              </a:ext>
            </a:extLst>
          </p:cNvPr>
          <p:cNvSpPr/>
          <p:nvPr/>
        </p:nvSpPr>
        <p:spPr>
          <a:xfrm>
            <a:off x="5804345" y="1368672"/>
            <a:ext cx="5269424" cy="533916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Marcador de texto 8">
            <a:extLst>
              <a:ext uri="{FF2B5EF4-FFF2-40B4-BE49-F238E27FC236}">
                <a16:creationId xmlns:a16="http://schemas.microsoft.com/office/drawing/2014/main" id="{5D7C41EF-F0A1-40D6-BC10-D60D83CF8167}"/>
              </a:ext>
            </a:extLst>
          </p:cNvPr>
          <p:cNvSpPr txBox="1">
            <a:spLocks/>
          </p:cNvSpPr>
          <p:nvPr/>
        </p:nvSpPr>
        <p:spPr>
          <a:xfrm>
            <a:off x="5856909" y="1582306"/>
            <a:ext cx="5216860" cy="4926070"/>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400" dirty="0">
                <a:latin typeface="Arial" panose="020B0604020202020204" pitchFamily="34" charset="0"/>
                <a:cs typeface="Arial" panose="020B0604020202020204" pitchFamily="34" charset="0"/>
              </a:rPr>
              <a:t>Inventario-</a:t>
            </a:r>
            <a:r>
              <a:rPr lang="es-MX" sz="1400" dirty="0" err="1">
                <a:latin typeface="Arial" panose="020B0604020202020204" pitchFamily="34" charset="0"/>
                <a:cs typeface="Arial" panose="020B0604020202020204" pitchFamily="34" charset="0"/>
              </a:rPr>
              <a:t>view.fxml</a:t>
            </a:r>
            <a:r>
              <a:rPr lang="es-MX" sz="1400" dirty="0">
                <a:latin typeface="Arial" panose="020B0604020202020204" pitchFamily="34" charset="0"/>
                <a:cs typeface="Arial" panose="020B0604020202020204" pitchFamily="34" charset="0"/>
              </a:rPr>
              <a:t> define la estructura y el diseño de la interfaz gráfica de usuario (GUI) para el simulador del modelo de inventarios. Este archivo actúa como el panel principal de interacción, organizando visualmente los componentes en secciones lógicas que facilitan la experiencia del usuario.</a:t>
            </a:r>
          </a:p>
          <a:p>
            <a:pPr algn="just"/>
            <a:r>
              <a:rPr lang="es-MX" sz="1400" dirty="0">
                <a:latin typeface="Arial" panose="020B0604020202020204" pitchFamily="34" charset="0"/>
                <a:cs typeface="Arial" panose="020B0604020202020204" pitchFamily="34" charset="0"/>
              </a:rPr>
              <a:t>Su diseño comprende:</a:t>
            </a:r>
          </a:p>
          <a:p>
            <a:pPr marL="285750" indent="-285750" algn="just">
              <a:buClr>
                <a:srgbClr val="7030A0"/>
              </a:buClr>
              <a:buFont typeface="Wingdings" panose="05000000000000000000" pitchFamily="2" charset="2"/>
              <a:buChar char="q"/>
            </a:pPr>
            <a:r>
              <a:rPr lang="es-MX" sz="1400" dirty="0">
                <a:latin typeface="Arial" panose="020B0604020202020204" pitchFamily="34" charset="0"/>
                <a:cs typeface="Arial" panose="020B0604020202020204" pitchFamily="34" charset="0"/>
              </a:rPr>
              <a:t>El panel de configuración de parámetros: Permite al usuario ingresar y modificar las variables clave de entrada para la simulación (como la demanda, los pedidos, y las reglas de reabastecimiento).</a:t>
            </a:r>
          </a:p>
          <a:p>
            <a:pPr marL="285750" indent="-285750" algn="just">
              <a:buClr>
                <a:srgbClr val="7030A0"/>
              </a:buClr>
              <a:buFont typeface="Wingdings" panose="05000000000000000000" pitchFamily="2" charset="2"/>
              <a:buChar char="q"/>
            </a:pPr>
            <a:r>
              <a:rPr lang="es-MX" sz="1400" dirty="0">
                <a:latin typeface="Arial" panose="020B0604020202020204" pitchFamily="34" charset="0"/>
                <a:cs typeface="Arial" panose="020B0604020202020204" pitchFamily="34" charset="0"/>
              </a:rPr>
              <a:t>El área de visualización de resultados e indicadores: Muestra de forma estructurada los registros de la simulación, el comportamiento del stock en el tiempo y los indicadores clave de desempeño del inventario.</a:t>
            </a:r>
          </a:p>
          <a:p>
            <a:pPr marL="285750" indent="-285750" algn="just">
              <a:buClr>
                <a:srgbClr val="7030A0"/>
              </a:buClr>
              <a:buFont typeface="Wingdings" panose="05000000000000000000" pitchFamily="2" charset="2"/>
              <a:buChar char="q"/>
            </a:pPr>
            <a:r>
              <a:rPr lang="es-MX" sz="1400" dirty="0">
                <a:latin typeface="Arial" panose="020B0604020202020204" pitchFamily="34" charset="0"/>
                <a:cs typeface="Arial" panose="020B0604020202020204" pitchFamily="34" charset="0"/>
              </a:rPr>
              <a:t>Los módulos de análisis y validación: Integra elementos visuales como tablas y texto destinados a presentar los resultados de la ejecución.</a:t>
            </a:r>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inventario-</a:t>
            </a:r>
            <a:r>
              <a:rPr lang="es-MX" spc="0"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view.fxml</a:t>
            </a:r>
            <a:endPar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endParaRPr>
          </a:p>
        </p:txBody>
      </p:sp>
      <p:pic>
        <p:nvPicPr>
          <p:cNvPr id="2" name="Imagen 1">
            <a:extLst>
              <a:ext uri="{FF2B5EF4-FFF2-40B4-BE49-F238E27FC236}">
                <a16:creationId xmlns:a16="http://schemas.microsoft.com/office/drawing/2014/main" id="{EAA8C3C0-C934-4C8A-8B17-D55AC94D76F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40664" y="1475489"/>
            <a:ext cx="5193651" cy="5139704"/>
          </a:xfrm>
          <a:prstGeom prst="rect">
            <a:avLst/>
          </a:prstGeom>
        </p:spPr>
      </p:pic>
    </p:spTree>
    <p:extLst>
      <p:ext uri="{BB962C8B-B14F-4D97-AF65-F5344CB8AC3E}">
        <p14:creationId xmlns:p14="http://schemas.microsoft.com/office/powerpoint/2010/main" val="2587263602"/>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ángulo 18">
            <a:extLst>
              <a:ext uri="{FF2B5EF4-FFF2-40B4-BE49-F238E27FC236}">
                <a16:creationId xmlns:a16="http://schemas.microsoft.com/office/drawing/2014/main" id="{F63D3981-118F-4BCF-80D5-EDE659EA45F6}"/>
              </a:ext>
            </a:extLst>
          </p:cNvPr>
          <p:cNvSpPr/>
          <p:nvPr/>
        </p:nvSpPr>
        <p:spPr>
          <a:xfrm>
            <a:off x="5804345" y="1368672"/>
            <a:ext cx="5269424" cy="533916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Marcador de texto 8">
            <a:extLst>
              <a:ext uri="{FF2B5EF4-FFF2-40B4-BE49-F238E27FC236}">
                <a16:creationId xmlns:a16="http://schemas.microsoft.com/office/drawing/2014/main" id="{5D7C41EF-F0A1-40D6-BC10-D60D83CF8167}"/>
              </a:ext>
            </a:extLst>
          </p:cNvPr>
          <p:cNvSpPr txBox="1">
            <a:spLocks/>
          </p:cNvSpPr>
          <p:nvPr/>
        </p:nvSpPr>
        <p:spPr>
          <a:xfrm>
            <a:off x="5856909" y="1582306"/>
            <a:ext cx="5216860" cy="4926070"/>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400" dirty="0">
                <a:latin typeface="Arial" panose="020B0604020202020204" pitchFamily="34" charset="0"/>
                <a:cs typeface="Arial" panose="020B0604020202020204" pitchFamily="34" charset="0"/>
              </a:rPr>
              <a:t>Figura 3: representa la interfaz gráfica secundaria del módulo de inventarios en ejecución (inventario-</a:t>
            </a:r>
            <a:r>
              <a:rPr lang="es-MX" sz="1400" dirty="0" err="1">
                <a:latin typeface="Arial" panose="020B0604020202020204" pitchFamily="34" charset="0"/>
                <a:cs typeface="Arial" panose="020B0604020202020204" pitchFamily="34" charset="0"/>
              </a:rPr>
              <a:t>view.fxml</a:t>
            </a:r>
            <a:r>
              <a:rPr lang="es-MX" sz="1400" dirty="0">
                <a:latin typeface="Arial" panose="020B0604020202020204" pitchFamily="34" charset="0"/>
                <a:cs typeface="Arial" panose="020B0604020202020204" pitchFamily="34" charset="0"/>
              </a:rPr>
              <a:t>).</a:t>
            </a:r>
          </a:p>
          <a:p>
            <a:pPr algn="just"/>
            <a:endParaRPr lang="es-MX" sz="1400" dirty="0">
              <a:latin typeface="Arial" panose="020B0604020202020204" pitchFamily="34" charset="0"/>
              <a:cs typeface="Arial" panose="020B0604020202020204" pitchFamily="34" charset="0"/>
            </a:endParaRPr>
          </a:p>
          <a:p>
            <a:pPr algn="just"/>
            <a:r>
              <a:rPr lang="es-MX" sz="1400" dirty="0">
                <a:latin typeface="Arial" panose="020B0604020202020204" pitchFamily="34" charset="0"/>
                <a:cs typeface="Arial" panose="020B0604020202020204" pitchFamily="34" charset="0"/>
              </a:rPr>
              <a:t>Se muestra la ventana activa con el panel de configuración de parámetros de entrada cargados, los controles de ejecución y la visualización de los resultados y registros estadísticos generados por el simulador.</a:t>
            </a:r>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inventario-</a:t>
            </a:r>
            <a:r>
              <a:rPr lang="es-MX" spc="0"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view.fxml</a:t>
            </a:r>
            <a:endPar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endParaRPr>
          </a:p>
        </p:txBody>
      </p:sp>
      <p:sp>
        <p:nvSpPr>
          <p:cNvPr id="5" name="CuadroTexto 4">
            <a:extLst>
              <a:ext uri="{FF2B5EF4-FFF2-40B4-BE49-F238E27FC236}">
                <a16:creationId xmlns:a16="http://schemas.microsoft.com/office/drawing/2014/main" id="{10972AF0-265E-4947-98A6-0A6E100DFF7A}"/>
              </a:ext>
            </a:extLst>
          </p:cNvPr>
          <p:cNvSpPr txBox="1"/>
          <p:nvPr/>
        </p:nvSpPr>
        <p:spPr>
          <a:xfrm>
            <a:off x="1394235" y="6231800"/>
            <a:ext cx="3173506" cy="261610"/>
          </a:xfrm>
          <a:prstGeom prst="rect">
            <a:avLst/>
          </a:prstGeom>
          <a:noFill/>
        </p:spPr>
        <p:txBody>
          <a:bodyPr wrap="square" rtlCol="0">
            <a:spAutoFit/>
          </a:bodyPr>
          <a:lstStyle/>
          <a:p>
            <a:pPr algn="ctr"/>
            <a:r>
              <a:rPr lang="es-MX" sz="1100" dirty="0">
                <a:latin typeface="Arial" panose="020B0604020202020204" pitchFamily="34" charset="0"/>
                <a:cs typeface="Arial" panose="020B0604020202020204" pitchFamily="34" charset="0"/>
              </a:rPr>
              <a:t>Figura 3</a:t>
            </a:r>
          </a:p>
        </p:txBody>
      </p:sp>
      <p:pic>
        <p:nvPicPr>
          <p:cNvPr id="2" name="Imagen 1">
            <a:extLst>
              <a:ext uri="{FF2B5EF4-FFF2-40B4-BE49-F238E27FC236}">
                <a16:creationId xmlns:a16="http://schemas.microsoft.com/office/drawing/2014/main" id="{87DC1423-8CB5-413D-A506-D3F3B129916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05286" y="1395141"/>
            <a:ext cx="5151405" cy="4736718"/>
          </a:xfrm>
          <a:prstGeom prst="rect">
            <a:avLst/>
          </a:prstGeom>
        </p:spPr>
      </p:pic>
    </p:spTree>
    <p:extLst>
      <p:ext uri="{BB962C8B-B14F-4D97-AF65-F5344CB8AC3E}">
        <p14:creationId xmlns:p14="http://schemas.microsoft.com/office/powerpoint/2010/main" val="3225849595"/>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791200" y="1385605"/>
            <a:ext cx="5208494" cy="5184527"/>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0" name="Marcador de texto 8">
            <a:extLst>
              <a:ext uri="{FF2B5EF4-FFF2-40B4-BE49-F238E27FC236}">
                <a16:creationId xmlns:a16="http://schemas.microsoft.com/office/drawing/2014/main" id="{5A14CD3C-1779-4574-833C-E3BFB23B5AB7}"/>
              </a:ext>
            </a:extLst>
          </p:cNvPr>
          <p:cNvSpPr txBox="1">
            <a:spLocks/>
          </p:cNvSpPr>
          <p:nvPr/>
        </p:nvSpPr>
        <p:spPr>
          <a:xfrm>
            <a:off x="5936566" y="1541194"/>
            <a:ext cx="4901763" cy="4648591"/>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400" dirty="0">
                <a:latin typeface="Arial" panose="020B0604020202020204" pitchFamily="34" charset="0"/>
                <a:cs typeface="Arial" panose="020B0604020202020204" pitchFamily="34" charset="0"/>
              </a:rPr>
              <a:t>RegistroInventario.java modela la estructura de datos fundamental para representar cada evento o período discretizado dentro de la simulación de inventarios. Esta clase actúa como un contenedor de información o entidad de registro) que encapsula el estado del sistema en un ciclo específico.</a:t>
            </a:r>
          </a:p>
          <a:p>
            <a:pPr algn="just"/>
            <a:r>
              <a:rPr lang="es-MX" sz="1400" dirty="0">
                <a:latin typeface="Arial" panose="020B0604020202020204" pitchFamily="34" charset="0"/>
                <a:cs typeface="Arial" panose="020B0604020202020204" pitchFamily="34" charset="0"/>
              </a:rPr>
              <a:t>Su diseño permite almacenar y estructurar las variables clave de control, tales como:</a:t>
            </a:r>
          </a:p>
          <a:p>
            <a:pPr marL="171450" indent="-171450" algn="just">
              <a:buClr>
                <a:srgbClr val="7030A0"/>
              </a:buClr>
              <a:buFont typeface="Wingdings" panose="05000000000000000000" pitchFamily="2" charset="2"/>
              <a:buChar char="q"/>
            </a:pPr>
            <a:r>
              <a:rPr lang="es-MX" sz="1400" dirty="0">
                <a:latin typeface="Arial" panose="020B0604020202020204" pitchFamily="34" charset="0"/>
                <a:cs typeface="Arial" panose="020B0604020202020204" pitchFamily="34" charset="0"/>
              </a:rPr>
              <a:t>El identificador temporal: el periodo o día de simulación evaluado.</a:t>
            </a:r>
          </a:p>
          <a:p>
            <a:pPr marL="171450" indent="-171450" algn="just">
              <a:buClr>
                <a:srgbClr val="7030A0"/>
              </a:buClr>
              <a:buFont typeface="Wingdings" panose="05000000000000000000" pitchFamily="2" charset="2"/>
              <a:buChar char="q"/>
            </a:pPr>
            <a:r>
              <a:rPr lang="es-MX" sz="1400" dirty="0">
                <a:latin typeface="Arial" panose="020B0604020202020204" pitchFamily="34" charset="0"/>
                <a:cs typeface="Arial" panose="020B0604020202020204" pitchFamily="34" charset="0"/>
              </a:rPr>
              <a:t>Los niveles de stock: el inventario inicial disponible al comienzo del ciclo, el inventario final remanente y las unidades faltantes (demanda insatisfecha).</a:t>
            </a:r>
          </a:p>
          <a:p>
            <a:pPr marL="171450" indent="-171450" algn="just">
              <a:buClr>
                <a:srgbClr val="7030A0"/>
              </a:buClr>
              <a:buFont typeface="Wingdings" panose="05000000000000000000" pitchFamily="2" charset="2"/>
              <a:buChar char="q"/>
            </a:pPr>
            <a:r>
              <a:rPr lang="es-MX" sz="1400" dirty="0">
                <a:latin typeface="Arial" panose="020B0604020202020204" pitchFamily="34" charset="0"/>
                <a:cs typeface="Arial" panose="020B0604020202020204" pitchFamily="34" charset="0"/>
              </a:rPr>
              <a:t>La dinámica operativa: la demanda registrada en el periodo y la orden o pedido de reabastecimiento realizado de acuerdo con la política establecida.</a:t>
            </a:r>
          </a:p>
        </p:txBody>
      </p:sp>
      <p:sp>
        <p:nvSpPr>
          <p:cNvPr id="6" name="Título 1">
            <a:extLst>
              <a:ext uri="{FF2B5EF4-FFF2-40B4-BE49-F238E27FC236}">
                <a16:creationId xmlns:a16="http://schemas.microsoft.com/office/drawing/2014/main" id="{10D9B50D-9A3C-488D-B4E8-5E2645CD9B6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RegistroInventario.java</a:t>
            </a:r>
          </a:p>
        </p:txBody>
      </p:sp>
      <p:pic>
        <p:nvPicPr>
          <p:cNvPr id="2" name="Imagen 1">
            <a:extLst>
              <a:ext uri="{FF2B5EF4-FFF2-40B4-BE49-F238E27FC236}">
                <a16:creationId xmlns:a16="http://schemas.microsoft.com/office/drawing/2014/main" id="{D69EF7C8-5975-471D-883F-97DD6216D586}"/>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645459" y="1385605"/>
            <a:ext cx="4814047" cy="5184527"/>
          </a:xfrm>
          <a:prstGeom prst="rect">
            <a:avLst/>
          </a:prstGeom>
        </p:spPr>
      </p:pic>
    </p:spTree>
    <p:extLst>
      <p:ext uri="{BB962C8B-B14F-4D97-AF65-F5344CB8AC3E}">
        <p14:creationId xmlns:p14="http://schemas.microsoft.com/office/powerpoint/2010/main" val="1432361064"/>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730270" y="1385605"/>
            <a:ext cx="5269424" cy="518452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Marcador de texto 8">
            <a:extLst>
              <a:ext uri="{FF2B5EF4-FFF2-40B4-BE49-F238E27FC236}">
                <a16:creationId xmlns:a16="http://schemas.microsoft.com/office/drawing/2014/main" id="{5A14CD3C-1779-4574-833C-E3BFB23B5AB7}"/>
              </a:ext>
            </a:extLst>
          </p:cNvPr>
          <p:cNvSpPr txBox="1">
            <a:spLocks/>
          </p:cNvSpPr>
          <p:nvPr/>
        </p:nvSpPr>
        <p:spPr>
          <a:xfrm>
            <a:off x="5838092" y="1622671"/>
            <a:ext cx="4978737" cy="4778129"/>
          </a:xfrm>
          <a:prstGeom prst="rect">
            <a:avLst/>
          </a:prstGeom>
        </p:spPr>
        <p:txBody>
          <a:bodyPr vert="horz" lIns="91440" tIns="45720" rIns="91440" bIns="45720" rtlCol="0">
            <a:normAutofit lnSpcReduction="10000"/>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200" dirty="0">
                <a:latin typeface="Arial" panose="020B0604020202020204" pitchFamily="34" charset="0"/>
                <a:cs typeface="Arial" panose="020B0604020202020204" pitchFamily="34" charset="0"/>
              </a:rPr>
              <a:t>InventarioController.java funciona como el núcleo lógico y el controlador principal del módulo de simulación de inventarios. Es el componente encargado de coordinar la interacción entre los parámetros de entrada definidos por el usuario, los modelos matemáticos y la capa de presentación de la interfaz gráfica.</a:t>
            </a:r>
          </a:p>
          <a:p>
            <a:pPr algn="just"/>
            <a:r>
              <a:rPr lang="es-MX" sz="1200" dirty="0">
                <a:latin typeface="Arial" panose="020B0604020202020204" pitchFamily="34" charset="0"/>
                <a:cs typeface="Arial" panose="020B0604020202020204" pitchFamily="34" charset="0"/>
              </a:rPr>
              <a:t>Su arquitectura y responsabilidades principales abarcan:</a:t>
            </a:r>
          </a:p>
          <a:p>
            <a:pPr algn="just"/>
            <a:r>
              <a:rPr lang="es-MX" sz="1200" dirty="0">
                <a:latin typeface="Arial" panose="020B0604020202020204" pitchFamily="34" charset="0"/>
                <a:cs typeface="Arial" panose="020B0604020202020204" pitchFamily="34" charset="0"/>
              </a:rPr>
              <a:t>La gestión del ciclo de simulación: procesa de manera secuencial la demanda estocástica o determinista para cada periodo discretizado, actualizando de forma dinámica el flujo de mercancías.</a:t>
            </a:r>
          </a:p>
          <a:p>
            <a:pPr algn="just"/>
            <a:r>
              <a:rPr lang="es-MX" sz="1200" dirty="0">
                <a:latin typeface="Arial" panose="020B0604020202020204" pitchFamily="34" charset="0"/>
                <a:cs typeface="Arial" panose="020B0604020202020204" pitchFamily="34" charset="0"/>
              </a:rPr>
              <a:t>El control de existencias y déficits: calcula con precisión los niveles de inventario inicial y final, determina la presencia de faltantes (demanda insatisfecha) y evalúa los costos o implicaciones asociadas.</a:t>
            </a:r>
          </a:p>
          <a:p>
            <a:pPr algn="just"/>
            <a:r>
              <a:rPr lang="es-MX" sz="1200" dirty="0">
                <a:latin typeface="Arial" panose="020B0604020202020204" pitchFamily="34" charset="0"/>
                <a:cs typeface="Arial" panose="020B0604020202020204" pitchFamily="34" charset="0"/>
              </a:rPr>
              <a:t>La aplicación de políticas de reabastecimiento: monitores los puntos de pedido y las cantidades óptimas de reposición para disparar órdenes de compra o abastecimiento según la estrategia configurada.</a:t>
            </a:r>
          </a:p>
          <a:p>
            <a:pPr algn="just"/>
            <a:r>
              <a:rPr lang="es-MX" sz="1200" dirty="0">
                <a:latin typeface="Arial" panose="020B0604020202020204" pitchFamily="34" charset="0"/>
                <a:cs typeface="Arial" panose="020B0604020202020204" pitchFamily="34" charset="0"/>
              </a:rPr>
              <a:t>La consolidación de resultados: estructura y agrupa los registros generados durante toda la corrida de simulación, preparándolos para alimentar las vistas tabulares, los indicadores de desempeño y las pruebas estadísticas de validación.</a:t>
            </a:r>
          </a:p>
        </p:txBody>
      </p:sp>
      <p:sp>
        <p:nvSpPr>
          <p:cNvPr id="8" name="Título 1">
            <a:extLst>
              <a:ext uri="{FF2B5EF4-FFF2-40B4-BE49-F238E27FC236}">
                <a16:creationId xmlns:a16="http://schemas.microsoft.com/office/drawing/2014/main" id="{9CBAB170-6892-4582-8EF6-5211350ED8FD}"/>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InventarioController.java</a:t>
            </a:r>
          </a:p>
        </p:txBody>
      </p:sp>
      <p:pic>
        <p:nvPicPr>
          <p:cNvPr id="2" name="Imagen 1">
            <a:extLst>
              <a:ext uri="{FF2B5EF4-FFF2-40B4-BE49-F238E27FC236}">
                <a16:creationId xmlns:a16="http://schemas.microsoft.com/office/drawing/2014/main" id="{4AE22FF6-A262-4D2B-B686-1FBBFDCAB927}"/>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34922" y="1385605"/>
            <a:ext cx="4790114" cy="5184526"/>
          </a:xfrm>
          <a:prstGeom prst="rect">
            <a:avLst/>
          </a:prstGeom>
        </p:spPr>
      </p:pic>
    </p:spTree>
    <p:extLst>
      <p:ext uri="{BB962C8B-B14F-4D97-AF65-F5344CB8AC3E}">
        <p14:creationId xmlns:p14="http://schemas.microsoft.com/office/powerpoint/2010/main" val="2974973065"/>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9093-64EC-4FF0-8FE0-A72506422719}"/>
              </a:ext>
            </a:extLst>
          </p:cNvPr>
          <p:cNvSpPr>
            <a:spLocks noGrp="1"/>
          </p:cNvSpPr>
          <p:nvPr>
            <p:ph type="title"/>
          </p:nvPr>
        </p:nvSpPr>
        <p:spPr>
          <a:xfrm>
            <a:off x="1288766" y="1408176"/>
            <a:ext cx="9418320" cy="4041648"/>
          </a:xfrm>
        </p:spPr>
        <p:txBody>
          <a:bodyPr anchor="ctr">
            <a:normAutofit/>
          </a:bodyPr>
          <a:lstStyle/>
          <a:p>
            <a:pPr algn="ctr"/>
            <a:r>
              <a:rPr lang="es-MX" sz="6600" dirty="0">
                <a:latin typeface="Arial Rounded MT Bold" panose="020F0704030504030204" pitchFamily="34" charset="0"/>
              </a:rPr>
              <a:t>Línea de espera y sistema de inventario en Python.</a:t>
            </a:r>
          </a:p>
        </p:txBody>
      </p:sp>
    </p:spTree>
    <p:extLst>
      <p:ext uri="{BB962C8B-B14F-4D97-AF65-F5344CB8AC3E}">
        <p14:creationId xmlns:p14="http://schemas.microsoft.com/office/powerpoint/2010/main" val="25004770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Línea de espera y sistema de inventario en Python.</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91225" y="1627094"/>
            <a:ext cx="9778163" cy="4719917"/>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dirty="0">
                <a:latin typeface="Arial" panose="020B0604020202020204" pitchFamily="34" charset="0"/>
                <a:cs typeface="Arial" panose="020B0604020202020204" pitchFamily="34" charset="0"/>
              </a:rPr>
              <a:t>La versión desarrollada en Python implementa los modelos de simulación de Línea de Espera e Inventario mediante una arquitectura modular y orientada a objetos. El sistema separa la interfaz gráfica, la lógica de simulación y los modelos de datos en archivos independientes, facilitando su organización, mantenimiento y reutilización.</a:t>
            </a:r>
          </a:p>
          <a:p>
            <a:pPr marL="0" indent="0" algn="just">
              <a:lnSpc>
                <a:spcPct val="150000"/>
              </a:lnSpc>
              <a:buNone/>
            </a:pPr>
            <a:endParaRPr lang="es-MX" dirty="0">
              <a:latin typeface="Arial" panose="020B0604020202020204" pitchFamily="34" charset="0"/>
              <a:cs typeface="Arial" panose="020B0604020202020204" pitchFamily="34" charset="0"/>
            </a:endParaRPr>
          </a:p>
          <a:p>
            <a:pPr marL="0" indent="0" algn="just">
              <a:lnSpc>
                <a:spcPct val="150000"/>
              </a:lnSpc>
              <a:buNone/>
            </a:pPr>
            <a:r>
              <a:rPr lang="es-MX" dirty="0">
                <a:latin typeface="Arial" panose="020B0604020202020204" pitchFamily="34" charset="0"/>
                <a:cs typeface="Arial" panose="020B0604020202020204" pitchFamily="34" charset="0"/>
              </a:rPr>
              <a:t>La interfaz fue desarrollada con </a:t>
            </a:r>
            <a:r>
              <a:rPr lang="es-MX" dirty="0" err="1">
                <a:latin typeface="Arial" panose="020B0604020202020204" pitchFamily="34" charset="0"/>
                <a:cs typeface="Arial" panose="020B0604020202020204" pitchFamily="34" charset="0"/>
              </a:rPr>
              <a:t>Tkinter</a:t>
            </a:r>
            <a:r>
              <a:rPr lang="es-MX" dirty="0">
                <a:latin typeface="Arial" panose="020B0604020202020204" pitchFamily="34" charset="0"/>
                <a:cs typeface="Arial" panose="020B0604020202020204" pitchFamily="34" charset="0"/>
              </a:rPr>
              <a:t>, mientras que los módulos de lógica procesan los parámetros ingresados, generan los datos de simulación y calculan los indicadores correspondientes. Además, el programa incorpora procedimientos de validación estadística para evaluar los resultados obtenidos en cada modelo.</a:t>
            </a:r>
          </a:p>
        </p:txBody>
      </p:sp>
    </p:spTree>
    <p:extLst>
      <p:ext uri="{BB962C8B-B14F-4D97-AF65-F5344CB8AC3E}">
        <p14:creationId xmlns:p14="http://schemas.microsoft.com/office/powerpoint/2010/main" val="3123911477"/>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Línea de espera y sistema de inventario en Python.</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534921" y="1546412"/>
            <a:ext cx="10034467" cy="5042647"/>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b="1" dirty="0">
                <a:latin typeface="Arial" panose="020B0604020202020204" pitchFamily="34" charset="0"/>
                <a:cs typeface="Arial" panose="020B0604020202020204" pitchFamily="34" charset="0"/>
              </a:rPr>
              <a:t>Herramientas utilizadas</a:t>
            </a:r>
          </a:p>
          <a:p>
            <a:pPr marL="0" indent="0" algn="just">
              <a:lnSpc>
                <a:spcPct val="150000"/>
              </a:lnSpc>
              <a:buNone/>
            </a:pPr>
            <a:r>
              <a:rPr lang="es-MX" dirty="0">
                <a:latin typeface="Arial" panose="020B0604020202020204" pitchFamily="34" charset="0"/>
                <a:cs typeface="Arial" panose="020B0604020202020204" pitchFamily="34" charset="0"/>
              </a:rPr>
              <a:t>Para el desarrollo de la práctica se utilizaron las siguientes herramientas:</a:t>
            </a:r>
          </a:p>
          <a:p>
            <a:pPr algn="just">
              <a:lnSpc>
                <a:spcPct val="150000"/>
              </a:lnSpc>
              <a:buFont typeface="Wingdings" panose="05000000000000000000" pitchFamily="2" charset="2"/>
              <a:buChar char="q"/>
            </a:pPr>
            <a:r>
              <a:rPr lang="es-MX" b="1" dirty="0">
                <a:latin typeface="Arial" panose="020B0604020202020204" pitchFamily="34" charset="0"/>
                <a:cs typeface="Arial" panose="020B0604020202020204" pitchFamily="34" charset="0"/>
              </a:rPr>
              <a:t>Python: </a:t>
            </a:r>
            <a:r>
              <a:rPr lang="es-MX" dirty="0">
                <a:latin typeface="Arial" panose="020B0604020202020204" pitchFamily="34" charset="0"/>
                <a:cs typeface="Arial" panose="020B0604020202020204" pitchFamily="34" charset="0"/>
              </a:rPr>
              <a:t>lenguaje de programación utilizado para desarrollar la aplicación e implementar los diferentes métodos de generación de variables aleatorias.</a:t>
            </a:r>
          </a:p>
          <a:p>
            <a:pPr algn="just">
              <a:lnSpc>
                <a:spcPct val="150000"/>
              </a:lnSpc>
              <a:buFont typeface="Wingdings" panose="05000000000000000000" pitchFamily="2" charset="2"/>
              <a:buChar char="q"/>
            </a:pPr>
            <a:r>
              <a:rPr lang="es-MX" b="1" dirty="0">
                <a:latin typeface="Arial" panose="020B0604020202020204" pitchFamily="34" charset="0"/>
                <a:cs typeface="Arial" panose="020B0604020202020204" pitchFamily="34" charset="0"/>
              </a:rPr>
              <a:t>Interfaz gráfica </a:t>
            </a:r>
            <a:r>
              <a:rPr lang="es-MX" b="1" dirty="0" err="1">
                <a:latin typeface="Arial" panose="020B0604020202020204" pitchFamily="34" charset="0"/>
                <a:cs typeface="Arial" panose="020B0604020202020204" pitchFamily="34" charset="0"/>
              </a:rPr>
              <a:t>Tkinter</a:t>
            </a:r>
            <a:r>
              <a:rPr lang="es-MX" b="1" dirty="0">
                <a:latin typeface="Arial" panose="020B0604020202020204" pitchFamily="34" charset="0"/>
                <a:cs typeface="Arial" panose="020B0604020202020204" pitchFamily="34" charset="0"/>
              </a:rPr>
              <a:t>: </a:t>
            </a:r>
            <a:r>
              <a:rPr lang="es-MX" dirty="0">
                <a:latin typeface="Arial" panose="020B0604020202020204" pitchFamily="34" charset="0"/>
                <a:cs typeface="Arial" panose="020B0604020202020204" pitchFamily="34" charset="0"/>
              </a:rPr>
              <a:t>utilizada para crear una ventana de aplicación que permite al usuario seleccionar y ejecutar los diferentes procedimientos.</a:t>
            </a:r>
          </a:p>
          <a:p>
            <a:pPr algn="just">
              <a:lnSpc>
                <a:spcPct val="150000"/>
              </a:lnSpc>
              <a:buFont typeface="Wingdings" panose="05000000000000000000" pitchFamily="2" charset="2"/>
              <a:buChar char="q"/>
            </a:pPr>
            <a:r>
              <a:rPr lang="es-MX" b="1" dirty="0">
                <a:latin typeface="Arial" panose="020B0604020202020204" pitchFamily="34" charset="0"/>
                <a:cs typeface="Arial" panose="020B0604020202020204" pitchFamily="34" charset="0"/>
              </a:rPr>
              <a:t>Bibliotecas </a:t>
            </a:r>
            <a:r>
              <a:rPr lang="es-MX" b="1" dirty="0" err="1">
                <a:latin typeface="Arial" panose="020B0604020202020204" pitchFamily="34" charset="0"/>
                <a:cs typeface="Arial" panose="020B0604020202020204" pitchFamily="34" charset="0"/>
              </a:rPr>
              <a:t>random</a:t>
            </a:r>
            <a:r>
              <a:rPr lang="es-MX" b="1" dirty="0">
                <a:latin typeface="Arial" panose="020B0604020202020204" pitchFamily="34" charset="0"/>
                <a:cs typeface="Arial" panose="020B0604020202020204" pitchFamily="34" charset="0"/>
              </a:rPr>
              <a:t> de Python</a:t>
            </a:r>
            <a:r>
              <a:rPr lang="es-MX" dirty="0">
                <a:latin typeface="Arial" panose="020B0604020202020204" pitchFamily="34" charset="0"/>
                <a:cs typeface="Arial" panose="020B0604020202020204" pitchFamily="34" charset="0"/>
              </a:rPr>
              <a:t>: se utilizaron las librerías necesarias para realizar cálculos matemáticos, generar números aleatorios, procesar los datos y representar los resultados.</a:t>
            </a:r>
          </a:p>
        </p:txBody>
      </p:sp>
    </p:spTree>
    <p:extLst>
      <p:ext uri="{BB962C8B-B14F-4D97-AF65-F5344CB8AC3E}">
        <p14:creationId xmlns:p14="http://schemas.microsoft.com/office/powerpoint/2010/main" val="4008762776"/>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897E976F-6D20-49F8-97CB-9A9A745A5E77}"/>
              </a:ext>
            </a:extLst>
          </p:cNvPr>
          <p:cNvSpPr>
            <a:spLocks noGrp="1"/>
          </p:cNvSpPr>
          <p:nvPr>
            <p:ph type="title"/>
          </p:nvPr>
        </p:nvSpPr>
        <p:spPr>
          <a:xfrm>
            <a:off x="576520" y="2913327"/>
            <a:ext cx="10198788" cy="1031345"/>
          </a:xfrm>
          <a:solidFill>
            <a:schemeClr val="tx2">
              <a:lumMod val="75000"/>
            </a:schemeClr>
          </a:solidFill>
        </p:spPr>
        <p:txBody>
          <a:bodyPr anchor="ctr">
            <a:normAutofit/>
          </a:bodyPr>
          <a:lstStyle/>
          <a:p>
            <a:pPr algn="ctr"/>
            <a:r>
              <a:rPr lang="es-MX" spc="0"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Main</a:t>
            </a: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 y ventana principal</a:t>
            </a:r>
          </a:p>
        </p:txBody>
      </p:sp>
    </p:spTree>
    <p:extLst>
      <p:ext uri="{BB962C8B-B14F-4D97-AF65-F5344CB8AC3E}">
        <p14:creationId xmlns:p14="http://schemas.microsoft.com/office/powerpoint/2010/main" val="1476687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432611" y="1368672"/>
            <a:ext cx="5471127" cy="520964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Marcador de texto 8">
            <a:extLst>
              <a:ext uri="{FF2B5EF4-FFF2-40B4-BE49-F238E27FC236}">
                <a16:creationId xmlns:a16="http://schemas.microsoft.com/office/drawing/2014/main" id="{5A14CD3C-1779-4574-833C-E3BFB23B5AB7}"/>
              </a:ext>
            </a:extLst>
          </p:cNvPr>
          <p:cNvSpPr txBox="1">
            <a:spLocks/>
          </p:cNvSpPr>
          <p:nvPr/>
        </p:nvSpPr>
        <p:spPr>
          <a:xfrm>
            <a:off x="5578138" y="1842247"/>
            <a:ext cx="5180074" cy="4477871"/>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latin typeface="Arial" panose="020B0604020202020204" pitchFamily="34" charset="0"/>
                <a:cs typeface="Arial" panose="020B0604020202020204" pitchFamily="34" charset="0"/>
              </a:rPr>
              <a:t>Main.py es el código que funciona como </a:t>
            </a:r>
            <a:r>
              <a:rPr lang="es-MX" sz="1800" dirty="0" err="1">
                <a:latin typeface="Arial" panose="020B0604020202020204" pitchFamily="34" charset="0"/>
                <a:cs typeface="Arial" panose="020B0604020202020204" pitchFamily="34" charset="0"/>
              </a:rPr>
              <a:t>elpunto</a:t>
            </a:r>
            <a:r>
              <a:rPr lang="es-MX" sz="1800" dirty="0">
                <a:latin typeface="Arial" panose="020B0604020202020204" pitchFamily="34" charset="0"/>
                <a:cs typeface="Arial" panose="020B0604020202020204" pitchFamily="34" charset="0"/>
              </a:rPr>
              <a:t> de entrada principal del programa. Su función es iniciar la aplicación creando la ventana principal.</a:t>
            </a:r>
          </a:p>
          <a:p>
            <a:pPr algn="just"/>
            <a:r>
              <a:rPr lang="es-MX" sz="1800" dirty="0">
                <a:latin typeface="Arial" panose="020B0604020202020204" pitchFamily="34" charset="0"/>
                <a:cs typeface="Arial" panose="020B0604020202020204" pitchFamily="34" charset="0"/>
              </a:rPr>
              <a:t>Constituye el punto de entrada de la aplicación. Importa la clase </a:t>
            </a:r>
            <a:r>
              <a:rPr lang="es-MX" sz="1800" dirty="0" err="1">
                <a:latin typeface="Arial" panose="020B0604020202020204" pitchFamily="34" charset="0"/>
                <a:cs typeface="Arial" panose="020B0604020202020204" pitchFamily="34" charset="0"/>
              </a:rPr>
              <a:t>VentanaPrincipal</a:t>
            </a:r>
            <a:r>
              <a:rPr lang="es-MX" sz="1800" dirty="0">
                <a:latin typeface="Arial" panose="020B0604020202020204" pitchFamily="34" charset="0"/>
                <a:cs typeface="Arial" panose="020B0604020202020204" pitchFamily="34" charset="0"/>
              </a:rPr>
              <a:t>, crea la instancia raíz de </a:t>
            </a:r>
            <a:r>
              <a:rPr lang="es-MX" sz="1800" dirty="0" err="1">
                <a:latin typeface="Arial" panose="020B0604020202020204" pitchFamily="34" charset="0"/>
                <a:cs typeface="Arial" panose="020B0604020202020204" pitchFamily="34" charset="0"/>
              </a:rPr>
              <a:t>Tkinter</a:t>
            </a:r>
            <a:r>
              <a:rPr lang="es-MX" sz="1800" dirty="0">
                <a:latin typeface="Arial" panose="020B0604020202020204" pitchFamily="34" charset="0"/>
                <a:cs typeface="Arial" panose="020B0604020202020204" pitchFamily="34" charset="0"/>
              </a:rPr>
              <a:t> mediante </a:t>
            </a:r>
            <a:r>
              <a:rPr lang="es-MX" sz="1800" dirty="0" err="1">
                <a:latin typeface="Arial" panose="020B0604020202020204" pitchFamily="34" charset="0"/>
                <a:cs typeface="Arial" panose="020B0604020202020204" pitchFamily="34" charset="0"/>
              </a:rPr>
              <a:t>tk.Tk</a:t>
            </a:r>
            <a:r>
              <a:rPr lang="es-MX" sz="1800" dirty="0">
                <a:latin typeface="Arial" panose="020B0604020202020204" pitchFamily="34" charset="0"/>
                <a:cs typeface="Arial" panose="020B0604020202020204" pitchFamily="34" charset="0"/>
              </a:rPr>
              <a:t>() e inicializa la interfaz principal. Finalmente, ejecuta </a:t>
            </a:r>
            <a:r>
              <a:rPr lang="es-MX" sz="1800" dirty="0" err="1">
                <a:latin typeface="Arial" panose="020B0604020202020204" pitchFamily="34" charset="0"/>
                <a:cs typeface="Arial" panose="020B0604020202020204" pitchFamily="34" charset="0"/>
              </a:rPr>
              <a:t>mainloop</a:t>
            </a:r>
            <a:r>
              <a:rPr lang="es-MX" sz="1800" dirty="0">
                <a:latin typeface="Arial" panose="020B0604020202020204" pitchFamily="34" charset="0"/>
                <a:cs typeface="Arial" panose="020B0604020202020204" pitchFamily="34" charset="0"/>
              </a:rPr>
              <a:t>(), encargado de mantener activo el ciclo de eventos de la aplicación y responder a las interacciones realizadas por el usuario.</a:t>
            </a:r>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main.py</a:t>
            </a:r>
          </a:p>
        </p:txBody>
      </p:sp>
      <p:pic>
        <p:nvPicPr>
          <p:cNvPr id="4" name="Imagen 3">
            <a:extLst>
              <a:ext uri="{FF2B5EF4-FFF2-40B4-BE49-F238E27FC236}">
                <a16:creationId xmlns:a16="http://schemas.microsoft.com/office/drawing/2014/main" id="{FA8961B0-C19D-4147-9FD8-9DF349FE5357}"/>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16861" y="1368672"/>
            <a:ext cx="4672512" cy="5209646"/>
          </a:xfrm>
          <a:prstGeom prst="rect">
            <a:avLst/>
          </a:prstGeom>
        </p:spPr>
      </p:pic>
    </p:spTree>
    <p:extLst>
      <p:ext uri="{BB962C8B-B14F-4D97-AF65-F5344CB8AC3E}">
        <p14:creationId xmlns:p14="http://schemas.microsoft.com/office/powerpoint/2010/main" val="1324822123"/>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432612" y="1368672"/>
            <a:ext cx="5471127" cy="533916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Marcador de texto 8">
            <a:extLst>
              <a:ext uri="{FF2B5EF4-FFF2-40B4-BE49-F238E27FC236}">
                <a16:creationId xmlns:a16="http://schemas.microsoft.com/office/drawing/2014/main" id="{5A14CD3C-1779-4574-833C-E3BFB23B5AB7}"/>
              </a:ext>
            </a:extLst>
          </p:cNvPr>
          <p:cNvSpPr txBox="1">
            <a:spLocks/>
          </p:cNvSpPr>
          <p:nvPr/>
        </p:nvSpPr>
        <p:spPr>
          <a:xfrm>
            <a:off x="5578138" y="1815353"/>
            <a:ext cx="5180074" cy="3832412"/>
          </a:xfrm>
          <a:prstGeom prst="rect">
            <a:avLst/>
          </a:prstGeom>
        </p:spPr>
        <p:txBody>
          <a:bodyPr vert="horz" lIns="91440" tIns="45720" rIns="91440" bIns="45720" rtlCol="0">
            <a:normAutofit fontScale="92500" lnSpcReduction="10000"/>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latin typeface="Arial" panose="020B0604020202020204" pitchFamily="34" charset="0"/>
                <a:cs typeface="Arial" panose="020B0604020202020204" pitchFamily="34" charset="0"/>
              </a:rPr>
              <a:t>En el archivo </a:t>
            </a:r>
            <a:r>
              <a:rPr lang="es-MX" sz="1800" i="1" dirty="0">
                <a:latin typeface="Arial" panose="020B0604020202020204" pitchFamily="34" charset="0"/>
                <a:cs typeface="Arial" panose="020B0604020202020204" pitchFamily="34" charset="0"/>
              </a:rPr>
              <a:t>ventanaPrincipal.py </a:t>
            </a:r>
            <a:r>
              <a:rPr lang="es-MX" sz="1800" dirty="0">
                <a:latin typeface="Arial" panose="020B0604020202020204" pitchFamily="34" charset="0"/>
                <a:cs typeface="Arial" panose="020B0604020202020204" pitchFamily="34" charset="0"/>
              </a:rPr>
              <a:t>se crea la interfaz grafica de usuario (GUI) en esta parte se crea la ventana principal utilizando </a:t>
            </a:r>
            <a:r>
              <a:rPr lang="es-MX" sz="1800" dirty="0" err="1">
                <a:latin typeface="Arial" panose="020B0604020202020204" pitchFamily="34" charset="0"/>
                <a:cs typeface="Arial" panose="020B0604020202020204" pitchFamily="34" charset="0"/>
              </a:rPr>
              <a:t>tkinter</a:t>
            </a:r>
            <a:r>
              <a:rPr lang="es-MX" sz="1800" dirty="0">
                <a:latin typeface="Arial" panose="020B0604020202020204" pitchFamily="34" charset="0"/>
                <a:cs typeface="Arial" panose="020B0604020202020204" pitchFamily="34" charset="0"/>
              </a:rPr>
              <a:t>.</a:t>
            </a:r>
          </a:p>
          <a:p>
            <a:pPr algn="just"/>
            <a:r>
              <a:rPr lang="es-MX" sz="1800" dirty="0">
                <a:latin typeface="Arial" panose="020B0604020202020204" pitchFamily="34" charset="0"/>
                <a:cs typeface="Arial" panose="020B0604020202020204" pitchFamily="34" charset="0"/>
              </a:rPr>
              <a:t> </a:t>
            </a:r>
          </a:p>
          <a:p>
            <a:pPr algn="just"/>
            <a:r>
              <a:rPr lang="es-MX" sz="1800" dirty="0">
                <a:latin typeface="Arial" panose="020B0604020202020204" pitchFamily="34" charset="0"/>
                <a:cs typeface="Arial" panose="020B0604020202020204" pitchFamily="34" charset="0"/>
              </a:rPr>
              <a:t>Implementa la interfaz principal del sistema mediante la clase </a:t>
            </a:r>
            <a:r>
              <a:rPr lang="es-MX" sz="1800" dirty="0" err="1">
                <a:latin typeface="Arial" panose="020B0604020202020204" pitchFamily="34" charset="0"/>
                <a:cs typeface="Arial" panose="020B0604020202020204" pitchFamily="34" charset="0"/>
              </a:rPr>
              <a:t>VentanaPrincipal</a:t>
            </a:r>
            <a:r>
              <a:rPr lang="es-MX" sz="1800" dirty="0">
                <a:latin typeface="Arial" panose="020B0604020202020204" pitchFamily="34" charset="0"/>
                <a:cs typeface="Arial" panose="020B0604020202020204" pitchFamily="34" charset="0"/>
              </a:rPr>
              <a:t>. Se encarga de configurar la ventana, construir los componentes gráficos y administrar la navegación hacia los módulos de Línea de Espera e Inventario. Para abrir cada simulador crea una ventana secundaria con </a:t>
            </a:r>
            <a:r>
              <a:rPr lang="es-MX" sz="1800" dirty="0" err="1">
                <a:latin typeface="Arial" panose="020B0604020202020204" pitchFamily="34" charset="0"/>
                <a:cs typeface="Arial" panose="020B0604020202020204" pitchFamily="34" charset="0"/>
              </a:rPr>
              <a:t>Toplevel</a:t>
            </a:r>
            <a:r>
              <a:rPr lang="es-MX" sz="1800" dirty="0">
                <a:latin typeface="Arial" panose="020B0604020202020204" pitchFamily="34" charset="0"/>
                <a:cs typeface="Arial" panose="020B0604020202020204" pitchFamily="34" charset="0"/>
              </a:rPr>
              <a:t>, oculta temporalmente la ventana principal y transfiere su referencia para permitir posteriormente el retorno al menú. </a:t>
            </a:r>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ventanaPrincipal.py</a:t>
            </a:r>
          </a:p>
        </p:txBody>
      </p:sp>
      <p:pic>
        <p:nvPicPr>
          <p:cNvPr id="6" name="Imagen 5">
            <a:extLst>
              <a:ext uri="{FF2B5EF4-FFF2-40B4-BE49-F238E27FC236}">
                <a16:creationId xmlns:a16="http://schemas.microsoft.com/office/drawing/2014/main" id="{CAEF8EE7-4C4B-46D4-B471-DEAC7C8B790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34920" y="1413092"/>
            <a:ext cx="4702735" cy="5294746"/>
          </a:xfrm>
          <a:prstGeom prst="rect">
            <a:avLst/>
          </a:prstGeom>
        </p:spPr>
      </p:pic>
    </p:spTree>
    <p:extLst>
      <p:ext uri="{BB962C8B-B14F-4D97-AF65-F5344CB8AC3E}">
        <p14:creationId xmlns:p14="http://schemas.microsoft.com/office/powerpoint/2010/main" val="3515363230"/>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578138" y="1368672"/>
            <a:ext cx="5312154" cy="533916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Marcador de texto 8">
            <a:extLst>
              <a:ext uri="{FF2B5EF4-FFF2-40B4-BE49-F238E27FC236}">
                <a16:creationId xmlns:a16="http://schemas.microsoft.com/office/drawing/2014/main" id="{5A14CD3C-1779-4574-833C-E3BFB23B5AB7}"/>
              </a:ext>
            </a:extLst>
          </p:cNvPr>
          <p:cNvSpPr txBox="1">
            <a:spLocks/>
          </p:cNvSpPr>
          <p:nvPr/>
        </p:nvSpPr>
        <p:spPr>
          <a:xfrm>
            <a:off x="5578138" y="1815353"/>
            <a:ext cx="5180074" cy="3832412"/>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endParaRPr lang="es-MX" sz="1800" dirty="0">
              <a:latin typeface="Arial" panose="020B0604020202020204" pitchFamily="34" charset="0"/>
              <a:cs typeface="Arial" panose="020B0604020202020204" pitchFamily="34" charset="0"/>
            </a:endParaRPr>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ventanaPrincipal.py</a:t>
            </a:r>
          </a:p>
        </p:txBody>
      </p:sp>
      <p:pic>
        <p:nvPicPr>
          <p:cNvPr id="2" name="Imagen 1">
            <a:extLst>
              <a:ext uri="{FF2B5EF4-FFF2-40B4-BE49-F238E27FC236}">
                <a16:creationId xmlns:a16="http://schemas.microsoft.com/office/drawing/2014/main" id="{07DCF8A6-5753-4B24-A1C4-5745B1514DD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34921" y="1507190"/>
            <a:ext cx="4886634" cy="4013658"/>
          </a:xfrm>
          <a:prstGeom prst="rect">
            <a:avLst/>
          </a:prstGeom>
        </p:spPr>
      </p:pic>
      <p:sp>
        <p:nvSpPr>
          <p:cNvPr id="7" name="CuadroTexto 6">
            <a:extLst>
              <a:ext uri="{FF2B5EF4-FFF2-40B4-BE49-F238E27FC236}">
                <a16:creationId xmlns:a16="http://schemas.microsoft.com/office/drawing/2014/main" id="{00223606-5BFE-4EE1-A23C-6E9ED0DE61FA}"/>
              </a:ext>
            </a:extLst>
          </p:cNvPr>
          <p:cNvSpPr txBox="1"/>
          <p:nvPr/>
        </p:nvSpPr>
        <p:spPr>
          <a:xfrm>
            <a:off x="1421129" y="5676492"/>
            <a:ext cx="3173506"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Figura 4</a:t>
            </a:r>
          </a:p>
        </p:txBody>
      </p:sp>
      <p:sp>
        <p:nvSpPr>
          <p:cNvPr id="8" name="Marcador de texto 8">
            <a:extLst>
              <a:ext uri="{FF2B5EF4-FFF2-40B4-BE49-F238E27FC236}">
                <a16:creationId xmlns:a16="http://schemas.microsoft.com/office/drawing/2014/main" id="{8E7505F6-24C6-40A8-A20E-6B107501C0F6}"/>
              </a:ext>
            </a:extLst>
          </p:cNvPr>
          <p:cNvSpPr txBox="1">
            <a:spLocks/>
          </p:cNvSpPr>
          <p:nvPr/>
        </p:nvSpPr>
        <p:spPr>
          <a:xfrm>
            <a:off x="5674660" y="1711962"/>
            <a:ext cx="5059050" cy="4715732"/>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latin typeface="Arial" panose="020B0604020202020204" pitchFamily="34" charset="0"/>
                <a:cs typeface="Arial" panose="020B0604020202020204" pitchFamily="34" charset="0"/>
              </a:rPr>
              <a:t>Figura 4: Interfaz gráfica primaria del programa de </a:t>
            </a:r>
            <a:r>
              <a:rPr lang="es-MX" sz="1800" dirty="0" err="1">
                <a:latin typeface="Arial" panose="020B0604020202020204" pitchFamily="34" charset="0"/>
                <a:cs typeface="Arial" panose="020B0604020202020204" pitchFamily="34" charset="0"/>
              </a:rPr>
              <a:t>simulacion</a:t>
            </a:r>
            <a:r>
              <a:rPr lang="es-MX" sz="1800" dirty="0">
                <a:latin typeface="Arial" panose="020B0604020202020204" pitchFamily="34" charset="0"/>
                <a:cs typeface="Arial" panose="020B0604020202020204" pitchFamily="34" charset="0"/>
              </a:rPr>
              <a:t> en Python que se encuentra en  ejecución (ventanaPrincipal.py).</a:t>
            </a:r>
          </a:p>
          <a:p>
            <a:pPr algn="just"/>
            <a:endParaRPr lang="es-MX" sz="1800" dirty="0">
              <a:latin typeface="Arial" panose="020B0604020202020204" pitchFamily="34" charset="0"/>
              <a:cs typeface="Arial" panose="020B0604020202020204" pitchFamily="34" charset="0"/>
            </a:endParaRPr>
          </a:p>
          <a:p>
            <a:pPr algn="just"/>
            <a:r>
              <a:rPr lang="es-MX" sz="1800" dirty="0">
                <a:latin typeface="Arial" panose="020B0604020202020204" pitchFamily="34" charset="0"/>
                <a:cs typeface="Arial" panose="020B0604020202020204" pitchFamily="34" charset="0"/>
              </a:rPr>
              <a:t>Se muestra la ventana activa con el panel de configuración de parámetros de entrada cargados, en este caso se muestra dos opciones para que usuario elija cual de los dos modelos de simulación realizar.</a:t>
            </a:r>
          </a:p>
        </p:txBody>
      </p:sp>
    </p:spTree>
    <p:extLst>
      <p:ext uri="{BB962C8B-B14F-4D97-AF65-F5344CB8AC3E}">
        <p14:creationId xmlns:p14="http://schemas.microsoft.com/office/powerpoint/2010/main" val="1278258550"/>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897E976F-6D20-49F8-97CB-9A9A745A5E77}"/>
              </a:ext>
            </a:extLst>
          </p:cNvPr>
          <p:cNvSpPr>
            <a:spLocks noGrp="1"/>
          </p:cNvSpPr>
          <p:nvPr>
            <p:ph type="title"/>
          </p:nvPr>
        </p:nvSpPr>
        <p:spPr>
          <a:xfrm>
            <a:off x="832014" y="2913327"/>
            <a:ext cx="10198788" cy="1031345"/>
          </a:xfrm>
          <a:solidFill>
            <a:schemeClr val="tx2">
              <a:lumMod val="75000"/>
            </a:schemeClr>
          </a:solidFill>
        </p:spPr>
        <p:txBody>
          <a:bodyPr anchor="ctr">
            <a:normAutofit/>
          </a:body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Módulo Línea de Espera</a:t>
            </a:r>
          </a:p>
        </p:txBody>
      </p:sp>
    </p:spTree>
    <p:extLst>
      <p:ext uri="{BB962C8B-B14F-4D97-AF65-F5344CB8AC3E}">
        <p14:creationId xmlns:p14="http://schemas.microsoft.com/office/powerpoint/2010/main" val="18384605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634315" y="1368672"/>
            <a:ext cx="5269424" cy="533916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Marcador de texto 8">
            <a:extLst>
              <a:ext uri="{FF2B5EF4-FFF2-40B4-BE49-F238E27FC236}">
                <a16:creationId xmlns:a16="http://schemas.microsoft.com/office/drawing/2014/main" id="{5A14CD3C-1779-4574-833C-E3BFB23B5AB7}"/>
              </a:ext>
            </a:extLst>
          </p:cNvPr>
          <p:cNvSpPr txBox="1">
            <a:spLocks/>
          </p:cNvSpPr>
          <p:nvPr/>
        </p:nvSpPr>
        <p:spPr>
          <a:xfrm>
            <a:off x="5820150" y="1711962"/>
            <a:ext cx="4913559" cy="4715732"/>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latin typeface="Arial" panose="020B0604020202020204" pitchFamily="34" charset="0"/>
                <a:cs typeface="Arial" panose="020B0604020202020204" pitchFamily="34" charset="0"/>
              </a:rPr>
              <a:t>Cliente.py es la clase que utilizada como modelo para representar individualmente a cada entidad procesada durante la simulación. Cada objeto almacena información como número de cliente, servidor asignado, tiempo de llegada, duración del servicio, tiempo de espera, inicio y finalización de la atención. Sus métodos de acceso permiten recuperar estos valores para generar tablas, indicadores y resultados.</a:t>
            </a:r>
          </a:p>
          <a:p>
            <a:pPr algn="just"/>
            <a:r>
              <a:rPr lang="es-MX" sz="1800" dirty="0">
                <a:latin typeface="Arial" panose="020B0604020202020204" pitchFamily="34" charset="0"/>
                <a:cs typeface="Arial" panose="020B0604020202020204" pitchFamily="34" charset="0"/>
              </a:rPr>
              <a:t>En otras palabras, cada cliente de la simulación se convierte en un objeto.</a:t>
            </a:r>
            <a:endParaRPr lang="es-MX" sz="1800" i="1" dirty="0">
              <a:latin typeface="Arial" panose="020B0604020202020204" pitchFamily="34" charset="0"/>
              <a:cs typeface="Arial" panose="020B0604020202020204" pitchFamily="34" charset="0"/>
            </a:endParaRPr>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Cliente.py</a:t>
            </a:r>
          </a:p>
        </p:txBody>
      </p:sp>
      <p:pic>
        <p:nvPicPr>
          <p:cNvPr id="4" name="Imagen 3">
            <a:extLst>
              <a:ext uri="{FF2B5EF4-FFF2-40B4-BE49-F238E27FC236}">
                <a16:creationId xmlns:a16="http://schemas.microsoft.com/office/drawing/2014/main" id="{0F8A0412-2061-42D7-BD49-B45076D7B52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34921" y="1400245"/>
            <a:ext cx="4929364" cy="5307593"/>
          </a:xfrm>
          <a:prstGeom prst="rect">
            <a:avLst/>
          </a:prstGeom>
        </p:spPr>
      </p:pic>
    </p:spTree>
    <p:extLst>
      <p:ext uri="{BB962C8B-B14F-4D97-AF65-F5344CB8AC3E}">
        <p14:creationId xmlns:p14="http://schemas.microsoft.com/office/powerpoint/2010/main" val="1514994758"/>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634315" y="1551016"/>
            <a:ext cx="5269424" cy="5078313"/>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0" name="Marcador de texto 8">
            <a:extLst>
              <a:ext uri="{FF2B5EF4-FFF2-40B4-BE49-F238E27FC236}">
                <a16:creationId xmlns:a16="http://schemas.microsoft.com/office/drawing/2014/main" id="{5A14CD3C-1779-4574-833C-E3BFB23B5AB7}"/>
              </a:ext>
            </a:extLst>
          </p:cNvPr>
          <p:cNvSpPr txBox="1">
            <a:spLocks/>
          </p:cNvSpPr>
          <p:nvPr/>
        </p:nvSpPr>
        <p:spPr>
          <a:xfrm>
            <a:off x="5820150" y="1711962"/>
            <a:ext cx="4913559" cy="4715732"/>
          </a:xfrm>
          <a:prstGeom prst="rect">
            <a:avLst/>
          </a:prstGeom>
        </p:spPr>
        <p:txBody>
          <a:bodyPr vert="horz" lIns="91440" tIns="45720" rIns="91440" bIns="45720" rtlCol="0">
            <a:normAutofit fontScale="92500"/>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latin typeface="Arial" panose="020B0604020202020204" pitchFamily="34" charset="0"/>
                <a:cs typeface="Arial" panose="020B0604020202020204" pitchFamily="34" charset="0"/>
              </a:rPr>
              <a:t>Espera.py contiene el núcleo lógico y matemático de la simulación de Línea de Espera. La clase Espera recibe los parámetros definidos por el usuario, valida los rangos de entrada, genera aleatoriamente los tiempos entre llegadas y de servicio, administra la disponibilidad de los servidores y determina cuál atenderá a cada cliente. A partir de este procesamiento calcula tiempos de inicio, finalización y espera, además de generar los datos requeridos para la validación estadística.</a:t>
            </a:r>
          </a:p>
          <a:p>
            <a:pPr algn="just"/>
            <a:r>
              <a:rPr lang="es-MX" sz="1800" dirty="0">
                <a:latin typeface="Arial" panose="020B0604020202020204" pitchFamily="34" charset="0"/>
                <a:cs typeface="Arial" panose="020B0604020202020204" pitchFamily="34" charset="0"/>
              </a:rPr>
              <a:t>Además, la clase contiene métodos específicos para la validación, entre ellos </a:t>
            </a:r>
            <a:r>
              <a:rPr lang="es-MX" sz="1800" dirty="0" err="1">
                <a:latin typeface="Arial" panose="020B0604020202020204" pitchFamily="34" charset="0"/>
                <a:cs typeface="Arial" panose="020B0604020202020204" pitchFamily="34" charset="0"/>
              </a:rPr>
              <a:t>validarSimulacion</a:t>
            </a:r>
            <a:r>
              <a:rPr lang="es-MX" sz="1800" dirty="0">
                <a:latin typeface="Arial" panose="020B0604020202020204" pitchFamily="34" charset="0"/>
                <a:cs typeface="Arial" panose="020B0604020202020204" pitchFamily="34" charset="0"/>
              </a:rPr>
              <a:t>(), </a:t>
            </a:r>
            <a:r>
              <a:rPr lang="es-MX" sz="1800" dirty="0" err="1">
                <a:latin typeface="Arial" panose="020B0604020202020204" pitchFamily="34" charset="0"/>
                <a:cs typeface="Arial" panose="020B0604020202020204" pitchFamily="34" charset="0"/>
              </a:rPr>
              <a:t>ejecutarPruebaT</a:t>
            </a:r>
            <a:r>
              <a:rPr lang="es-MX" sz="1800" dirty="0">
                <a:latin typeface="Arial" panose="020B0604020202020204" pitchFamily="34" charset="0"/>
                <a:cs typeface="Arial" panose="020B0604020202020204" pitchFamily="34" charset="0"/>
              </a:rPr>
              <a:t>() y </a:t>
            </a:r>
            <a:r>
              <a:rPr lang="es-MX" sz="1800" dirty="0" err="1">
                <a:latin typeface="Arial" panose="020B0604020202020204" pitchFamily="34" charset="0"/>
                <a:cs typeface="Arial" panose="020B0604020202020204" pitchFamily="34" charset="0"/>
              </a:rPr>
              <a:t>ejecutarWilcoxon</a:t>
            </a:r>
            <a:r>
              <a:rPr lang="es-MX" sz="1800" dirty="0">
                <a:latin typeface="Arial" panose="020B0604020202020204" pitchFamily="34" charset="0"/>
                <a:cs typeface="Arial" panose="020B0604020202020204" pitchFamily="34" charset="0"/>
              </a:rPr>
              <a:t>().</a:t>
            </a:r>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Espera.py</a:t>
            </a:r>
          </a:p>
        </p:txBody>
      </p:sp>
      <p:pic>
        <p:nvPicPr>
          <p:cNvPr id="2" name="Imagen 1">
            <a:extLst>
              <a:ext uri="{FF2B5EF4-FFF2-40B4-BE49-F238E27FC236}">
                <a16:creationId xmlns:a16="http://schemas.microsoft.com/office/drawing/2014/main" id="{3CA6B2DE-52E0-4D09-8CC2-9D359EA529A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34921" y="1531785"/>
            <a:ext cx="4929364" cy="5067420"/>
          </a:xfrm>
          <a:prstGeom prst="rect">
            <a:avLst/>
          </a:prstGeom>
        </p:spPr>
      </p:pic>
    </p:spTree>
    <p:extLst>
      <p:ext uri="{BB962C8B-B14F-4D97-AF65-F5344CB8AC3E}">
        <p14:creationId xmlns:p14="http://schemas.microsoft.com/office/powerpoint/2010/main" val="2678773297"/>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634315" y="1551016"/>
            <a:ext cx="5269424" cy="5078313"/>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0" name="Marcador de texto 8">
            <a:extLst>
              <a:ext uri="{FF2B5EF4-FFF2-40B4-BE49-F238E27FC236}">
                <a16:creationId xmlns:a16="http://schemas.microsoft.com/office/drawing/2014/main" id="{5A14CD3C-1779-4574-833C-E3BFB23B5AB7}"/>
              </a:ext>
            </a:extLst>
          </p:cNvPr>
          <p:cNvSpPr txBox="1">
            <a:spLocks/>
          </p:cNvSpPr>
          <p:nvPr/>
        </p:nvSpPr>
        <p:spPr>
          <a:xfrm>
            <a:off x="5820150" y="1711962"/>
            <a:ext cx="4913559" cy="4715732"/>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latin typeface="Arial" panose="020B0604020202020204" pitchFamily="34" charset="0"/>
                <a:cs typeface="Arial" panose="020B0604020202020204" pitchFamily="34" charset="0"/>
              </a:rPr>
              <a:t>Este fragmento es muy importante porque demuestra la lógica de una línea de espera. </a:t>
            </a:r>
          </a:p>
          <a:p>
            <a:pPr algn="just"/>
            <a:endParaRPr lang="es-MX" sz="1800" dirty="0">
              <a:latin typeface="Arial" panose="020B0604020202020204" pitchFamily="34" charset="0"/>
              <a:cs typeface="Arial" panose="020B0604020202020204" pitchFamily="34" charset="0"/>
            </a:endParaRPr>
          </a:p>
          <a:p>
            <a:pPr algn="just"/>
            <a:r>
              <a:rPr lang="es-MX" sz="1800" dirty="0">
                <a:latin typeface="Arial" panose="020B0604020202020204" pitchFamily="34" charset="0"/>
                <a:cs typeface="Arial" panose="020B0604020202020204" pitchFamily="34" charset="0"/>
              </a:rPr>
              <a:t>Asignación de servidor: el algoritmo recorre la disponibilidad de los servidores e identifica aquel cuyo tiempo de liberación es menor. Posteriormente, asigna al cliente al servidor seleccionado, permitiendo distribuir dinámicamente la atención durante la simulación.</a:t>
            </a:r>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Espera.py</a:t>
            </a:r>
          </a:p>
        </p:txBody>
      </p:sp>
      <p:sp>
        <p:nvSpPr>
          <p:cNvPr id="6" name="Rectángulo 5">
            <a:extLst>
              <a:ext uri="{FF2B5EF4-FFF2-40B4-BE49-F238E27FC236}">
                <a16:creationId xmlns:a16="http://schemas.microsoft.com/office/drawing/2014/main" id="{BE8AE1ED-91D9-4F19-9EEB-73B702C701AD}"/>
              </a:ext>
            </a:extLst>
          </p:cNvPr>
          <p:cNvSpPr/>
          <p:nvPr/>
        </p:nvSpPr>
        <p:spPr>
          <a:xfrm>
            <a:off x="534921" y="1566404"/>
            <a:ext cx="4929364" cy="5047536"/>
          </a:xfrm>
          <a:prstGeom prst="rect">
            <a:avLst/>
          </a:prstGeom>
          <a:solidFill>
            <a:srgbClr val="19142A"/>
          </a:solidFill>
        </p:spPr>
        <p:txBody>
          <a:bodyPr wrap="square">
            <a:spAutoFit/>
          </a:bodyPr>
          <a:lstStyle/>
          <a:p>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indiceServidor</a:t>
            </a:r>
            <a:r>
              <a:rPr lang="es-MX" sz="1400" dirty="0">
                <a:solidFill>
                  <a:srgbClr val="BFC7D5"/>
                </a:solidFill>
                <a:latin typeface="Consolas" panose="020B0609020204030204" pitchFamily="49" charset="0"/>
              </a:rPr>
              <a:t> </a:t>
            </a:r>
            <a:r>
              <a:rPr lang="es-MX" sz="1400" dirty="0">
                <a:solidFill>
                  <a:srgbClr val="C792EA"/>
                </a:solidFill>
                <a:latin typeface="Consolas" panose="020B0609020204030204" pitchFamily="49" charset="0"/>
              </a:rPr>
              <a:t>=</a:t>
            </a:r>
            <a:r>
              <a:rPr lang="es-MX" sz="1400" dirty="0">
                <a:solidFill>
                  <a:srgbClr val="BFC7D5"/>
                </a:solidFill>
                <a:latin typeface="Consolas" panose="020B0609020204030204" pitchFamily="49" charset="0"/>
              </a:rPr>
              <a:t> </a:t>
            </a:r>
            <a:r>
              <a:rPr lang="es-MX" sz="1400" dirty="0">
                <a:solidFill>
                  <a:srgbClr val="F78C6C"/>
                </a:solidFill>
                <a:latin typeface="Consolas" panose="020B0609020204030204" pitchFamily="49" charset="0"/>
              </a:rPr>
              <a:t>0</a:t>
            </a:r>
            <a:endParaRPr lang="es-MX" sz="1400" dirty="0">
              <a:solidFill>
                <a:srgbClr val="BFC7D5"/>
              </a:solidFill>
              <a:latin typeface="Consolas" panose="020B0609020204030204" pitchFamily="49" charset="0"/>
            </a:endParaRPr>
          </a:p>
          <a:p>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menorDisponibilidad</a:t>
            </a:r>
            <a:r>
              <a:rPr lang="es-MX" sz="1400" dirty="0">
                <a:solidFill>
                  <a:srgbClr val="BFC7D5"/>
                </a:solidFill>
                <a:latin typeface="Consolas" panose="020B0609020204030204" pitchFamily="49" charset="0"/>
              </a:rPr>
              <a:t> </a:t>
            </a:r>
            <a:r>
              <a:rPr lang="es-MX" sz="1400" dirty="0">
                <a:solidFill>
                  <a:srgbClr val="C792EA"/>
                </a:solidFill>
                <a:latin typeface="Consolas" panose="020B0609020204030204" pitchFamily="49" charset="0"/>
              </a:rPr>
              <a:t>=</a:t>
            </a:r>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servidoresDisponibles</a:t>
            </a:r>
            <a:r>
              <a:rPr lang="es-MX" sz="1400" dirty="0">
                <a:solidFill>
                  <a:srgbClr val="BFC7D5"/>
                </a:solidFill>
                <a:latin typeface="Consolas" panose="020B0609020204030204" pitchFamily="49" charset="0"/>
              </a:rPr>
              <a:t>[</a:t>
            </a:r>
            <a:r>
              <a:rPr lang="es-MX" sz="1400" dirty="0">
                <a:solidFill>
                  <a:srgbClr val="F78C6C"/>
                </a:solidFill>
                <a:latin typeface="Consolas" panose="020B0609020204030204" pitchFamily="49" charset="0"/>
              </a:rPr>
              <a:t>0</a:t>
            </a:r>
            <a:r>
              <a:rPr lang="es-MX" sz="1400" dirty="0">
                <a:solidFill>
                  <a:srgbClr val="BFC7D5"/>
                </a:solidFill>
                <a:latin typeface="Consolas" panose="020B0609020204030204" pitchFamily="49" charset="0"/>
              </a:rPr>
              <a:t>]</a:t>
            </a:r>
          </a:p>
          <a:p>
            <a:br>
              <a:rPr lang="es-MX" sz="1400" dirty="0">
                <a:solidFill>
                  <a:srgbClr val="BFC7D5"/>
                </a:solidFill>
                <a:latin typeface="Consolas" panose="020B0609020204030204" pitchFamily="49" charset="0"/>
              </a:rPr>
            </a:br>
            <a:r>
              <a:rPr lang="es-MX" sz="1400" dirty="0">
                <a:solidFill>
                  <a:srgbClr val="BFC7D5"/>
                </a:solidFill>
                <a:latin typeface="Consolas" panose="020B0609020204030204" pitchFamily="49" charset="0"/>
              </a:rPr>
              <a:t>            </a:t>
            </a:r>
            <a:r>
              <a:rPr lang="es-MX" sz="1400" dirty="0" err="1">
                <a:solidFill>
                  <a:srgbClr val="C792EA"/>
                </a:solidFill>
                <a:latin typeface="Consolas" panose="020B0609020204030204" pitchFamily="49" charset="0"/>
              </a:rPr>
              <a:t>for</a:t>
            </a:r>
            <a:r>
              <a:rPr lang="es-MX" sz="1400" dirty="0">
                <a:solidFill>
                  <a:srgbClr val="BFC7D5"/>
                </a:solidFill>
                <a:latin typeface="Consolas" panose="020B0609020204030204" pitchFamily="49" charset="0"/>
              </a:rPr>
              <a:t> j </a:t>
            </a:r>
            <a:r>
              <a:rPr lang="es-MX" sz="1400" dirty="0">
                <a:solidFill>
                  <a:srgbClr val="C792EA"/>
                </a:solidFill>
                <a:latin typeface="Consolas" panose="020B0609020204030204" pitchFamily="49" charset="0"/>
              </a:rPr>
              <a:t>in</a:t>
            </a:r>
            <a:r>
              <a:rPr lang="es-MX" sz="1400" dirty="0">
                <a:solidFill>
                  <a:srgbClr val="BFC7D5"/>
                </a:solidFill>
                <a:latin typeface="Consolas" panose="020B0609020204030204" pitchFamily="49" charset="0"/>
              </a:rPr>
              <a:t> </a:t>
            </a:r>
            <a:r>
              <a:rPr lang="es-MX" sz="1400" dirty="0" err="1">
                <a:solidFill>
                  <a:srgbClr val="89DDFF"/>
                </a:solidFill>
                <a:latin typeface="Consolas" panose="020B0609020204030204" pitchFamily="49" charset="0"/>
              </a:rPr>
              <a:t>range</a:t>
            </a:r>
            <a:r>
              <a:rPr lang="es-MX" sz="1400" dirty="0">
                <a:solidFill>
                  <a:srgbClr val="BFC7D5"/>
                </a:solidFill>
                <a:latin typeface="Consolas" panose="020B0609020204030204" pitchFamily="49" charset="0"/>
              </a:rPr>
              <a:t>(</a:t>
            </a:r>
            <a:r>
              <a:rPr lang="es-MX" sz="1400" dirty="0">
                <a:solidFill>
                  <a:srgbClr val="F78C6C"/>
                </a:solidFill>
                <a:latin typeface="Consolas" panose="020B0609020204030204" pitchFamily="49" charset="0"/>
              </a:rPr>
              <a:t>1</a:t>
            </a:r>
            <a:r>
              <a:rPr lang="es-MX" sz="1400" dirty="0">
                <a:solidFill>
                  <a:srgbClr val="D9F5DD"/>
                </a:solidFill>
                <a:latin typeface="Consolas" panose="020B0609020204030204" pitchFamily="49" charset="0"/>
              </a:rPr>
              <a:t>,</a:t>
            </a:r>
            <a:r>
              <a:rPr lang="es-MX" sz="1400" dirty="0">
                <a:solidFill>
                  <a:srgbClr val="7986E7"/>
                </a:solidFill>
                <a:latin typeface="Consolas" panose="020B0609020204030204" pitchFamily="49" charset="0"/>
              </a:rPr>
              <a:t> </a:t>
            </a:r>
            <a:r>
              <a:rPr lang="es-MX" sz="1400" dirty="0" err="1">
                <a:solidFill>
                  <a:srgbClr val="7986E7"/>
                </a:solidFill>
                <a:latin typeface="Consolas" panose="020B0609020204030204" pitchFamily="49" charset="0"/>
              </a:rPr>
              <a:t>cantidadServidores</a:t>
            </a:r>
            <a:r>
              <a:rPr lang="es-MX" sz="1400" dirty="0">
                <a:solidFill>
                  <a:srgbClr val="BFC7D5"/>
                </a:solidFill>
                <a:latin typeface="Consolas" panose="020B0609020204030204" pitchFamily="49" charset="0"/>
              </a:rPr>
              <a:t>):</a:t>
            </a:r>
          </a:p>
          <a:p>
            <a:br>
              <a:rPr lang="es-MX" sz="1400" dirty="0">
                <a:solidFill>
                  <a:srgbClr val="BFC7D5"/>
                </a:solidFill>
                <a:latin typeface="Consolas" panose="020B0609020204030204" pitchFamily="49" charset="0"/>
              </a:rPr>
            </a:br>
            <a:r>
              <a:rPr lang="es-MX" sz="1400" dirty="0">
                <a:solidFill>
                  <a:srgbClr val="BFC7D5"/>
                </a:solidFill>
                <a:latin typeface="Consolas" panose="020B0609020204030204" pitchFamily="49" charset="0"/>
              </a:rPr>
              <a:t>                </a:t>
            </a:r>
            <a:r>
              <a:rPr lang="es-MX" sz="1400" dirty="0" err="1">
                <a:solidFill>
                  <a:srgbClr val="C792EA"/>
                </a:solidFill>
                <a:latin typeface="Consolas" panose="020B0609020204030204" pitchFamily="49" charset="0"/>
              </a:rPr>
              <a:t>if</a:t>
            </a:r>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servidoresDisponibles</a:t>
            </a:r>
            <a:r>
              <a:rPr lang="es-MX" sz="1400" dirty="0">
                <a:solidFill>
                  <a:srgbClr val="BFC7D5"/>
                </a:solidFill>
                <a:latin typeface="Consolas" panose="020B0609020204030204" pitchFamily="49" charset="0"/>
              </a:rPr>
              <a:t>[j] </a:t>
            </a:r>
            <a:r>
              <a:rPr lang="es-MX" sz="1400" dirty="0">
                <a:solidFill>
                  <a:srgbClr val="C792EA"/>
                </a:solidFill>
                <a:latin typeface="Consolas" panose="020B0609020204030204" pitchFamily="49" charset="0"/>
              </a:rPr>
              <a:t>&lt;</a:t>
            </a:r>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menorDisponibilidad</a:t>
            </a:r>
            <a:r>
              <a:rPr lang="es-MX" sz="1400" dirty="0">
                <a:solidFill>
                  <a:srgbClr val="BFC7D5"/>
                </a:solidFill>
                <a:latin typeface="Consolas" panose="020B0609020204030204" pitchFamily="49" charset="0"/>
              </a:rPr>
              <a:t>:</a:t>
            </a:r>
          </a:p>
          <a:p>
            <a:br>
              <a:rPr lang="es-MX" sz="1400" dirty="0">
                <a:solidFill>
                  <a:srgbClr val="BFC7D5"/>
                </a:solidFill>
                <a:latin typeface="Consolas" panose="020B0609020204030204" pitchFamily="49" charset="0"/>
              </a:rPr>
            </a:br>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menorDisponibilidad</a:t>
            </a:r>
            <a:r>
              <a:rPr lang="es-MX" sz="1400" dirty="0">
                <a:solidFill>
                  <a:srgbClr val="BFC7D5"/>
                </a:solidFill>
                <a:latin typeface="Consolas" panose="020B0609020204030204" pitchFamily="49" charset="0"/>
              </a:rPr>
              <a:t> </a:t>
            </a:r>
            <a:r>
              <a:rPr lang="es-MX" sz="1400" dirty="0">
                <a:solidFill>
                  <a:srgbClr val="C792EA"/>
                </a:solidFill>
                <a:latin typeface="Consolas" panose="020B0609020204030204" pitchFamily="49" charset="0"/>
              </a:rPr>
              <a:t>=</a:t>
            </a:r>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servidoresDisponibles</a:t>
            </a:r>
            <a:r>
              <a:rPr lang="es-MX" sz="1400" dirty="0">
                <a:solidFill>
                  <a:srgbClr val="BFC7D5"/>
                </a:solidFill>
                <a:latin typeface="Consolas" panose="020B0609020204030204" pitchFamily="49" charset="0"/>
              </a:rPr>
              <a:t>[j]</a:t>
            </a:r>
          </a:p>
          <a:p>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indiceServidor</a:t>
            </a:r>
            <a:r>
              <a:rPr lang="es-MX" sz="1400" dirty="0">
                <a:solidFill>
                  <a:srgbClr val="BFC7D5"/>
                </a:solidFill>
                <a:latin typeface="Consolas" panose="020B0609020204030204" pitchFamily="49" charset="0"/>
              </a:rPr>
              <a:t> </a:t>
            </a:r>
            <a:r>
              <a:rPr lang="es-MX" sz="1400" dirty="0">
                <a:solidFill>
                  <a:srgbClr val="C792EA"/>
                </a:solidFill>
                <a:latin typeface="Consolas" panose="020B0609020204030204" pitchFamily="49" charset="0"/>
              </a:rPr>
              <a:t>=</a:t>
            </a:r>
            <a:r>
              <a:rPr lang="es-MX" sz="1400" dirty="0">
                <a:solidFill>
                  <a:srgbClr val="BFC7D5"/>
                </a:solidFill>
                <a:latin typeface="Consolas" panose="020B0609020204030204" pitchFamily="49" charset="0"/>
              </a:rPr>
              <a:t> j</a:t>
            </a:r>
          </a:p>
          <a:p>
            <a:br>
              <a:rPr lang="es-MX" sz="1400" dirty="0">
                <a:solidFill>
                  <a:srgbClr val="BFC7D5"/>
                </a:solidFill>
                <a:latin typeface="Consolas" panose="020B0609020204030204" pitchFamily="49" charset="0"/>
              </a:rPr>
            </a:br>
            <a:r>
              <a:rPr lang="es-MX" sz="1400" dirty="0">
                <a:solidFill>
                  <a:srgbClr val="BFC7D5"/>
                </a:solidFill>
                <a:latin typeface="Consolas" panose="020B0609020204030204" pitchFamily="49" charset="0"/>
              </a:rPr>
              <a:t>            </a:t>
            </a:r>
            <a:r>
              <a:rPr lang="es-MX" sz="1400" dirty="0">
                <a:solidFill>
                  <a:srgbClr val="697098"/>
                </a:solidFill>
                <a:latin typeface="Consolas" panose="020B0609020204030204" pitchFamily="49" charset="0"/>
              </a:rPr>
              <a:t>#</a:t>
            </a:r>
            <a:r>
              <a:rPr lang="es-MX" sz="1400" i="1" dirty="0">
                <a:solidFill>
                  <a:srgbClr val="697098"/>
                </a:solidFill>
                <a:latin typeface="Consolas" panose="020B0609020204030204" pitchFamily="49" charset="0"/>
              </a:rPr>
              <a:t> índice 0 -&gt; servidor 1</a:t>
            </a:r>
            <a:endParaRPr lang="es-MX" sz="1400" dirty="0">
              <a:solidFill>
                <a:srgbClr val="BFC7D5"/>
              </a:solidFill>
              <a:latin typeface="Consolas" panose="020B0609020204030204" pitchFamily="49" charset="0"/>
            </a:endParaRPr>
          </a:p>
          <a:p>
            <a:r>
              <a:rPr lang="es-MX" sz="1400" dirty="0">
                <a:solidFill>
                  <a:srgbClr val="BFC7D5"/>
                </a:solidFill>
                <a:latin typeface="Consolas" panose="020B0609020204030204" pitchFamily="49" charset="0"/>
              </a:rPr>
              <a:t>            </a:t>
            </a:r>
            <a:r>
              <a:rPr lang="es-MX" sz="1400" dirty="0">
                <a:solidFill>
                  <a:srgbClr val="697098"/>
                </a:solidFill>
                <a:latin typeface="Consolas" panose="020B0609020204030204" pitchFamily="49" charset="0"/>
              </a:rPr>
              <a:t>#</a:t>
            </a:r>
            <a:r>
              <a:rPr lang="es-MX" sz="1400" i="1" dirty="0">
                <a:solidFill>
                  <a:srgbClr val="697098"/>
                </a:solidFill>
                <a:latin typeface="Consolas" panose="020B0609020204030204" pitchFamily="49" charset="0"/>
              </a:rPr>
              <a:t> índice 1 -&gt; servidor 2</a:t>
            </a:r>
            <a:endParaRPr lang="es-MX" sz="1400" dirty="0">
              <a:solidFill>
                <a:srgbClr val="BFC7D5"/>
              </a:solidFill>
              <a:latin typeface="Consolas" panose="020B0609020204030204" pitchFamily="49" charset="0"/>
            </a:endParaRPr>
          </a:p>
          <a:p>
            <a:r>
              <a:rPr lang="es-MX" sz="1400" dirty="0">
                <a:solidFill>
                  <a:srgbClr val="BFC7D5"/>
                </a:solidFill>
                <a:latin typeface="Consolas" panose="020B0609020204030204" pitchFamily="49" charset="0"/>
              </a:rPr>
              <a:t>            </a:t>
            </a:r>
            <a:r>
              <a:rPr lang="es-MX" sz="1400" dirty="0">
                <a:solidFill>
                  <a:srgbClr val="697098"/>
                </a:solidFill>
                <a:latin typeface="Consolas" panose="020B0609020204030204" pitchFamily="49" charset="0"/>
              </a:rPr>
              <a:t>#</a:t>
            </a:r>
            <a:r>
              <a:rPr lang="es-MX" sz="1400" i="1" dirty="0">
                <a:solidFill>
                  <a:srgbClr val="697098"/>
                </a:solidFill>
                <a:latin typeface="Consolas" panose="020B0609020204030204" pitchFamily="49" charset="0"/>
              </a:rPr>
              <a:t> etc.</a:t>
            </a:r>
            <a:endParaRPr lang="es-MX" sz="1400" dirty="0">
              <a:solidFill>
                <a:srgbClr val="BFC7D5"/>
              </a:solidFill>
              <a:latin typeface="Consolas" panose="020B0609020204030204" pitchFamily="49" charset="0"/>
            </a:endParaRPr>
          </a:p>
          <a:p>
            <a:br>
              <a:rPr lang="es-MX" sz="1400" dirty="0">
                <a:solidFill>
                  <a:srgbClr val="BFC7D5"/>
                </a:solidFill>
                <a:latin typeface="Consolas" panose="020B0609020204030204" pitchFamily="49" charset="0"/>
              </a:rPr>
            </a:br>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numeroServidor</a:t>
            </a:r>
            <a:r>
              <a:rPr lang="es-MX" sz="1400" dirty="0">
                <a:solidFill>
                  <a:srgbClr val="BFC7D5"/>
                </a:solidFill>
                <a:latin typeface="Consolas" panose="020B0609020204030204" pitchFamily="49" charset="0"/>
              </a:rPr>
              <a:t> </a:t>
            </a:r>
            <a:r>
              <a:rPr lang="es-MX" sz="1400" dirty="0">
                <a:solidFill>
                  <a:srgbClr val="C792EA"/>
                </a:solidFill>
                <a:latin typeface="Consolas" panose="020B0609020204030204" pitchFamily="49" charset="0"/>
              </a:rPr>
              <a:t>=</a:t>
            </a:r>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indiceServidor</a:t>
            </a:r>
            <a:r>
              <a:rPr lang="es-MX" sz="1400" dirty="0">
                <a:solidFill>
                  <a:srgbClr val="BFC7D5"/>
                </a:solidFill>
                <a:latin typeface="Consolas" panose="020B0609020204030204" pitchFamily="49" charset="0"/>
              </a:rPr>
              <a:t> </a:t>
            </a:r>
            <a:r>
              <a:rPr lang="es-MX" sz="1400" dirty="0">
                <a:solidFill>
                  <a:srgbClr val="89DDFF"/>
                </a:solidFill>
                <a:latin typeface="Consolas" panose="020B0609020204030204" pitchFamily="49" charset="0"/>
              </a:rPr>
              <a:t>+</a:t>
            </a:r>
            <a:r>
              <a:rPr lang="es-MX" sz="1400" dirty="0">
                <a:solidFill>
                  <a:srgbClr val="BFC7D5"/>
                </a:solidFill>
                <a:latin typeface="Consolas" panose="020B0609020204030204" pitchFamily="49" charset="0"/>
              </a:rPr>
              <a:t> </a:t>
            </a:r>
            <a:r>
              <a:rPr lang="es-MX" sz="1400" dirty="0">
                <a:solidFill>
                  <a:srgbClr val="F78C6C"/>
                </a:solidFill>
                <a:latin typeface="Consolas" panose="020B0609020204030204" pitchFamily="49" charset="0"/>
              </a:rPr>
              <a:t>1</a:t>
            </a:r>
          </a:p>
          <a:p>
            <a:endParaRPr lang="es-MX" sz="1400" dirty="0">
              <a:solidFill>
                <a:srgbClr val="F78C6C"/>
              </a:solidFill>
              <a:latin typeface="Consolas" panose="020B0609020204030204" pitchFamily="49" charset="0"/>
            </a:endParaRPr>
          </a:p>
          <a:p>
            <a:endParaRPr lang="es-MX" sz="1400" dirty="0">
              <a:solidFill>
                <a:srgbClr val="F78C6C"/>
              </a:solidFill>
              <a:latin typeface="Consolas" panose="020B0609020204030204" pitchFamily="49" charset="0"/>
            </a:endParaRPr>
          </a:p>
          <a:p>
            <a:endParaRPr lang="es-MX" sz="1400" dirty="0">
              <a:solidFill>
                <a:srgbClr val="F78C6C"/>
              </a:solidFill>
              <a:latin typeface="Consolas" panose="020B0609020204030204" pitchFamily="49" charset="0"/>
            </a:endParaRPr>
          </a:p>
          <a:p>
            <a:endParaRPr lang="es-MX" sz="1400" dirty="0">
              <a:solidFill>
                <a:srgbClr val="F78C6C"/>
              </a:solidFill>
              <a:latin typeface="Consolas" panose="020B0609020204030204" pitchFamily="49" charset="0"/>
            </a:endParaRPr>
          </a:p>
        </p:txBody>
      </p:sp>
    </p:spTree>
    <p:extLst>
      <p:ext uri="{BB962C8B-B14F-4D97-AF65-F5344CB8AC3E}">
        <p14:creationId xmlns:p14="http://schemas.microsoft.com/office/powerpoint/2010/main" val="2743619917"/>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634315" y="1368672"/>
            <a:ext cx="5269424" cy="533916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Marcador de texto 8">
            <a:extLst>
              <a:ext uri="{FF2B5EF4-FFF2-40B4-BE49-F238E27FC236}">
                <a16:creationId xmlns:a16="http://schemas.microsoft.com/office/drawing/2014/main" id="{5A14CD3C-1779-4574-833C-E3BFB23B5AB7}"/>
              </a:ext>
            </a:extLst>
          </p:cNvPr>
          <p:cNvSpPr txBox="1">
            <a:spLocks/>
          </p:cNvSpPr>
          <p:nvPr/>
        </p:nvSpPr>
        <p:spPr>
          <a:xfrm>
            <a:off x="5820150" y="1711962"/>
            <a:ext cx="4913559" cy="4715732"/>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latin typeface="Arial" panose="020B0604020202020204" pitchFamily="34" charset="0"/>
                <a:cs typeface="Arial" panose="020B0604020202020204" pitchFamily="34" charset="0"/>
              </a:rPr>
              <a:t>ventanaEspera.py es la clase que implementa la capa de presentación del módulo de Línea de Espera utilizando </a:t>
            </a:r>
            <a:r>
              <a:rPr lang="es-MX" sz="1800" dirty="0" err="1">
                <a:latin typeface="Arial" panose="020B0604020202020204" pitchFamily="34" charset="0"/>
                <a:cs typeface="Arial" panose="020B0604020202020204" pitchFamily="34" charset="0"/>
              </a:rPr>
              <a:t>Tkinter</a:t>
            </a:r>
            <a:r>
              <a:rPr lang="es-MX" sz="1800" dirty="0">
                <a:latin typeface="Arial" panose="020B0604020202020204" pitchFamily="34" charset="0"/>
                <a:cs typeface="Arial" panose="020B0604020202020204" pitchFamily="34" charset="0"/>
              </a:rPr>
              <a:t>, presenta visualmente una interfaz dinámica e intuitiva. Construye dinámicamente los controles para capturar parámetros, presentar resultados y visualizar los registros generados. También gestiona eventos como simular, validar, limpiar información y regresar al menú principal, comunicando las acciones de la interfaz con la clase lógica Espera.</a:t>
            </a:r>
          </a:p>
          <a:p>
            <a:pPr algn="just"/>
            <a:r>
              <a:rPr lang="es-MX" sz="1800" dirty="0">
                <a:latin typeface="Arial" panose="020B0604020202020204" pitchFamily="34" charset="0"/>
                <a:cs typeface="Arial" panose="020B0604020202020204" pitchFamily="34" charset="0"/>
              </a:rPr>
              <a:t>Esta interfaz permite visualizar los resultados de los tiempos de espera mediante una tabla </a:t>
            </a:r>
            <a:r>
              <a:rPr lang="es-MX" sz="1800" dirty="0" err="1">
                <a:latin typeface="Arial" panose="020B0604020202020204" pitchFamily="34" charset="0"/>
                <a:cs typeface="Arial" panose="020B0604020202020204" pitchFamily="34" charset="0"/>
              </a:rPr>
              <a:t>crear_tabla</a:t>
            </a:r>
            <a:r>
              <a:rPr lang="es-MX" sz="1800" dirty="0">
                <a:latin typeface="Arial" panose="020B0604020202020204" pitchFamily="34" charset="0"/>
                <a:cs typeface="Arial" panose="020B0604020202020204" pitchFamily="34" charset="0"/>
              </a:rPr>
              <a:t>(). </a:t>
            </a:r>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ventanaEspera.py</a:t>
            </a:r>
          </a:p>
        </p:txBody>
      </p:sp>
      <p:pic>
        <p:nvPicPr>
          <p:cNvPr id="4" name="Imagen 3">
            <a:extLst>
              <a:ext uri="{FF2B5EF4-FFF2-40B4-BE49-F238E27FC236}">
                <a16:creationId xmlns:a16="http://schemas.microsoft.com/office/drawing/2014/main" id="{FCAFBF19-B199-4ED4-9DC6-B501AE419A49}"/>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34921" y="1368672"/>
            <a:ext cx="4830456" cy="5339166"/>
          </a:xfrm>
          <a:prstGeom prst="rect">
            <a:avLst/>
          </a:prstGeom>
        </p:spPr>
      </p:pic>
    </p:spTree>
    <p:extLst>
      <p:ext uri="{BB962C8B-B14F-4D97-AF65-F5344CB8AC3E}">
        <p14:creationId xmlns:p14="http://schemas.microsoft.com/office/powerpoint/2010/main" val="1456485803"/>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634315" y="1368672"/>
            <a:ext cx="5269424" cy="533916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Marcador de texto 8">
            <a:extLst>
              <a:ext uri="{FF2B5EF4-FFF2-40B4-BE49-F238E27FC236}">
                <a16:creationId xmlns:a16="http://schemas.microsoft.com/office/drawing/2014/main" id="{5A14CD3C-1779-4574-833C-E3BFB23B5AB7}"/>
              </a:ext>
            </a:extLst>
          </p:cNvPr>
          <p:cNvSpPr txBox="1">
            <a:spLocks/>
          </p:cNvSpPr>
          <p:nvPr/>
        </p:nvSpPr>
        <p:spPr>
          <a:xfrm>
            <a:off x="5820150" y="1711962"/>
            <a:ext cx="4913559" cy="4715732"/>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latin typeface="Arial" panose="020B0604020202020204" pitchFamily="34" charset="0"/>
                <a:cs typeface="Arial" panose="020B0604020202020204" pitchFamily="34" charset="0"/>
              </a:rPr>
              <a:t>Figura 5: Interfaz gráfica </a:t>
            </a:r>
            <a:r>
              <a:rPr lang="es-MX" sz="1800" dirty="0" err="1">
                <a:latin typeface="Arial" panose="020B0604020202020204" pitchFamily="34" charset="0"/>
                <a:cs typeface="Arial" panose="020B0604020202020204" pitchFamily="34" charset="0"/>
              </a:rPr>
              <a:t>secundraia</a:t>
            </a:r>
            <a:r>
              <a:rPr lang="es-MX" sz="1800" dirty="0">
                <a:latin typeface="Arial" panose="020B0604020202020204" pitchFamily="34" charset="0"/>
                <a:cs typeface="Arial" panose="020B0604020202020204" pitchFamily="34" charset="0"/>
              </a:rPr>
              <a:t> del programa de </a:t>
            </a:r>
            <a:r>
              <a:rPr lang="es-MX" sz="1800" dirty="0" err="1">
                <a:latin typeface="Arial" panose="020B0604020202020204" pitchFamily="34" charset="0"/>
                <a:cs typeface="Arial" panose="020B0604020202020204" pitchFamily="34" charset="0"/>
              </a:rPr>
              <a:t>simulacion</a:t>
            </a:r>
            <a:r>
              <a:rPr lang="es-MX" sz="1800" dirty="0">
                <a:latin typeface="Arial" panose="020B0604020202020204" pitchFamily="34" charset="0"/>
                <a:cs typeface="Arial" panose="020B0604020202020204" pitchFamily="34" charset="0"/>
              </a:rPr>
              <a:t> en Python que se encuentra en  ejecución (ventanaEspera.py).</a:t>
            </a:r>
          </a:p>
          <a:p>
            <a:pPr algn="just"/>
            <a:endParaRPr lang="es-MX" sz="1800" dirty="0">
              <a:latin typeface="Arial" panose="020B0604020202020204" pitchFamily="34" charset="0"/>
              <a:cs typeface="Arial" panose="020B0604020202020204" pitchFamily="34" charset="0"/>
            </a:endParaRPr>
          </a:p>
          <a:p>
            <a:pPr algn="just"/>
            <a:r>
              <a:rPr lang="es-MX" sz="1800" dirty="0">
                <a:latin typeface="Arial" panose="020B0604020202020204" pitchFamily="34" charset="0"/>
                <a:cs typeface="Arial" panose="020B0604020202020204" pitchFamily="34" charset="0"/>
              </a:rPr>
              <a:t>Se muestra la ventana activa con el panel de configuración de parámetros de entrada cargados, en este caso se muestra los parámetros, resultados de la simulación mediante tablas y la validación del simulador.</a:t>
            </a:r>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ventanaEspera.py</a:t>
            </a:r>
          </a:p>
        </p:txBody>
      </p:sp>
      <p:pic>
        <p:nvPicPr>
          <p:cNvPr id="2" name="Imagen 1">
            <a:extLst>
              <a:ext uri="{FF2B5EF4-FFF2-40B4-BE49-F238E27FC236}">
                <a16:creationId xmlns:a16="http://schemas.microsoft.com/office/drawing/2014/main" id="{35FD6161-456E-40B8-A2C2-1D802A2893F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34921" y="1368671"/>
            <a:ext cx="4939597" cy="4305987"/>
          </a:xfrm>
          <a:prstGeom prst="rect">
            <a:avLst/>
          </a:prstGeom>
        </p:spPr>
      </p:pic>
      <p:sp>
        <p:nvSpPr>
          <p:cNvPr id="7" name="CuadroTexto 6">
            <a:extLst>
              <a:ext uri="{FF2B5EF4-FFF2-40B4-BE49-F238E27FC236}">
                <a16:creationId xmlns:a16="http://schemas.microsoft.com/office/drawing/2014/main" id="{9AB9D73A-13D0-4437-AA56-87C9B05E5FC6}"/>
              </a:ext>
            </a:extLst>
          </p:cNvPr>
          <p:cNvSpPr txBox="1"/>
          <p:nvPr/>
        </p:nvSpPr>
        <p:spPr>
          <a:xfrm>
            <a:off x="1417966" y="6066128"/>
            <a:ext cx="3173506"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Figura 5</a:t>
            </a:r>
          </a:p>
        </p:txBody>
      </p:sp>
    </p:spTree>
    <p:extLst>
      <p:ext uri="{BB962C8B-B14F-4D97-AF65-F5344CB8AC3E}">
        <p14:creationId xmlns:p14="http://schemas.microsoft.com/office/powerpoint/2010/main" val="3641400367"/>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897E976F-6D20-49F8-97CB-9A9A745A5E77}"/>
              </a:ext>
            </a:extLst>
          </p:cNvPr>
          <p:cNvSpPr>
            <a:spLocks noGrp="1"/>
          </p:cNvSpPr>
          <p:nvPr>
            <p:ph type="title"/>
          </p:nvPr>
        </p:nvSpPr>
        <p:spPr>
          <a:xfrm>
            <a:off x="832014" y="2913327"/>
            <a:ext cx="10198788" cy="1031345"/>
          </a:xfrm>
          <a:solidFill>
            <a:schemeClr val="tx2">
              <a:lumMod val="75000"/>
            </a:schemeClr>
          </a:solidFill>
        </p:spPr>
        <p:txBody>
          <a:bodyPr anchor="ctr">
            <a:normAutofit/>
          </a:body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Módulo Inventario</a:t>
            </a:r>
          </a:p>
        </p:txBody>
      </p:sp>
    </p:spTree>
    <p:extLst>
      <p:ext uri="{BB962C8B-B14F-4D97-AF65-F5344CB8AC3E}">
        <p14:creationId xmlns:p14="http://schemas.microsoft.com/office/powerpoint/2010/main" val="40717622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432612" y="1368672"/>
            <a:ext cx="5471127" cy="533916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Marcador de texto 8">
            <a:extLst>
              <a:ext uri="{FF2B5EF4-FFF2-40B4-BE49-F238E27FC236}">
                <a16:creationId xmlns:a16="http://schemas.microsoft.com/office/drawing/2014/main" id="{5A14CD3C-1779-4574-833C-E3BFB23B5AB7}"/>
              </a:ext>
            </a:extLst>
          </p:cNvPr>
          <p:cNvSpPr txBox="1">
            <a:spLocks/>
          </p:cNvSpPr>
          <p:nvPr/>
        </p:nvSpPr>
        <p:spPr>
          <a:xfrm>
            <a:off x="5674659" y="1532965"/>
            <a:ext cx="5059049" cy="5002305"/>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latin typeface="Arial" panose="020B0604020202020204" pitchFamily="34" charset="0"/>
                <a:cs typeface="Arial" panose="020B0604020202020204" pitchFamily="34" charset="0"/>
              </a:rPr>
              <a:t>RegistroInventario.py este archivo define el modelo de datos utilizado para representar cada periodo procesado por la simulación. Cada instancia conserva el número de periodo, inventario inicial, demanda generada, pedido realizado, inventario final y unidades faltantes. Esta estructura permite mantener organizados los resultados y posteriormente presentarlos en la interfaz.</a:t>
            </a:r>
          </a:p>
          <a:p>
            <a:pPr algn="just"/>
            <a:r>
              <a:rPr lang="es-MX" sz="1800" dirty="0">
                <a:latin typeface="Arial" panose="020B0604020202020204" pitchFamily="34" charset="0"/>
                <a:cs typeface="Arial" panose="020B0604020202020204" pitchFamily="34" charset="0"/>
              </a:rPr>
              <a:t>Es conceptualmente equivalente a Cliente.py: cada cliente representa a cada cliente; mientras que </a:t>
            </a:r>
            <a:r>
              <a:rPr lang="es-MX" sz="1800" dirty="0" err="1">
                <a:latin typeface="Arial" panose="020B0604020202020204" pitchFamily="34" charset="0"/>
                <a:cs typeface="Arial" panose="020B0604020202020204" pitchFamily="34" charset="0"/>
              </a:rPr>
              <a:t>RegistroInventario</a:t>
            </a:r>
            <a:r>
              <a:rPr lang="es-MX" sz="1800" dirty="0">
                <a:latin typeface="Arial" panose="020B0604020202020204" pitchFamily="34" charset="0"/>
                <a:cs typeface="Arial" panose="020B0604020202020204" pitchFamily="34" charset="0"/>
              </a:rPr>
              <a:t> representa  a cada periodo del inventario. </a:t>
            </a:r>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RegistroInventario.py</a:t>
            </a:r>
          </a:p>
        </p:txBody>
      </p:sp>
      <p:pic>
        <p:nvPicPr>
          <p:cNvPr id="3" name="Imagen 2">
            <a:extLst>
              <a:ext uri="{FF2B5EF4-FFF2-40B4-BE49-F238E27FC236}">
                <a16:creationId xmlns:a16="http://schemas.microsoft.com/office/drawing/2014/main" id="{C05717EF-8ADB-4C08-A636-9E788C5B0B36}"/>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34921" y="1364534"/>
            <a:ext cx="4727660" cy="5339166"/>
          </a:xfrm>
          <a:prstGeom prst="rect">
            <a:avLst/>
          </a:prstGeom>
        </p:spPr>
      </p:pic>
    </p:spTree>
    <p:extLst>
      <p:ext uri="{BB962C8B-B14F-4D97-AF65-F5344CB8AC3E}">
        <p14:creationId xmlns:p14="http://schemas.microsoft.com/office/powerpoint/2010/main" val="1342773148"/>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432612" y="1368672"/>
            <a:ext cx="5471127" cy="533916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0" name="Marcador de texto 8">
            <a:extLst>
              <a:ext uri="{FF2B5EF4-FFF2-40B4-BE49-F238E27FC236}">
                <a16:creationId xmlns:a16="http://schemas.microsoft.com/office/drawing/2014/main" id="{5A14CD3C-1779-4574-833C-E3BFB23B5AB7}"/>
              </a:ext>
            </a:extLst>
          </p:cNvPr>
          <p:cNvSpPr txBox="1">
            <a:spLocks/>
          </p:cNvSpPr>
          <p:nvPr/>
        </p:nvSpPr>
        <p:spPr>
          <a:xfrm>
            <a:off x="5553635" y="1581629"/>
            <a:ext cx="5180074" cy="4953642"/>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latin typeface="Arial" panose="020B0604020202020204" pitchFamily="34" charset="0"/>
                <a:cs typeface="Arial" panose="020B0604020202020204" pitchFamily="34" charset="0"/>
              </a:rPr>
              <a:t>El archivo Inventario.py este es la lógica principal del modelo para inventarios.</a:t>
            </a:r>
          </a:p>
          <a:p>
            <a:pPr algn="just"/>
            <a:endParaRPr lang="es-MX" sz="1800" dirty="0">
              <a:latin typeface="Arial" panose="020B0604020202020204" pitchFamily="34" charset="0"/>
              <a:cs typeface="Arial" panose="020B0604020202020204" pitchFamily="34" charset="0"/>
            </a:endParaRPr>
          </a:p>
          <a:p>
            <a:pPr algn="just"/>
            <a:r>
              <a:rPr lang="es-MX" sz="1800" dirty="0">
                <a:latin typeface="Arial" panose="020B0604020202020204" pitchFamily="34" charset="0"/>
                <a:cs typeface="Arial" panose="020B0604020202020204" pitchFamily="34" charset="0"/>
              </a:rPr>
              <a:t>Contiene el algoritmo responsable de ejecutar la simulación de inventario. Recibe los parámetros de inventario inicial, número de periodos, demanda mínima y máxima, punto de reorden y cantidad de pedido. Para cada periodo genera una demanda aleatoria, determina las unidades que pueden ser atendidas, calcula posibles faltantes, actualiza las existencias y evalúa automáticamente si se alcanzó el nivel establecido para realizar un nuevo pedido.</a:t>
            </a:r>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Inventario.py</a:t>
            </a:r>
          </a:p>
        </p:txBody>
      </p:sp>
      <p:pic>
        <p:nvPicPr>
          <p:cNvPr id="2" name="Imagen 1">
            <a:extLst>
              <a:ext uri="{FF2B5EF4-FFF2-40B4-BE49-F238E27FC236}">
                <a16:creationId xmlns:a16="http://schemas.microsoft.com/office/drawing/2014/main" id="{85FAD771-E5DF-4071-8481-760165FEE5A3}"/>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34920" y="1368672"/>
            <a:ext cx="4727661" cy="5339166"/>
          </a:xfrm>
          <a:prstGeom prst="rect">
            <a:avLst/>
          </a:prstGeom>
        </p:spPr>
      </p:pic>
    </p:spTree>
    <p:extLst>
      <p:ext uri="{BB962C8B-B14F-4D97-AF65-F5344CB8AC3E}">
        <p14:creationId xmlns:p14="http://schemas.microsoft.com/office/powerpoint/2010/main" val="2527150031"/>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432612" y="1368672"/>
            <a:ext cx="5471127" cy="533916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0" name="Marcador de texto 8">
            <a:extLst>
              <a:ext uri="{FF2B5EF4-FFF2-40B4-BE49-F238E27FC236}">
                <a16:creationId xmlns:a16="http://schemas.microsoft.com/office/drawing/2014/main" id="{5A14CD3C-1779-4574-833C-E3BFB23B5AB7}"/>
              </a:ext>
            </a:extLst>
          </p:cNvPr>
          <p:cNvSpPr txBox="1">
            <a:spLocks/>
          </p:cNvSpPr>
          <p:nvPr/>
        </p:nvSpPr>
        <p:spPr>
          <a:xfrm>
            <a:off x="5553635" y="1581629"/>
            <a:ext cx="5180074" cy="4953642"/>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latin typeface="Arial" panose="020B0604020202020204" pitchFamily="34" charset="0"/>
                <a:cs typeface="Arial" panose="020B0604020202020204" pitchFamily="34" charset="0"/>
              </a:rPr>
              <a:t>El primer bloque de código (</a:t>
            </a:r>
            <a:r>
              <a:rPr lang="es-MX" sz="1800" dirty="0" err="1">
                <a:latin typeface="Arial" panose="020B0604020202020204" pitchFamily="34" charset="0"/>
                <a:cs typeface="Arial" panose="020B0604020202020204" pitchFamily="34" charset="0"/>
              </a:rPr>
              <a:t>if</a:t>
            </a:r>
            <a:r>
              <a:rPr lang="es-MX" sz="1800" dirty="0">
                <a:latin typeface="Arial" panose="020B0604020202020204" pitchFamily="34" charset="0"/>
                <a:cs typeface="Arial" panose="020B0604020202020204" pitchFamily="34" charset="0"/>
              </a:rPr>
              <a:t> </a:t>
            </a:r>
            <a:r>
              <a:rPr lang="es-MX" sz="1800" dirty="0" err="1">
                <a:latin typeface="Arial" panose="020B0604020202020204" pitchFamily="34" charset="0"/>
                <a:cs typeface="Arial" panose="020B0604020202020204" pitchFamily="34" charset="0"/>
              </a:rPr>
              <a:t>inventarioDespuesDemanda</a:t>
            </a:r>
            <a:r>
              <a:rPr lang="es-MX" sz="1800" dirty="0">
                <a:latin typeface="Arial" panose="020B0604020202020204" pitchFamily="34" charset="0"/>
                <a:cs typeface="Arial" panose="020B0604020202020204" pitchFamily="34" charset="0"/>
              </a:rPr>
              <a:t>) es el encargado del control de reabastecimiento: después de satisfacer la demanda del periodo, el algoritmo compara las existencias restantes con el punto de reorden. Si el inventario es menor o igual al límite establecido, genera automáticamente un pedido y actualiza el contador de reabastecimientos.</a:t>
            </a:r>
          </a:p>
          <a:p>
            <a:pPr algn="just"/>
            <a:r>
              <a:rPr lang="es-MX" sz="1800" dirty="0">
                <a:latin typeface="Arial" panose="020B0604020202020204" pitchFamily="34" charset="0"/>
                <a:cs typeface="Arial" panose="020B0604020202020204" pitchFamily="34" charset="0"/>
              </a:rPr>
              <a:t>El segundo bloque de código (faltante = </a:t>
            </a:r>
            <a:r>
              <a:rPr lang="es-MX" sz="1800" dirty="0" err="1">
                <a:latin typeface="Arial" panose="020B0604020202020204" pitchFamily="34" charset="0"/>
                <a:cs typeface="Arial" panose="020B0604020202020204" pitchFamily="34" charset="0"/>
              </a:rPr>
              <a:t>max</a:t>
            </a:r>
            <a:r>
              <a:rPr lang="es-MX" sz="1800" dirty="0">
                <a:latin typeface="Arial" panose="020B0604020202020204" pitchFamily="34" charset="0"/>
                <a:cs typeface="Arial" panose="020B0604020202020204" pitchFamily="34" charset="0"/>
              </a:rPr>
              <a:t>() ) demuestra cómo el programa identifica una demanda que no pudo satisfacerse.</a:t>
            </a:r>
          </a:p>
          <a:p>
            <a:pPr algn="just"/>
            <a:endParaRPr lang="es-MX" sz="1800" dirty="0">
              <a:latin typeface="Arial" panose="020B0604020202020204" pitchFamily="34" charset="0"/>
              <a:cs typeface="Arial" panose="020B0604020202020204" pitchFamily="34" charset="0"/>
            </a:endParaRPr>
          </a:p>
          <a:p>
            <a:pPr algn="just"/>
            <a:endParaRPr lang="es-MX" sz="1800" dirty="0">
              <a:latin typeface="Arial" panose="020B0604020202020204" pitchFamily="34" charset="0"/>
              <a:cs typeface="Arial" panose="020B0604020202020204" pitchFamily="34" charset="0"/>
            </a:endParaRPr>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Inventario.py</a:t>
            </a:r>
          </a:p>
        </p:txBody>
      </p:sp>
      <p:sp>
        <p:nvSpPr>
          <p:cNvPr id="3" name="Rectángulo 2">
            <a:extLst>
              <a:ext uri="{FF2B5EF4-FFF2-40B4-BE49-F238E27FC236}">
                <a16:creationId xmlns:a16="http://schemas.microsoft.com/office/drawing/2014/main" id="{0FA9AE79-396A-44B1-93A9-70873186E160}"/>
              </a:ext>
            </a:extLst>
          </p:cNvPr>
          <p:cNvSpPr/>
          <p:nvPr/>
        </p:nvSpPr>
        <p:spPr>
          <a:xfrm>
            <a:off x="398930" y="1581629"/>
            <a:ext cx="4657164" cy="1600438"/>
          </a:xfrm>
          <a:prstGeom prst="rect">
            <a:avLst/>
          </a:prstGeom>
          <a:solidFill>
            <a:srgbClr val="19142A"/>
          </a:solidFill>
        </p:spPr>
        <p:txBody>
          <a:bodyPr wrap="square">
            <a:spAutoFit/>
          </a:bodyPr>
          <a:lstStyle/>
          <a:p>
            <a:endParaRPr lang="es-MX" sz="1400" dirty="0">
              <a:solidFill>
                <a:srgbClr val="C792EA"/>
              </a:solidFill>
              <a:latin typeface="Consolas" panose="020B0609020204030204" pitchFamily="49" charset="0"/>
            </a:endParaRPr>
          </a:p>
          <a:p>
            <a:r>
              <a:rPr lang="es-MX" sz="1400" dirty="0" err="1">
                <a:solidFill>
                  <a:srgbClr val="C792EA"/>
                </a:solidFill>
                <a:latin typeface="Consolas" panose="020B0609020204030204" pitchFamily="49" charset="0"/>
              </a:rPr>
              <a:t>if</a:t>
            </a:r>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inventarioDespuesDemanda</a:t>
            </a:r>
            <a:r>
              <a:rPr lang="es-MX" sz="1400" dirty="0">
                <a:solidFill>
                  <a:srgbClr val="BFC7D5"/>
                </a:solidFill>
                <a:latin typeface="Consolas" panose="020B0609020204030204" pitchFamily="49" charset="0"/>
              </a:rPr>
              <a:t> </a:t>
            </a:r>
            <a:r>
              <a:rPr lang="es-MX" sz="1400" dirty="0">
                <a:solidFill>
                  <a:srgbClr val="C792EA"/>
                </a:solidFill>
                <a:latin typeface="Consolas" panose="020B0609020204030204" pitchFamily="49" charset="0"/>
              </a:rPr>
              <a:t>&lt;=</a:t>
            </a:r>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puntoReorden</a:t>
            </a:r>
            <a:r>
              <a:rPr lang="es-MX" sz="1400" dirty="0">
                <a:solidFill>
                  <a:srgbClr val="BFC7D5"/>
                </a:solidFill>
                <a:latin typeface="Consolas" panose="020B0609020204030204" pitchFamily="49" charset="0"/>
              </a:rPr>
              <a:t>:</a:t>
            </a:r>
          </a:p>
          <a:p>
            <a:br>
              <a:rPr lang="es-MX" sz="1400" dirty="0">
                <a:solidFill>
                  <a:srgbClr val="BFC7D5"/>
                </a:solidFill>
                <a:latin typeface="Consolas" panose="020B0609020204030204" pitchFamily="49" charset="0"/>
              </a:rPr>
            </a:br>
            <a:r>
              <a:rPr lang="es-MX" sz="1400" dirty="0">
                <a:solidFill>
                  <a:srgbClr val="BFC7D5"/>
                </a:solidFill>
                <a:latin typeface="Consolas" panose="020B0609020204030204" pitchFamily="49" charset="0"/>
              </a:rPr>
              <a:t>                pedido </a:t>
            </a:r>
            <a:r>
              <a:rPr lang="es-MX" sz="1400" dirty="0">
                <a:solidFill>
                  <a:srgbClr val="C792EA"/>
                </a:solidFill>
                <a:latin typeface="Consolas" panose="020B0609020204030204" pitchFamily="49" charset="0"/>
              </a:rPr>
              <a:t>=</a:t>
            </a:r>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cantidadPedido</a:t>
            </a:r>
            <a:endParaRPr lang="es-MX" sz="1400" dirty="0">
              <a:solidFill>
                <a:srgbClr val="BFC7D5"/>
              </a:solidFill>
              <a:latin typeface="Consolas" panose="020B0609020204030204" pitchFamily="49" charset="0"/>
            </a:endParaRPr>
          </a:p>
          <a:p>
            <a:r>
              <a:rPr lang="es-MX" sz="1400" dirty="0">
                <a:solidFill>
                  <a:srgbClr val="BFC7D5"/>
                </a:solidFill>
                <a:latin typeface="Consolas" panose="020B0609020204030204" pitchFamily="49" charset="0"/>
              </a:rPr>
              <a:t>                </a:t>
            </a:r>
            <a:r>
              <a:rPr lang="es-MX" sz="1400" dirty="0" err="1">
                <a:solidFill>
                  <a:srgbClr val="BFC7D5"/>
                </a:solidFill>
                <a:latin typeface="Consolas" panose="020B0609020204030204" pitchFamily="49" charset="0"/>
              </a:rPr>
              <a:t>pedidosRealizados</a:t>
            </a:r>
            <a:r>
              <a:rPr lang="es-MX" sz="1400" dirty="0">
                <a:solidFill>
                  <a:srgbClr val="BFC7D5"/>
                </a:solidFill>
                <a:latin typeface="Consolas" panose="020B0609020204030204" pitchFamily="49" charset="0"/>
              </a:rPr>
              <a:t> </a:t>
            </a:r>
            <a:r>
              <a:rPr lang="es-MX" sz="1400" dirty="0">
                <a:solidFill>
                  <a:srgbClr val="C792EA"/>
                </a:solidFill>
                <a:latin typeface="Consolas" panose="020B0609020204030204" pitchFamily="49" charset="0"/>
              </a:rPr>
              <a:t>+=</a:t>
            </a:r>
            <a:r>
              <a:rPr lang="es-MX" sz="1400" dirty="0">
                <a:solidFill>
                  <a:srgbClr val="BFC7D5"/>
                </a:solidFill>
                <a:latin typeface="Consolas" panose="020B0609020204030204" pitchFamily="49" charset="0"/>
              </a:rPr>
              <a:t> </a:t>
            </a:r>
            <a:r>
              <a:rPr lang="es-MX" sz="1400" dirty="0">
                <a:solidFill>
                  <a:srgbClr val="F78C6C"/>
                </a:solidFill>
                <a:latin typeface="Consolas" panose="020B0609020204030204" pitchFamily="49" charset="0"/>
              </a:rPr>
              <a:t>1</a:t>
            </a:r>
          </a:p>
          <a:p>
            <a:endParaRPr lang="es-MX" sz="1400" b="0" dirty="0">
              <a:solidFill>
                <a:srgbClr val="F78C6C"/>
              </a:solidFill>
              <a:effectLst/>
              <a:latin typeface="Consolas" panose="020B0609020204030204" pitchFamily="49" charset="0"/>
            </a:endParaRPr>
          </a:p>
          <a:p>
            <a:endParaRPr lang="es-MX" sz="1400" b="0" dirty="0">
              <a:solidFill>
                <a:srgbClr val="BFC7D5"/>
              </a:solidFill>
              <a:effectLst/>
              <a:latin typeface="Consolas" panose="020B0609020204030204" pitchFamily="49" charset="0"/>
            </a:endParaRPr>
          </a:p>
        </p:txBody>
      </p:sp>
      <p:sp>
        <p:nvSpPr>
          <p:cNvPr id="4" name="Rectángulo 3">
            <a:extLst>
              <a:ext uri="{FF2B5EF4-FFF2-40B4-BE49-F238E27FC236}">
                <a16:creationId xmlns:a16="http://schemas.microsoft.com/office/drawing/2014/main" id="{2D43048F-81E0-4633-9F92-A05D82F3EB19}"/>
              </a:ext>
            </a:extLst>
          </p:cNvPr>
          <p:cNvSpPr/>
          <p:nvPr/>
        </p:nvSpPr>
        <p:spPr>
          <a:xfrm>
            <a:off x="398931" y="3799043"/>
            <a:ext cx="4657164" cy="1815882"/>
          </a:xfrm>
          <a:prstGeom prst="rect">
            <a:avLst/>
          </a:prstGeom>
          <a:solidFill>
            <a:srgbClr val="19142A"/>
          </a:solidFill>
        </p:spPr>
        <p:txBody>
          <a:bodyPr wrap="square">
            <a:spAutoFit/>
          </a:bodyPr>
          <a:lstStyle/>
          <a:p>
            <a:endParaRPr lang="es-MX" sz="1400" dirty="0">
              <a:solidFill>
                <a:srgbClr val="BFC7D5"/>
              </a:solidFill>
              <a:latin typeface="Consolas" panose="020B0609020204030204" pitchFamily="49" charset="0"/>
            </a:endParaRPr>
          </a:p>
          <a:p>
            <a:r>
              <a:rPr lang="es-MX" sz="1400" dirty="0">
                <a:solidFill>
                  <a:srgbClr val="BFC7D5"/>
                </a:solidFill>
                <a:latin typeface="Consolas" panose="020B0609020204030204" pitchFamily="49" charset="0"/>
              </a:rPr>
              <a:t>faltante </a:t>
            </a:r>
            <a:r>
              <a:rPr lang="es-MX" sz="1400" dirty="0">
                <a:solidFill>
                  <a:srgbClr val="C792EA"/>
                </a:solidFill>
                <a:latin typeface="Consolas" panose="020B0609020204030204" pitchFamily="49" charset="0"/>
              </a:rPr>
              <a:t>=</a:t>
            </a:r>
            <a:r>
              <a:rPr lang="es-MX" sz="1400" dirty="0">
                <a:solidFill>
                  <a:srgbClr val="BFC7D5"/>
                </a:solidFill>
                <a:latin typeface="Consolas" panose="020B0609020204030204" pitchFamily="49" charset="0"/>
              </a:rPr>
              <a:t> </a:t>
            </a:r>
            <a:r>
              <a:rPr lang="es-MX" sz="1400" dirty="0" err="1">
                <a:solidFill>
                  <a:srgbClr val="89DDFF"/>
                </a:solidFill>
                <a:latin typeface="Consolas" panose="020B0609020204030204" pitchFamily="49" charset="0"/>
              </a:rPr>
              <a:t>max</a:t>
            </a:r>
            <a:r>
              <a:rPr lang="es-MX" sz="1400" dirty="0">
                <a:solidFill>
                  <a:srgbClr val="BFC7D5"/>
                </a:solidFill>
                <a:latin typeface="Consolas" panose="020B0609020204030204" pitchFamily="49" charset="0"/>
              </a:rPr>
              <a:t>(</a:t>
            </a:r>
          </a:p>
          <a:p>
            <a:r>
              <a:rPr lang="es-MX" sz="1400" dirty="0">
                <a:solidFill>
                  <a:srgbClr val="7986E7"/>
                </a:solidFill>
                <a:latin typeface="Consolas" panose="020B0609020204030204" pitchFamily="49" charset="0"/>
              </a:rPr>
              <a:t>                </a:t>
            </a:r>
            <a:r>
              <a:rPr lang="es-MX" sz="1400" dirty="0">
                <a:solidFill>
                  <a:srgbClr val="F78C6C"/>
                </a:solidFill>
                <a:latin typeface="Consolas" panose="020B0609020204030204" pitchFamily="49" charset="0"/>
              </a:rPr>
              <a:t>0</a:t>
            </a:r>
            <a:r>
              <a:rPr lang="es-MX" sz="1400" dirty="0">
                <a:solidFill>
                  <a:srgbClr val="D9F5DD"/>
                </a:solidFill>
                <a:latin typeface="Consolas" panose="020B0609020204030204" pitchFamily="49" charset="0"/>
              </a:rPr>
              <a:t>,</a:t>
            </a:r>
            <a:endParaRPr lang="es-MX" sz="1400" dirty="0">
              <a:solidFill>
                <a:srgbClr val="BFC7D5"/>
              </a:solidFill>
              <a:latin typeface="Consolas" panose="020B0609020204030204" pitchFamily="49" charset="0"/>
            </a:endParaRPr>
          </a:p>
          <a:p>
            <a:r>
              <a:rPr lang="es-MX" sz="1400" dirty="0">
                <a:solidFill>
                  <a:srgbClr val="7986E7"/>
                </a:solidFill>
                <a:latin typeface="Consolas" panose="020B0609020204030204" pitchFamily="49" charset="0"/>
              </a:rPr>
              <a:t>                demanda </a:t>
            </a:r>
            <a:r>
              <a:rPr lang="es-MX" sz="1400" dirty="0">
                <a:solidFill>
                  <a:srgbClr val="89DDFF"/>
                </a:solidFill>
                <a:latin typeface="Consolas" panose="020B0609020204030204" pitchFamily="49" charset="0"/>
              </a:rPr>
              <a:t>-</a:t>
            </a:r>
            <a:r>
              <a:rPr lang="es-MX" sz="1400" dirty="0">
                <a:solidFill>
                  <a:srgbClr val="7986E7"/>
                </a:solidFill>
                <a:latin typeface="Consolas" panose="020B0609020204030204" pitchFamily="49" charset="0"/>
              </a:rPr>
              <a:t> </a:t>
            </a:r>
            <a:r>
              <a:rPr lang="es-MX" sz="1400" dirty="0" err="1">
                <a:solidFill>
                  <a:srgbClr val="7986E7"/>
                </a:solidFill>
                <a:latin typeface="Consolas" panose="020B0609020204030204" pitchFamily="49" charset="0"/>
              </a:rPr>
              <a:t>inventarioInicioPeriodo</a:t>
            </a:r>
            <a:endParaRPr lang="es-MX" sz="1400" dirty="0">
              <a:solidFill>
                <a:srgbClr val="BFC7D5"/>
              </a:solidFill>
              <a:latin typeface="Consolas" panose="020B0609020204030204" pitchFamily="49" charset="0"/>
            </a:endParaRPr>
          </a:p>
          <a:p>
            <a:r>
              <a:rPr lang="es-MX" sz="1400" dirty="0">
                <a:solidFill>
                  <a:srgbClr val="7986E7"/>
                </a:solidFill>
                <a:latin typeface="Consolas" panose="020B0609020204030204" pitchFamily="49" charset="0"/>
              </a:rPr>
              <a:t>            </a:t>
            </a:r>
            <a:r>
              <a:rPr lang="es-MX" sz="1400" dirty="0">
                <a:solidFill>
                  <a:srgbClr val="BFC7D5"/>
                </a:solidFill>
                <a:latin typeface="Consolas" panose="020B0609020204030204" pitchFamily="49" charset="0"/>
              </a:rPr>
              <a:t>)</a:t>
            </a:r>
          </a:p>
          <a:p>
            <a:endParaRPr lang="es-MX" sz="1400" b="0" dirty="0">
              <a:solidFill>
                <a:srgbClr val="BFC7D5"/>
              </a:solidFill>
              <a:effectLst/>
              <a:latin typeface="Consolas" panose="020B0609020204030204" pitchFamily="49" charset="0"/>
            </a:endParaRPr>
          </a:p>
          <a:p>
            <a:endParaRPr lang="es-MX" sz="1400" b="0" dirty="0">
              <a:solidFill>
                <a:srgbClr val="BFC7D5"/>
              </a:solidFill>
              <a:effectLst/>
              <a:latin typeface="Consolas" panose="020B0609020204030204" pitchFamily="49" charset="0"/>
            </a:endParaRPr>
          </a:p>
        </p:txBody>
      </p:sp>
    </p:spTree>
    <p:extLst>
      <p:ext uri="{BB962C8B-B14F-4D97-AF65-F5344CB8AC3E}">
        <p14:creationId xmlns:p14="http://schemas.microsoft.com/office/powerpoint/2010/main" val="373011685"/>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432612" y="1368672"/>
            <a:ext cx="5471127" cy="533916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Marcador de texto 8">
            <a:extLst>
              <a:ext uri="{FF2B5EF4-FFF2-40B4-BE49-F238E27FC236}">
                <a16:creationId xmlns:a16="http://schemas.microsoft.com/office/drawing/2014/main" id="{5A14CD3C-1779-4574-833C-E3BFB23B5AB7}"/>
              </a:ext>
            </a:extLst>
          </p:cNvPr>
          <p:cNvSpPr txBox="1">
            <a:spLocks/>
          </p:cNvSpPr>
          <p:nvPr/>
        </p:nvSpPr>
        <p:spPr>
          <a:xfrm>
            <a:off x="5578138" y="1492624"/>
            <a:ext cx="5180074" cy="5082988"/>
          </a:xfrm>
          <a:prstGeom prst="rect">
            <a:avLst/>
          </a:prstGeom>
        </p:spPr>
        <p:txBody>
          <a:bodyPr vert="horz" lIns="91440" tIns="45720" rIns="91440" bIns="45720" rtlCol="0">
            <a:normAutofit fontScale="92500" lnSpcReduction="10000"/>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latin typeface="Arial" panose="020B0604020202020204" pitchFamily="34" charset="0"/>
                <a:cs typeface="Arial" panose="020B0604020202020204" pitchFamily="34" charset="0"/>
              </a:rPr>
              <a:t>ventanaInventario.py es la interfaz gráfica del módulo de Inventario desarrollada mediante </a:t>
            </a:r>
            <a:r>
              <a:rPr lang="es-MX" sz="1800" dirty="0" err="1">
                <a:latin typeface="Arial" panose="020B0604020202020204" pitchFamily="34" charset="0"/>
                <a:cs typeface="Arial" panose="020B0604020202020204" pitchFamily="34" charset="0"/>
              </a:rPr>
              <a:t>Tkinter</a:t>
            </a:r>
            <a:r>
              <a:rPr lang="es-MX" sz="1800" dirty="0">
                <a:latin typeface="Arial" panose="020B0604020202020204" pitchFamily="34" charset="0"/>
                <a:cs typeface="Arial" panose="020B0604020202020204" pitchFamily="34" charset="0"/>
              </a:rPr>
              <a:t> y conectada con la lógica independiente de simulación.</a:t>
            </a:r>
          </a:p>
          <a:p>
            <a:pPr algn="just"/>
            <a:r>
              <a:rPr lang="es-MX" sz="1800" dirty="0">
                <a:latin typeface="Arial" panose="020B0604020202020204" pitchFamily="34" charset="0"/>
                <a:cs typeface="Arial" panose="020B0604020202020204" pitchFamily="34" charset="0"/>
              </a:rPr>
              <a:t>Implementa la interfaz gráfica correspondiente al modelo de Inventario mediante </a:t>
            </a:r>
            <a:r>
              <a:rPr lang="es-MX" sz="1800" dirty="0" err="1">
                <a:latin typeface="Arial" panose="020B0604020202020204" pitchFamily="34" charset="0"/>
                <a:cs typeface="Arial" panose="020B0604020202020204" pitchFamily="34" charset="0"/>
              </a:rPr>
              <a:t>Tkinter</a:t>
            </a:r>
            <a:r>
              <a:rPr lang="es-MX" sz="1800" dirty="0">
                <a:latin typeface="Arial" panose="020B0604020202020204" pitchFamily="34" charset="0"/>
                <a:cs typeface="Arial" panose="020B0604020202020204" pitchFamily="34" charset="0"/>
              </a:rPr>
              <a:t>. Administra la captura y validación visual de parámetros, presenta los indicadores obtenidos, construye la tabla de registros y conecta las acciones del usuario con la lógica definida en Inventario.py. También incorpora funciones para ejecutar la simulación, realizar la validación, limpiar resultados y regresar al menú principal. </a:t>
            </a:r>
          </a:p>
          <a:p>
            <a:pPr algn="just"/>
            <a:r>
              <a:rPr lang="es-MX" sz="1800" dirty="0">
                <a:latin typeface="Arial" panose="020B0604020202020204" pitchFamily="34" charset="0"/>
                <a:cs typeface="Arial" panose="020B0604020202020204" pitchFamily="34" charset="0"/>
              </a:rPr>
              <a:t>Internamente está organizada mediante métodos como </a:t>
            </a:r>
            <a:r>
              <a:rPr lang="es-MX" sz="1800" dirty="0" err="1">
                <a:latin typeface="Arial" panose="020B0604020202020204" pitchFamily="34" charset="0"/>
                <a:cs typeface="Arial" panose="020B0604020202020204" pitchFamily="34" charset="0"/>
              </a:rPr>
              <a:t>crear_parametros</a:t>
            </a:r>
            <a:r>
              <a:rPr lang="es-MX" sz="1800" dirty="0">
                <a:latin typeface="Arial" panose="020B0604020202020204" pitchFamily="34" charset="0"/>
                <a:cs typeface="Arial" panose="020B0604020202020204" pitchFamily="34" charset="0"/>
              </a:rPr>
              <a:t>(), </a:t>
            </a:r>
            <a:r>
              <a:rPr lang="es-MX" sz="1800" dirty="0" err="1">
                <a:latin typeface="Arial" panose="020B0604020202020204" pitchFamily="34" charset="0"/>
                <a:cs typeface="Arial" panose="020B0604020202020204" pitchFamily="34" charset="0"/>
              </a:rPr>
              <a:t>crear_resultados</a:t>
            </a:r>
            <a:r>
              <a:rPr lang="es-MX" sz="1800" dirty="0">
                <a:latin typeface="Arial" panose="020B0604020202020204" pitchFamily="34" charset="0"/>
                <a:cs typeface="Arial" panose="020B0604020202020204" pitchFamily="34" charset="0"/>
              </a:rPr>
              <a:t>(), </a:t>
            </a:r>
            <a:r>
              <a:rPr lang="es-MX" sz="1800" dirty="0" err="1">
                <a:latin typeface="Arial" panose="020B0604020202020204" pitchFamily="34" charset="0"/>
                <a:cs typeface="Arial" panose="020B0604020202020204" pitchFamily="34" charset="0"/>
              </a:rPr>
              <a:t>crear_tabla</a:t>
            </a:r>
            <a:r>
              <a:rPr lang="es-MX" sz="1800" dirty="0">
                <a:latin typeface="Arial" panose="020B0604020202020204" pitchFamily="34" charset="0"/>
                <a:cs typeface="Arial" panose="020B0604020202020204" pitchFamily="34" charset="0"/>
              </a:rPr>
              <a:t>(), </a:t>
            </a:r>
            <a:r>
              <a:rPr lang="es-MX" sz="1800" dirty="0" err="1">
                <a:latin typeface="Arial" panose="020B0604020202020204" pitchFamily="34" charset="0"/>
                <a:cs typeface="Arial" panose="020B0604020202020204" pitchFamily="34" charset="0"/>
              </a:rPr>
              <a:t>crear_validacion</a:t>
            </a:r>
            <a:r>
              <a:rPr lang="es-MX" sz="1800" dirty="0">
                <a:latin typeface="Arial" panose="020B0604020202020204" pitchFamily="34" charset="0"/>
                <a:cs typeface="Arial" panose="020B0604020202020204" pitchFamily="34" charset="0"/>
              </a:rPr>
              <a:t>(), simular() y </a:t>
            </a:r>
            <a:r>
              <a:rPr lang="es-MX" sz="1800" dirty="0" err="1">
                <a:latin typeface="Arial" panose="020B0604020202020204" pitchFamily="34" charset="0"/>
                <a:cs typeface="Arial" panose="020B0604020202020204" pitchFamily="34" charset="0"/>
              </a:rPr>
              <a:t>volver_principal</a:t>
            </a:r>
            <a:r>
              <a:rPr lang="es-MX" sz="1800" dirty="0">
                <a:latin typeface="Arial" panose="020B0604020202020204" pitchFamily="34" charset="0"/>
                <a:cs typeface="Arial" panose="020B0604020202020204" pitchFamily="34" charset="0"/>
              </a:rPr>
              <a:t>().</a:t>
            </a:r>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ventanaInventario.py</a:t>
            </a:r>
          </a:p>
        </p:txBody>
      </p:sp>
      <p:pic>
        <p:nvPicPr>
          <p:cNvPr id="4" name="Imagen 3">
            <a:extLst>
              <a:ext uri="{FF2B5EF4-FFF2-40B4-BE49-F238E27FC236}">
                <a16:creationId xmlns:a16="http://schemas.microsoft.com/office/drawing/2014/main" id="{22DCA37F-2295-4E7A-AEB1-3F4C9F1F1EC7}"/>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34921" y="1364535"/>
            <a:ext cx="4588408" cy="5339166"/>
          </a:xfrm>
          <a:prstGeom prst="rect">
            <a:avLst/>
          </a:prstGeom>
        </p:spPr>
      </p:pic>
    </p:spTree>
    <p:extLst>
      <p:ext uri="{BB962C8B-B14F-4D97-AF65-F5344CB8AC3E}">
        <p14:creationId xmlns:p14="http://schemas.microsoft.com/office/powerpoint/2010/main" val="181098080"/>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688106" y="1368672"/>
            <a:ext cx="5215633" cy="533916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ventanaInventario.py</a:t>
            </a:r>
          </a:p>
        </p:txBody>
      </p:sp>
      <p:pic>
        <p:nvPicPr>
          <p:cNvPr id="2" name="Imagen 1">
            <a:extLst>
              <a:ext uri="{FF2B5EF4-FFF2-40B4-BE49-F238E27FC236}">
                <a16:creationId xmlns:a16="http://schemas.microsoft.com/office/drawing/2014/main" id="{0CDD1F78-623C-4FF0-BB26-AEF26F00014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78572" y="1368671"/>
            <a:ext cx="5139503" cy="4588375"/>
          </a:xfrm>
          <a:prstGeom prst="rect">
            <a:avLst/>
          </a:prstGeom>
        </p:spPr>
      </p:pic>
      <p:sp>
        <p:nvSpPr>
          <p:cNvPr id="7" name="CuadroTexto 6">
            <a:extLst>
              <a:ext uri="{FF2B5EF4-FFF2-40B4-BE49-F238E27FC236}">
                <a16:creationId xmlns:a16="http://schemas.microsoft.com/office/drawing/2014/main" id="{1116C397-AE1A-4EAC-9C1B-9EC653F8DD5A}"/>
              </a:ext>
            </a:extLst>
          </p:cNvPr>
          <p:cNvSpPr txBox="1"/>
          <p:nvPr/>
        </p:nvSpPr>
        <p:spPr>
          <a:xfrm>
            <a:off x="1433788" y="6106470"/>
            <a:ext cx="3173506"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Figura 6</a:t>
            </a:r>
          </a:p>
        </p:txBody>
      </p:sp>
      <p:sp>
        <p:nvSpPr>
          <p:cNvPr id="8" name="Marcador de texto 8">
            <a:extLst>
              <a:ext uri="{FF2B5EF4-FFF2-40B4-BE49-F238E27FC236}">
                <a16:creationId xmlns:a16="http://schemas.microsoft.com/office/drawing/2014/main" id="{7E840FAA-5C93-4840-97D7-33E3B8B5D695}"/>
              </a:ext>
            </a:extLst>
          </p:cNvPr>
          <p:cNvSpPr txBox="1">
            <a:spLocks/>
          </p:cNvSpPr>
          <p:nvPr/>
        </p:nvSpPr>
        <p:spPr>
          <a:xfrm>
            <a:off x="5726170" y="1698515"/>
            <a:ext cx="5139503" cy="4715732"/>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latin typeface="Arial" panose="020B0604020202020204" pitchFamily="34" charset="0"/>
                <a:cs typeface="Arial" panose="020B0604020202020204" pitchFamily="34" charset="0"/>
              </a:rPr>
              <a:t>Figura 6: Interfaz gráfica </a:t>
            </a:r>
            <a:r>
              <a:rPr lang="es-MX" sz="1800" dirty="0" err="1">
                <a:latin typeface="Arial" panose="020B0604020202020204" pitchFamily="34" charset="0"/>
                <a:cs typeface="Arial" panose="020B0604020202020204" pitchFamily="34" charset="0"/>
              </a:rPr>
              <a:t>secundraia</a:t>
            </a:r>
            <a:r>
              <a:rPr lang="es-MX" sz="1800" dirty="0">
                <a:latin typeface="Arial" panose="020B0604020202020204" pitchFamily="34" charset="0"/>
                <a:cs typeface="Arial" panose="020B0604020202020204" pitchFamily="34" charset="0"/>
              </a:rPr>
              <a:t> del programa de </a:t>
            </a:r>
            <a:r>
              <a:rPr lang="es-MX" sz="1800" dirty="0" err="1">
                <a:latin typeface="Arial" panose="020B0604020202020204" pitchFamily="34" charset="0"/>
                <a:cs typeface="Arial" panose="020B0604020202020204" pitchFamily="34" charset="0"/>
              </a:rPr>
              <a:t>simulacion</a:t>
            </a:r>
            <a:r>
              <a:rPr lang="es-MX" sz="1800" dirty="0">
                <a:latin typeface="Arial" panose="020B0604020202020204" pitchFamily="34" charset="0"/>
                <a:cs typeface="Arial" panose="020B0604020202020204" pitchFamily="34" charset="0"/>
              </a:rPr>
              <a:t> en Python que se encuentra en  ejecución (ventanaInventario.py).</a:t>
            </a:r>
          </a:p>
          <a:p>
            <a:pPr algn="just"/>
            <a:endParaRPr lang="es-MX" sz="1800" dirty="0">
              <a:latin typeface="Arial" panose="020B0604020202020204" pitchFamily="34" charset="0"/>
              <a:cs typeface="Arial" panose="020B0604020202020204" pitchFamily="34" charset="0"/>
            </a:endParaRPr>
          </a:p>
          <a:p>
            <a:pPr algn="just"/>
            <a:r>
              <a:rPr lang="es-MX" sz="1800" dirty="0">
                <a:latin typeface="Arial" panose="020B0604020202020204" pitchFamily="34" charset="0"/>
                <a:cs typeface="Arial" panose="020B0604020202020204" pitchFamily="34" charset="0"/>
              </a:rPr>
              <a:t>Se muestra la ventana activa con el panel de configuración de parámetros de entrada cargados, en este caso se muestra los parámetros, resultados de la simulación, detalles del inventario mediante tablas y la por ultimo la validación del simulador.</a:t>
            </a:r>
          </a:p>
        </p:txBody>
      </p:sp>
    </p:spTree>
    <p:extLst>
      <p:ext uri="{BB962C8B-B14F-4D97-AF65-F5344CB8AC3E}">
        <p14:creationId xmlns:p14="http://schemas.microsoft.com/office/powerpoint/2010/main" val="2845144741"/>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9093-64EC-4FF0-8FE0-A72506422719}"/>
              </a:ext>
            </a:extLst>
          </p:cNvPr>
          <p:cNvSpPr>
            <a:spLocks noGrp="1"/>
          </p:cNvSpPr>
          <p:nvPr>
            <p:ph type="title"/>
          </p:nvPr>
        </p:nvSpPr>
        <p:spPr>
          <a:xfrm>
            <a:off x="1288766" y="1408176"/>
            <a:ext cx="9418320" cy="4041648"/>
          </a:xfrm>
        </p:spPr>
        <p:txBody>
          <a:bodyPr anchor="ctr">
            <a:normAutofit/>
          </a:bodyPr>
          <a:lstStyle/>
          <a:p>
            <a:pPr algn="ctr"/>
            <a:r>
              <a:rPr lang="es-MX" sz="6600" dirty="0">
                <a:latin typeface="Arial Rounded MT Bold" panose="020F0704030504030204" pitchFamily="34" charset="0"/>
              </a:rPr>
              <a:t>Línea de espera y sistema de inventario en R.</a:t>
            </a:r>
          </a:p>
        </p:txBody>
      </p:sp>
    </p:spTree>
    <p:extLst>
      <p:ext uri="{BB962C8B-B14F-4D97-AF65-F5344CB8AC3E}">
        <p14:creationId xmlns:p14="http://schemas.microsoft.com/office/powerpoint/2010/main" val="5519761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031345"/>
          </a:xfrm>
          <a:solidFill>
            <a:schemeClr val="tx2">
              <a:lumMod val="75000"/>
            </a:schemeClr>
          </a:solidFill>
        </p:spPr>
        <p:txBody>
          <a:bodyPr anchor="ct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Línea de espera y sistema de inventario en R.</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91225" y="1627094"/>
            <a:ext cx="9778163" cy="4719917"/>
          </a:xfrm>
          <a:prstGeom prst="rect">
            <a:avLst/>
          </a:prstGeom>
        </p:spPr>
        <p:txBody>
          <a:bodyPr vert="horz" lIns="91440" tIns="45720" rIns="91440" bIns="45720" rtlCol="0">
            <a:normAutofit fontScale="85000" lnSpcReduction="1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lgn="just">
              <a:lnSpc>
                <a:spcPct val="150000"/>
              </a:lnSpc>
              <a:buNone/>
            </a:pPr>
            <a:r>
              <a:rPr lang="es-MX" dirty="0">
                <a:latin typeface="Arial" panose="020B0604020202020204" pitchFamily="34" charset="0"/>
                <a:cs typeface="Arial" panose="020B0604020202020204" pitchFamily="34" charset="0"/>
              </a:rPr>
              <a:t>La versión desarrollada en R implementa los modelos de simulación de Línea de Espera e Inventario mediante una arquitectura modular que separa los modelos de datos, la lógica de simulación y la interfaz gráfica. Para estructurar el programa bajo un enfoque orientado a objetos se utiliza el paquete R6, mientras que la interacción con el usuario se desarrolla mediante </a:t>
            </a:r>
            <a:r>
              <a:rPr lang="es-MX" dirty="0" err="1">
                <a:latin typeface="Arial" panose="020B0604020202020204" pitchFamily="34" charset="0"/>
                <a:cs typeface="Arial" panose="020B0604020202020204" pitchFamily="34" charset="0"/>
              </a:rPr>
              <a:t>Shiny</a:t>
            </a:r>
            <a:r>
              <a:rPr lang="es-MX" dirty="0">
                <a:latin typeface="Arial" panose="020B0604020202020204" pitchFamily="34" charset="0"/>
                <a:cs typeface="Arial" panose="020B0604020202020204" pitchFamily="34" charset="0"/>
              </a:rPr>
              <a:t>.</a:t>
            </a:r>
          </a:p>
          <a:p>
            <a:pPr marL="0" indent="0" algn="just">
              <a:lnSpc>
                <a:spcPct val="150000"/>
              </a:lnSpc>
              <a:buNone/>
            </a:pPr>
            <a:endParaRPr lang="es-MX" dirty="0">
              <a:latin typeface="Arial" panose="020B0604020202020204" pitchFamily="34" charset="0"/>
              <a:cs typeface="Arial" panose="020B0604020202020204" pitchFamily="34" charset="0"/>
            </a:endParaRPr>
          </a:p>
          <a:p>
            <a:pPr marL="0" indent="0" algn="just">
              <a:lnSpc>
                <a:spcPct val="150000"/>
              </a:lnSpc>
              <a:buNone/>
            </a:pPr>
            <a:r>
              <a:rPr lang="es-MX" dirty="0">
                <a:latin typeface="Arial" panose="020B0604020202020204" pitchFamily="34" charset="0"/>
                <a:cs typeface="Arial" panose="020B0604020202020204" pitchFamily="34" charset="0"/>
              </a:rPr>
              <a:t>El sistema procesa los parámetros ingresados, genera valores pseudoaleatorios para representar el comportamiento de cada modelo y calcula los resultados correspondientes. Asimismo, incorpora procedimientos de validación estadística que permiten analizar los datos obtenidos durante las simulaciones. Cada componente se encuentra distribuido en archivos independientes, facilitando la organización, mantenimiento y comprensión del código.</a:t>
            </a:r>
          </a:p>
        </p:txBody>
      </p:sp>
    </p:spTree>
    <p:extLst>
      <p:ext uri="{BB962C8B-B14F-4D97-AF65-F5344CB8AC3E}">
        <p14:creationId xmlns:p14="http://schemas.microsoft.com/office/powerpoint/2010/main" val="1741122182"/>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8B2AA-71B6-456F-9458-30D52376DF6B}"/>
              </a:ext>
            </a:extLst>
          </p:cNvPr>
          <p:cNvSpPr>
            <a:spLocks noGrp="1"/>
          </p:cNvSpPr>
          <p:nvPr>
            <p:ph type="title"/>
          </p:nvPr>
        </p:nvSpPr>
        <p:spPr>
          <a:xfrm>
            <a:off x="534921" y="150162"/>
            <a:ext cx="10198788" cy="1234885"/>
          </a:xfrm>
          <a:solidFill>
            <a:schemeClr val="tx2">
              <a:lumMod val="75000"/>
            </a:schemeClr>
          </a:solidFill>
        </p:spPr>
        <p:txBody>
          <a:bodyPr anchor="ctr">
            <a:normAutofit/>
          </a:body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Herramientas utilizadas Línea de espera y sistema de inventario en R.</a:t>
            </a:r>
          </a:p>
        </p:txBody>
      </p:sp>
      <p:sp>
        <p:nvSpPr>
          <p:cNvPr id="15" name="Marcador de texto 19">
            <a:extLst>
              <a:ext uri="{FF2B5EF4-FFF2-40B4-BE49-F238E27FC236}">
                <a16:creationId xmlns:a16="http://schemas.microsoft.com/office/drawing/2014/main" id="{4E2CC535-4543-45FA-ABFB-EBC45633A1A3}"/>
              </a:ext>
            </a:extLst>
          </p:cNvPr>
          <p:cNvSpPr txBox="1">
            <a:spLocks/>
          </p:cNvSpPr>
          <p:nvPr/>
        </p:nvSpPr>
        <p:spPr>
          <a:xfrm>
            <a:off x="791225" y="1627094"/>
            <a:ext cx="9778163" cy="4719917"/>
          </a:xfrm>
          <a:prstGeom prst="rect">
            <a:avLst/>
          </a:prstGeom>
        </p:spPr>
        <p:txBody>
          <a:bodyPr vert="horz" lIns="91440" tIns="45720" rIns="91440" bIns="45720" rtlCol="0">
            <a:normAutofit fontScale="92500" lnSpcReduction="1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just">
              <a:lnSpc>
                <a:spcPct val="150000"/>
              </a:lnSpc>
              <a:buClr>
                <a:schemeClr val="tx1"/>
              </a:buClr>
              <a:buSzPct val="90000"/>
              <a:buFont typeface="Wingdings" panose="05000000000000000000" pitchFamily="2" charset="2"/>
              <a:buChar char="q"/>
            </a:pPr>
            <a:r>
              <a:rPr lang="es-MX" b="1" dirty="0">
                <a:latin typeface="Arial" panose="020B0604020202020204" pitchFamily="34" charset="0"/>
                <a:cs typeface="Arial" panose="020B0604020202020204" pitchFamily="34" charset="0"/>
              </a:rPr>
              <a:t>R: </a:t>
            </a:r>
            <a:r>
              <a:rPr lang="es-MX" dirty="0">
                <a:latin typeface="Arial" panose="020B0604020202020204" pitchFamily="34" charset="0"/>
                <a:cs typeface="Arial" panose="020B0604020202020204" pitchFamily="34" charset="0"/>
              </a:rPr>
              <a:t>lenguaje utilizado para implementar la lógica matemática, estadística y de simulación.</a:t>
            </a:r>
          </a:p>
          <a:p>
            <a:pPr algn="just">
              <a:lnSpc>
                <a:spcPct val="150000"/>
              </a:lnSpc>
              <a:buClr>
                <a:schemeClr val="tx1"/>
              </a:buClr>
              <a:buSzPct val="90000"/>
              <a:buFont typeface="Wingdings" panose="05000000000000000000" pitchFamily="2" charset="2"/>
              <a:buChar char="q"/>
            </a:pPr>
            <a:r>
              <a:rPr lang="es-MX" b="1" dirty="0" err="1">
                <a:latin typeface="Arial" panose="020B0604020202020204" pitchFamily="34" charset="0"/>
                <a:cs typeface="Arial" panose="020B0604020202020204" pitchFamily="34" charset="0"/>
              </a:rPr>
              <a:t>RStudio</a:t>
            </a:r>
            <a:r>
              <a:rPr lang="es-MX" b="1" dirty="0">
                <a:latin typeface="Arial" panose="020B0604020202020204" pitchFamily="34" charset="0"/>
                <a:cs typeface="Arial" panose="020B0604020202020204" pitchFamily="34" charset="0"/>
              </a:rPr>
              <a:t>: </a:t>
            </a:r>
            <a:r>
              <a:rPr lang="es-MX" dirty="0">
                <a:latin typeface="Arial" panose="020B0604020202020204" pitchFamily="34" charset="0"/>
                <a:cs typeface="Arial" panose="020B0604020202020204" pitchFamily="34" charset="0"/>
              </a:rPr>
              <a:t>entorno de desarrollo utilizado para organizar, editar y ejecutar el proyecto.</a:t>
            </a:r>
          </a:p>
          <a:p>
            <a:pPr algn="just">
              <a:lnSpc>
                <a:spcPct val="150000"/>
              </a:lnSpc>
              <a:buClr>
                <a:schemeClr val="tx1"/>
              </a:buClr>
              <a:buSzPct val="90000"/>
              <a:buFont typeface="Wingdings" panose="05000000000000000000" pitchFamily="2" charset="2"/>
              <a:buChar char="q"/>
            </a:pPr>
            <a:r>
              <a:rPr lang="es-MX" b="1" dirty="0" err="1">
                <a:latin typeface="Arial" panose="020B0604020202020204" pitchFamily="34" charset="0"/>
                <a:cs typeface="Arial" panose="020B0604020202020204" pitchFamily="34" charset="0"/>
              </a:rPr>
              <a:t>Shiny</a:t>
            </a:r>
            <a:r>
              <a:rPr lang="es-MX" b="1" dirty="0">
                <a:latin typeface="Arial" panose="020B0604020202020204" pitchFamily="34" charset="0"/>
                <a:cs typeface="Arial" panose="020B0604020202020204" pitchFamily="34" charset="0"/>
              </a:rPr>
              <a:t>: </a:t>
            </a:r>
            <a:r>
              <a:rPr lang="es-MX" dirty="0">
                <a:latin typeface="Arial" panose="020B0604020202020204" pitchFamily="34" charset="0"/>
                <a:cs typeface="Arial" panose="020B0604020202020204" pitchFamily="34" charset="0"/>
              </a:rPr>
              <a:t>paquete empleado para construir la interfaz gráfica y gestionar la interacción del usuario con la simulación.</a:t>
            </a:r>
          </a:p>
          <a:p>
            <a:pPr algn="just">
              <a:lnSpc>
                <a:spcPct val="150000"/>
              </a:lnSpc>
              <a:buClr>
                <a:schemeClr val="tx1"/>
              </a:buClr>
              <a:buSzPct val="90000"/>
              <a:buFont typeface="Wingdings" panose="05000000000000000000" pitchFamily="2" charset="2"/>
              <a:buChar char="q"/>
            </a:pPr>
            <a:r>
              <a:rPr lang="es-MX" b="1" dirty="0">
                <a:latin typeface="Arial" panose="020B0604020202020204" pitchFamily="34" charset="0"/>
                <a:cs typeface="Arial" panose="020B0604020202020204" pitchFamily="34" charset="0"/>
              </a:rPr>
              <a:t>R6: </a:t>
            </a:r>
            <a:r>
              <a:rPr lang="es-MX" dirty="0">
                <a:latin typeface="Arial" panose="020B0604020202020204" pitchFamily="34" charset="0"/>
                <a:cs typeface="Arial" panose="020B0604020202020204" pitchFamily="34" charset="0"/>
              </a:rPr>
              <a:t>sistema de clases utilizado para aplicar programación orientada a objetos y encapsular los datos y comportamientos de los modelos.</a:t>
            </a:r>
          </a:p>
          <a:p>
            <a:pPr algn="just">
              <a:lnSpc>
                <a:spcPct val="150000"/>
              </a:lnSpc>
              <a:buClr>
                <a:schemeClr val="tx1"/>
              </a:buClr>
              <a:buSzPct val="90000"/>
              <a:buFont typeface="Wingdings" panose="05000000000000000000" pitchFamily="2" charset="2"/>
              <a:buChar char="q"/>
            </a:pPr>
            <a:r>
              <a:rPr lang="es-MX" b="1" dirty="0" err="1">
                <a:latin typeface="Arial" panose="020B0604020202020204" pitchFamily="34" charset="0"/>
                <a:cs typeface="Arial" panose="020B0604020202020204" pitchFamily="34" charset="0"/>
              </a:rPr>
              <a:t>runif</a:t>
            </a:r>
            <a:r>
              <a:rPr lang="es-MX" b="1" dirty="0">
                <a:latin typeface="Arial" panose="020B0604020202020204" pitchFamily="34" charset="0"/>
                <a:cs typeface="Arial" panose="020B0604020202020204" pitchFamily="34" charset="0"/>
              </a:rPr>
              <a:t>() y </a:t>
            </a:r>
            <a:r>
              <a:rPr lang="es-MX" b="1" dirty="0" err="1">
                <a:latin typeface="Arial" panose="020B0604020202020204" pitchFamily="34" charset="0"/>
                <a:cs typeface="Arial" panose="020B0604020202020204" pitchFamily="34" charset="0"/>
              </a:rPr>
              <a:t>sample</a:t>
            </a:r>
            <a:r>
              <a:rPr lang="es-MX" b="1" dirty="0">
                <a:latin typeface="Arial" panose="020B0604020202020204" pitchFamily="34" charset="0"/>
                <a:cs typeface="Arial" panose="020B0604020202020204" pitchFamily="34" charset="0"/>
              </a:rPr>
              <a:t>(): </a:t>
            </a:r>
            <a:r>
              <a:rPr lang="es-MX" dirty="0">
                <a:latin typeface="Arial" panose="020B0604020202020204" pitchFamily="34" charset="0"/>
                <a:cs typeface="Arial" panose="020B0604020202020204" pitchFamily="34" charset="0"/>
              </a:rPr>
              <a:t>funciones utilizadas para generar valores pseudoaleatorios necesarios durante las simulaciones.</a:t>
            </a:r>
          </a:p>
        </p:txBody>
      </p:sp>
    </p:spTree>
    <p:extLst>
      <p:ext uri="{BB962C8B-B14F-4D97-AF65-F5344CB8AC3E}">
        <p14:creationId xmlns:p14="http://schemas.microsoft.com/office/powerpoint/2010/main" val="4048022982"/>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897E976F-6D20-49F8-97CB-9A9A745A5E77}"/>
              </a:ext>
            </a:extLst>
          </p:cNvPr>
          <p:cNvSpPr>
            <a:spLocks noGrp="1"/>
          </p:cNvSpPr>
          <p:nvPr>
            <p:ph type="title"/>
          </p:nvPr>
        </p:nvSpPr>
        <p:spPr>
          <a:xfrm>
            <a:off x="832014" y="2913327"/>
            <a:ext cx="10198788" cy="1031345"/>
          </a:xfrm>
          <a:solidFill>
            <a:schemeClr val="tx2">
              <a:lumMod val="75000"/>
            </a:schemeClr>
          </a:solidFill>
        </p:spPr>
        <p:txBody>
          <a:bodyPr anchor="ctr">
            <a:normAutofit/>
          </a:bodyPr>
          <a:lstStyle/>
          <a:p>
            <a:pPr algn="ctr"/>
            <a:r>
              <a:rPr lang="es-MX" spc="0"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Main</a:t>
            </a: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 y Ventana Principal</a:t>
            </a:r>
          </a:p>
        </p:txBody>
      </p:sp>
    </p:spTree>
    <p:extLst>
      <p:ext uri="{BB962C8B-B14F-4D97-AF65-F5344CB8AC3E}">
        <p14:creationId xmlns:p14="http://schemas.microsoft.com/office/powerpoint/2010/main" val="26583037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432612" y="1368672"/>
            <a:ext cx="5471127" cy="533916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Marcador de texto 8">
            <a:extLst>
              <a:ext uri="{FF2B5EF4-FFF2-40B4-BE49-F238E27FC236}">
                <a16:creationId xmlns:a16="http://schemas.microsoft.com/office/drawing/2014/main" id="{5A14CD3C-1779-4574-833C-E3BFB23B5AB7}"/>
              </a:ext>
            </a:extLst>
          </p:cNvPr>
          <p:cNvSpPr txBox="1">
            <a:spLocks/>
          </p:cNvSpPr>
          <p:nvPr/>
        </p:nvSpPr>
        <p:spPr>
          <a:xfrm>
            <a:off x="5578138" y="1479176"/>
            <a:ext cx="5180074" cy="5228662"/>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err="1">
                <a:latin typeface="Arial" panose="020B0604020202020204" pitchFamily="34" charset="0"/>
                <a:cs typeface="Arial" panose="020B0604020202020204" pitchFamily="34" charset="0"/>
              </a:rPr>
              <a:t>Main.R</a:t>
            </a:r>
            <a:r>
              <a:rPr lang="es-MX" sz="1800" dirty="0">
                <a:latin typeface="Arial" panose="020B0604020202020204" pitchFamily="34" charset="0"/>
                <a:cs typeface="Arial" panose="020B0604020202020204" pitchFamily="34" charset="0"/>
              </a:rPr>
              <a:t> es el archivo más pequeño, pero es el punto de entrada del proyecto.</a:t>
            </a:r>
          </a:p>
          <a:p>
            <a:pPr algn="just"/>
            <a:endParaRPr lang="es-MX" sz="1800" dirty="0">
              <a:latin typeface="Arial" panose="020B0604020202020204" pitchFamily="34" charset="0"/>
              <a:cs typeface="Arial" panose="020B0604020202020204" pitchFamily="34" charset="0"/>
            </a:endParaRPr>
          </a:p>
          <a:p>
            <a:pPr algn="just"/>
            <a:r>
              <a:rPr lang="es-MX" sz="1800" dirty="0">
                <a:latin typeface="Arial" panose="020B0604020202020204" pitchFamily="34" charset="0"/>
                <a:cs typeface="Arial" panose="020B0604020202020204" pitchFamily="34" charset="0"/>
              </a:rPr>
              <a:t>Es el archivo encargado de iniciar la ejecución del sistema. Mediante </a:t>
            </a:r>
            <a:r>
              <a:rPr lang="es-MX" sz="1800" dirty="0" err="1">
                <a:latin typeface="Arial" panose="020B0604020202020204" pitchFamily="34" charset="0"/>
                <a:cs typeface="Arial" panose="020B0604020202020204" pitchFamily="34" charset="0"/>
              </a:rPr>
              <a:t>source</a:t>
            </a:r>
            <a:r>
              <a:rPr lang="es-MX" sz="1800" dirty="0">
                <a:latin typeface="Arial" panose="020B0604020202020204" pitchFamily="34" charset="0"/>
                <a:cs typeface="Arial" panose="020B0604020202020204" pitchFamily="34" charset="0"/>
              </a:rPr>
              <a:t>() carga el archivo </a:t>
            </a:r>
            <a:r>
              <a:rPr lang="es-MX" sz="1800" dirty="0" err="1">
                <a:latin typeface="Arial" panose="020B0604020202020204" pitchFamily="34" charset="0"/>
                <a:cs typeface="Arial" panose="020B0604020202020204" pitchFamily="34" charset="0"/>
              </a:rPr>
              <a:t>ventanaPrincipal.R</a:t>
            </a:r>
            <a:r>
              <a:rPr lang="es-MX" sz="1800" dirty="0">
                <a:latin typeface="Arial" panose="020B0604020202020204" pitchFamily="34" charset="0"/>
                <a:cs typeface="Arial" panose="020B0604020202020204" pitchFamily="34" charset="0"/>
              </a:rPr>
              <a:t>, donde se encuentra definida la interfaz principal y la integración de los diferentes módulos. Posteriormente ejecuta </a:t>
            </a:r>
            <a:r>
              <a:rPr lang="es-MX" sz="1800" dirty="0" err="1">
                <a:latin typeface="Arial" panose="020B0604020202020204" pitchFamily="34" charset="0"/>
                <a:cs typeface="Arial" panose="020B0604020202020204" pitchFamily="34" charset="0"/>
              </a:rPr>
              <a:t>crear_ventana_principal</a:t>
            </a:r>
            <a:r>
              <a:rPr lang="es-MX" sz="1800" dirty="0">
                <a:latin typeface="Arial" panose="020B0604020202020204" pitchFamily="34" charset="0"/>
                <a:cs typeface="Arial" panose="020B0604020202020204" pitchFamily="34" charset="0"/>
              </a:rPr>
              <a:t>(), función responsable de inicializar la aplicación </a:t>
            </a:r>
            <a:r>
              <a:rPr lang="es-MX" sz="1800" dirty="0" err="1">
                <a:latin typeface="Arial" panose="020B0604020202020204" pitchFamily="34" charset="0"/>
                <a:cs typeface="Arial" panose="020B0604020202020204" pitchFamily="34" charset="0"/>
              </a:rPr>
              <a:t>Shiny</a:t>
            </a:r>
            <a:r>
              <a:rPr lang="es-MX" sz="1800" dirty="0">
                <a:latin typeface="Arial" panose="020B0604020202020204" pitchFamily="34" charset="0"/>
                <a:cs typeface="Arial" panose="020B0604020202020204" pitchFamily="34" charset="0"/>
              </a:rPr>
              <a:t> y presentar al usuario el menú principal del simulador.</a:t>
            </a:r>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Variable Aleatoria Discretas</a:t>
            </a:r>
          </a:p>
        </p:txBody>
      </p:sp>
      <p:pic>
        <p:nvPicPr>
          <p:cNvPr id="4" name="Imagen 3">
            <a:extLst>
              <a:ext uri="{FF2B5EF4-FFF2-40B4-BE49-F238E27FC236}">
                <a16:creationId xmlns:a16="http://schemas.microsoft.com/office/drawing/2014/main" id="{E9582D07-3B21-444C-8729-4725E8071424}"/>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34921" y="1368672"/>
            <a:ext cx="4664497" cy="5339166"/>
          </a:xfrm>
          <a:prstGeom prst="rect">
            <a:avLst/>
          </a:prstGeom>
        </p:spPr>
      </p:pic>
    </p:spTree>
    <p:extLst>
      <p:ext uri="{BB962C8B-B14F-4D97-AF65-F5344CB8AC3E}">
        <p14:creationId xmlns:p14="http://schemas.microsoft.com/office/powerpoint/2010/main" val="3928430391"/>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432612" y="1368672"/>
            <a:ext cx="5471127" cy="533916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Marcador de texto 8">
            <a:extLst>
              <a:ext uri="{FF2B5EF4-FFF2-40B4-BE49-F238E27FC236}">
                <a16:creationId xmlns:a16="http://schemas.microsoft.com/office/drawing/2014/main" id="{5A14CD3C-1779-4574-833C-E3BFB23B5AB7}"/>
              </a:ext>
            </a:extLst>
          </p:cNvPr>
          <p:cNvSpPr txBox="1">
            <a:spLocks/>
          </p:cNvSpPr>
          <p:nvPr/>
        </p:nvSpPr>
        <p:spPr>
          <a:xfrm>
            <a:off x="5578138" y="1410596"/>
            <a:ext cx="5180074" cy="5228662"/>
          </a:xfrm>
          <a:prstGeom prst="rect">
            <a:avLst/>
          </a:prstGeom>
        </p:spPr>
        <p:txBody>
          <a:bodyPr vert="horz" lIns="91440" tIns="45720" rIns="91440" bIns="45720" rtlCol="0">
            <a:normAutofit fontScale="92500"/>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latin typeface="Arial" panose="020B0604020202020204" pitchFamily="34" charset="0"/>
                <a:cs typeface="Arial" panose="020B0604020202020204" pitchFamily="34" charset="0"/>
              </a:rPr>
              <a:t>El archivo </a:t>
            </a:r>
            <a:r>
              <a:rPr lang="es-MX" sz="1800" dirty="0" err="1">
                <a:latin typeface="Arial" panose="020B0604020202020204" pitchFamily="34" charset="0"/>
                <a:cs typeface="Arial" panose="020B0604020202020204" pitchFamily="34" charset="0"/>
              </a:rPr>
              <a:t>ventanaPrincipal.R</a:t>
            </a:r>
            <a:r>
              <a:rPr lang="es-MX" sz="1800" dirty="0">
                <a:latin typeface="Arial" panose="020B0604020202020204" pitchFamily="34" charset="0"/>
                <a:cs typeface="Arial" panose="020B0604020202020204" pitchFamily="34" charset="0"/>
              </a:rPr>
              <a:t> implementa la estructura principal de la aplicación mediante </a:t>
            </a:r>
            <a:r>
              <a:rPr lang="es-MX" sz="1800" dirty="0" err="1">
                <a:latin typeface="Arial" panose="020B0604020202020204" pitchFamily="34" charset="0"/>
                <a:cs typeface="Arial" panose="020B0604020202020204" pitchFamily="34" charset="0"/>
              </a:rPr>
              <a:t>Shiny</a:t>
            </a:r>
            <a:r>
              <a:rPr lang="es-MX" sz="1800" dirty="0">
                <a:latin typeface="Arial" panose="020B0604020202020204" pitchFamily="34" charset="0"/>
                <a:cs typeface="Arial" panose="020B0604020202020204" pitchFamily="34" charset="0"/>
              </a:rPr>
              <a:t> y funciona como elemento integrador de los módulos del sistema. Inicialmente carga las clases Cliente, Espera, </a:t>
            </a:r>
            <a:r>
              <a:rPr lang="es-MX" sz="1800" dirty="0" err="1">
                <a:latin typeface="Arial" panose="020B0604020202020204" pitchFamily="34" charset="0"/>
                <a:cs typeface="Arial" panose="020B0604020202020204" pitchFamily="34" charset="0"/>
              </a:rPr>
              <a:t>RegistroInventario</a:t>
            </a:r>
            <a:r>
              <a:rPr lang="es-MX" sz="1800" dirty="0">
                <a:latin typeface="Arial" panose="020B0604020202020204" pitchFamily="34" charset="0"/>
                <a:cs typeface="Arial" panose="020B0604020202020204" pitchFamily="34" charset="0"/>
              </a:rPr>
              <a:t> e Inventario, así como las interfaces correspondientes a cada modelo mediante </a:t>
            </a:r>
            <a:r>
              <a:rPr lang="es-MX" sz="1800" dirty="0" err="1">
                <a:latin typeface="Arial" panose="020B0604020202020204" pitchFamily="34" charset="0"/>
                <a:cs typeface="Arial" panose="020B0604020202020204" pitchFamily="34" charset="0"/>
              </a:rPr>
              <a:t>source</a:t>
            </a:r>
            <a:r>
              <a:rPr lang="es-MX" sz="1800" dirty="0">
                <a:latin typeface="Arial" panose="020B0604020202020204" pitchFamily="34" charset="0"/>
                <a:cs typeface="Arial" panose="020B0604020202020204" pitchFamily="34" charset="0"/>
              </a:rPr>
              <a:t>().</a:t>
            </a:r>
          </a:p>
          <a:p>
            <a:pPr algn="just"/>
            <a:endParaRPr lang="es-MX" sz="1800" dirty="0">
              <a:latin typeface="Arial" panose="020B0604020202020204" pitchFamily="34" charset="0"/>
              <a:cs typeface="Arial" panose="020B0604020202020204" pitchFamily="34" charset="0"/>
            </a:endParaRPr>
          </a:p>
          <a:p>
            <a:pPr algn="just"/>
            <a:r>
              <a:rPr lang="es-MX" sz="1800" dirty="0">
                <a:latin typeface="Arial" panose="020B0604020202020204" pitchFamily="34" charset="0"/>
                <a:cs typeface="Arial" panose="020B0604020202020204" pitchFamily="34" charset="0"/>
              </a:rPr>
              <a:t>El archivo separa la aplicación en los componentes UI (</a:t>
            </a:r>
            <a:r>
              <a:rPr lang="es-MX" sz="1800" dirty="0" err="1">
                <a:latin typeface="Arial" panose="020B0604020202020204" pitchFamily="34" charset="0"/>
                <a:cs typeface="Arial" panose="020B0604020202020204" pitchFamily="34" charset="0"/>
              </a:rPr>
              <a:t>User</a:t>
            </a:r>
            <a:r>
              <a:rPr lang="es-MX" sz="1800" dirty="0">
                <a:latin typeface="Arial" panose="020B0604020202020204" pitchFamily="34" charset="0"/>
                <a:cs typeface="Arial" panose="020B0604020202020204" pitchFamily="34" charset="0"/>
              </a:rPr>
              <a:t> Interface) y Server. </a:t>
            </a:r>
            <a:r>
              <a:rPr lang="es-MX" sz="1800" dirty="0" err="1">
                <a:latin typeface="Arial" panose="020B0604020202020204" pitchFamily="34" charset="0"/>
                <a:cs typeface="Arial" panose="020B0604020202020204" pitchFamily="34" charset="0"/>
              </a:rPr>
              <a:t>ventanaPrincipalUI</a:t>
            </a:r>
            <a:r>
              <a:rPr lang="es-MX" sz="1800" dirty="0">
                <a:latin typeface="Arial" panose="020B0604020202020204" pitchFamily="34" charset="0"/>
                <a:cs typeface="Arial" panose="020B0604020202020204" pitchFamily="34" charset="0"/>
              </a:rPr>
              <a:t>() define la estructura visual y los controles disponibles para el usuario, mientras que </a:t>
            </a:r>
            <a:r>
              <a:rPr lang="es-MX" sz="1800" dirty="0" err="1">
                <a:latin typeface="Arial" panose="020B0604020202020204" pitchFamily="34" charset="0"/>
                <a:cs typeface="Arial" panose="020B0604020202020204" pitchFamily="34" charset="0"/>
              </a:rPr>
              <a:t>ventanaPrincipalServer</a:t>
            </a:r>
            <a:r>
              <a:rPr lang="es-MX" sz="1800" dirty="0">
                <a:latin typeface="Arial" panose="020B0604020202020204" pitchFamily="34" charset="0"/>
                <a:cs typeface="Arial" panose="020B0604020202020204" pitchFamily="34" charset="0"/>
              </a:rPr>
              <a:t>() administra los eventos, la navegación y la comunicación entre los diferentes módulos. Finalmente, </a:t>
            </a:r>
            <a:r>
              <a:rPr lang="es-MX" sz="1800" dirty="0" err="1">
                <a:latin typeface="Arial" panose="020B0604020202020204" pitchFamily="34" charset="0"/>
                <a:cs typeface="Arial" panose="020B0604020202020204" pitchFamily="34" charset="0"/>
              </a:rPr>
              <a:t>crear_ventana_principal</a:t>
            </a:r>
            <a:r>
              <a:rPr lang="es-MX" sz="1800" dirty="0">
                <a:latin typeface="Arial" panose="020B0604020202020204" pitchFamily="34" charset="0"/>
                <a:cs typeface="Arial" panose="020B0604020202020204" pitchFamily="34" charset="0"/>
              </a:rPr>
              <a:t>() utiliza </a:t>
            </a:r>
            <a:r>
              <a:rPr lang="es-MX" sz="1800" dirty="0" err="1">
                <a:latin typeface="Arial" panose="020B0604020202020204" pitchFamily="34" charset="0"/>
                <a:cs typeface="Arial" panose="020B0604020202020204" pitchFamily="34" charset="0"/>
              </a:rPr>
              <a:t>shinyApp</a:t>
            </a:r>
            <a:r>
              <a:rPr lang="es-MX" sz="1800" dirty="0">
                <a:latin typeface="Arial" panose="020B0604020202020204" pitchFamily="34" charset="0"/>
                <a:cs typeface="Arial" panose="020B0604020202020204" pitchFamily="34" charset="0"/>
              </a:rPr>
              <a:t>() para iniciar la aplicación. </a:t>
            </a:r>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ventanaPrincipal.R</a:t>
            </a:r>
            <a:endPar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endParaRPr>
          </a:p>
        </p:txBody>
      </p:sp>
      <p:pic>
        <p:nvPicPr>
          <p:cNvPr id="2" name="Imagen 1">
            <a:extLst>
              <a:ext uri="{FF2B5EF4-FFF2-40B4-BE49-F238E27FC236}">
                <a16:creationId xmlns:a16="http://schemas.microsoft.com/office/drawing/2014/main" id="{DCD60535-DA70-4D01-BD99-C56EF3D5DFC4}"/>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2"/>
          <a:stretch/>
        </p:blipFill>
        <p:spPr>
          <a:xfrm>
            <a:off x="534920" y="1368672"/>
            <a:ext cx="4574961" cy="5339166"/>
          </a:xfrm>
          <a:prstGeom prst="rect">
            <a:avLst/>
          </a:prstGeom>
        </p:spPr>
      </p:pic>
    </p:spTree>
    <p:extLst>
      <p:ext uri="{BB962C8B-B14F-4D97-AF65-F5344CB8AC3E}">
        <p14:creationId xmlns:p14="http://schemas.microsoft.com/office/powerpoint/2010/main" val="3691228758"/>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782235" y="1368672"/>
            <a:ext cx="5323207" cy="533916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ventanaPrincipal.R</a:t>
            </a:r>
            <a:endPar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endParaRPr>
          </a:p>
        </p:txBody>
      </p:sp>
      <p:pic>
        <p:nvPicPr>
          <p:cNvPr id="3" name="Imagen 2">
            <a:extLst>
              <a:ext uri="{FF2B5EF4-FFF2-40B4-BE49-F238E27FC236}">
                <a16:creationId xmlns:a16="http://schemas.microsoft.com/office/drawing/2014/main" id="{EB391B57-89F2-4B50-9114-00183CFB0FA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76518" y="1368672"/>
            <a:ext cx="5159896" cy="4305987"/>
          </a:xfrm>
          <a:prstGeom prst="rect">
            <a:avLst/>
          </a:prstGeom>
        </p:spPr>
      </p:pic>
      <p:sp>
        <p:nvSpPr>
          <p:cNvPr id="7" name="CuadroTexto 6">
            <a:extLst>
              <a:ext uri="{FF2B5EF4-FFF2-40B4-BE49-F238E27FC236}">
                <a16:creationId xmlns:a16="http://schemas.microsoft.com/office/drawing/2014/main" id="{3B6B210C-28E9-4AE1-B77B-62AFC7FD50E7}"/>
              </a:ext>
            </a:extLst>
          </p:cNvPr>
          <p:cNvSpPr txBox="1"/>
          <p:nvPr/>
        </p:nvSpPr>
        <p:spPr>
          <a:xfrm>
            <a:off x="1369713" y="5998893"/>
            <a:ext cx="3173506"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Figura 7</a:t>
            </a:r>
          </a:p>
        </p:txBody>
      </p:sp>
      <p:sp>
        <p:nvSpPr>
          <p:cNvPr id="8" name="Marcador de texto 8">
            <a:extLst>
              <a:ext uri="{FF2B5EF4-FFF2-40B4-BE49-F238E27FC236}">
                <a16:creationId xmlns:a16="http://schemas.microsoft.com/office/drawing/2014/main" id="{E6E8A6B9-D844-472D-8794-FFA091E9044E}"/>
              </a:ext>
            </a:extLst>
          </p:cNvPr>
          <p:cNvSpPr txBox="1">
            <a:spLocks/>
          </p:cNvSpPr>
          <p:nvPr/>
        </p:nvSpPr>
        <p:spPr>
          <a:xfrm>
            <a:off x="5989851" y="1680389"/>
            <a:ext cx="4907974" cy="4715732"/>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latin typeface="Arial" panose="020B0604020202020204" pitchFamily="34" charset="0"/>
                <a:cs typeface="Arial" panose="020B0604020202020204" pitchFamily="34" charset="0"/>
              </a:rPr>
              <a:t>Figura 7: Interfaz gráfica primaria del programa de </a:t>
            </a:r>
            <a:r>
              <a:rPr lang="es-MX" sz="1800" dirty="0" err="1">
                <a:latin typeface="Arial" panose="020B0604020202020204" pitchFamily="34" charset="0"/>
                <a:cs typeface="Arial" panose="020B0604020202020204" pitchFamily="34" charset="0"/>
              </a:rPr>
              <a:t>simulacion</a:t>
            </a:r>
            <a:r>
              <a:rPr lang="es-MX" sz="1800" dirty="0">
                <a:latin typeface="Arial" panose="020B0604020202020204" pitchFamily="34" charset="0"/>
                <a:cs typeface="Arial" panose="020B0604020202020204" pitchFamily="34" charset="0"/>
              </a:rPr>
              <a:t> en R que se encuentra en  ejecución (</a:t>
            </a:r>
            <a:r>
              <a:rPr lang="es-MX" sz="1800" dirty="0" err="1">
                <a:latin typeface="Arial" panose="020B0604020202020204" pitchFamily="34" charset="0"/>
                <a:cs typeface="Arial" panose="020B0604020202020204" pitchFamily="34" charset="0"/>
              </a:rPr>
              <a:t>ventanaPrincipal.R</a:t>
            </a:r>
            <a:r>
              <a:rPr lang="es-MX" sz="1800" dirty="0">
                <a:latin typeface="Arial" panose="020B0604020202020204" pitchFamily="34" charset="0"/>
                <a:cs typeface="Arial" panose="020B0604020202020204" pitchFamily="34" charset="0"/>
              </a:rPr>
              <a:t>).</a:t>
            </a:r>
          </a:p>
          <a:p>
            <a:pPr algn="just"/>
            <a:endParaRPr lang="es-MX" sz="1800" dirty="0">
              <a:latin typeface="Arial" panose="020B0604020202020204" pitchFamily="34" charset="0"/>
              <a:cs typeface="Arial" panose="020B0604020202020204" pitchFamily="34" charset="0"/>
            </a:endParaRPr>
          </a:p>
          <a:p>
            <a:pPr algn="just"/>
            <a:r>
              <a:rPr lang="es-MX" sz="1800" dirty="0">
                <a:latin typeface="Arial" panose="020B0604020202020204" pitchFamily="34" charset="0"/>
                <a:cs typeface="Arial" panose="020B0604020202020204" pitchFamily="34" charset="0"/>
              </a:rPr>
              <a:t>Se muestra la ventana activa con el panel de configuración de parámetros de entrada cargados, en este caso se muestra dos opciones para que usuario elija cual de los dos modelos de simulación realizar.</a:t>
            </a:r>
          </a:p>
        </p:txBody>
      </p:sp>
    </p:spTree>
    <p:extLst>
      <p:ext uri="{BB962C8B-B14F-4D97-AF65-F5344CB8AC3E}">
        <p14:creationId xmlns:p14="http://schemas.microsoft.com/office/powerpoint/2010/main" val="2984270006"/>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897E976F-6D20-49F8-97CB-9A9A745A5E77}"/>
              </a:ext>
            </a:extLst>
          </p:cNvPr>
          <p:cNvSpPr>
            <a:spLocks noGrp="1"/>
          </p:cNvSpPr>
          <p:nvPr>
            <p:ph type="title"/>
          </p:nvPr>
        </p:nvSpPr>
        <p:spPr>
          <a:xfrm>
            <a:off x="832014" y="2913327"/>
            <a:ext cx="10198788" cy="1031345"/>
          </a:xfrm>
          <a:solidFill>
            <a:schemeClr val="tx2">
              <a:lumMod val="75000"/>
            </a:schemeClr>
          </a:solidFill>
        </p:spPr>
        <p:txBody>
          <a:bodyPr anchor="ctr">
            <a:normAutofit/>
          </a:body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Módulo Línea de Espera</a:t>
            </a:r>
          </a:p>
        </p:txBody>
      </p:sp>
    </p:spTree>
    <p:extLst>
      <p:ext uri="{BB962C8B-B14F-4D97-AF65-F5344CB8AC3E}">
        <p14:creationId xmlns:p14="http://schemas.microsoft.com/office/powerpoint/2010/main" val="30624926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432612" y="1368672"/>
            <a:ext cx="5471127" cy="533916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Marcador de texto 8">
            <a:extLst>
              <a:ext uri="{FF2B5EF4-FFF2-40B4-BE49-F238E27FC236}">
                <a16:creationId xmlns:a16="http://schemas.microsoft.com/office/drawing/2014/main" id="{5A14CD3C-1779-4574-833C-E3BFB23B5AB7}"/>
              </a:ext>
            </a:extLst>
          </p:cNvPr>
          <p:cNvSpPr txBox="1">
            <a:spLocks/>
          </p:cNvSpPr>
          <p:nvPr/>
        </p:nvSpPr>
        <p:spPr>
          <a:xfrm>
            <a:off x="5578138" y="1479176"/>
            <a:ext cx="5180074" cy="5228662"/>
          </a:xfrm>
          <a:prstGeom prst="rect">
            <a:avLst/>
          </a:prstGeom>
        </p:spPr>
        <p:txBody>
          <a:bodyPr vert="horz" lIns="91440" tIns="45720" rIns="91440" bIns="45720" rtlCol="0">
            <a:normAutofit lnSpcReduction="10000"/>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latin typeface="Arial" panose="020B0604020202020204" pitchFamily="34" charset="0"/>
                <a:cs typeface="Arial" panose="020B0604020202020204" pitchFamily="34" charset="0"/>
              </a:rPr>
              <a:t>El archivo </a:t>
            </a:r>
            <a:r>
              <a:rPr lang="es-MX" sz="1800" dirty="0" err="1">
                <a:latin typeface="Arial" panose="020B0604020202020204" pitchFamily="34" charset="0"/>
                <a:cs typeface="Arial" panose="020B0604020202020204" pitchFamily="34" charset="0"/>
              </a:rPr>
              <a:t>Cliente.R</a:t>
            </a:r>
            <a:r>
              <a:rPr lang="es-MX" sz="1800" dirty="0">
                <a:latin typeface="Arial" panose="020B0604020202020204" pitchFamily="34" charset="0"/>
                <a:cs typeface="Arial" panose="020B0604020202020204" pitchFamily="34" charset="0"/>
              </a:rPr>
              <a:t> define mediante R6 la clase Cliente, utilizada como modelo de datos para representar individualmente a cada cliente procesado durante la simulación de Línea de Espera. Cada instancia conserva atributos como número de cliente, servidor asignado, tiempo de llegada, duración del servicio, tiempo de espera, inicio y finalización de la atención.</a:t>
            </a:r>
          </a:p>
          <a:p>
            <a:pPr algn="just"/>
            <a:endParaRPr lang="es-MX" sz="1800" dirty="0">
              <a:latin typeface="Arial" panose="020B0604020202020204" pitchFamily="34" charset="0"/>
              <a:cs typeface="Arial" panose="020B0604020202020204" pitchFamily="34" charset="0"/>
            </a:endParaRPr>
          </a:p>
          <a:p>
            <a:pPr algn="just"/>
            <a:r>
              <a:rPr lang="es-MX" sz="1800" dirty="0">
                <a:latin typeface="Arial" panose="020B0604020202020204" pitchFamily="34" charset="0"/>
                <a:cs typeface="Arial" panose="020B0604020202020204" pitchFamily="34" charset="0"/>
              </a:rPr>
              <a:t>La clase implementa un constructor </a:t>
            </a:r>
            <a:r>
              <a:rPr lang="es-MX" sz="1800" dirty="0" err="1">
                <a:latin typeface="Arial" panose="020B0604020202020204" pitchFamily="34" charset="0"/>
                <a:cs typeface="Arial" panose="020B0604020202020204" pitchFamily="34" charset="0"/>
              </a:rPr>
              <a:t>initialize</a:t>
            </a:r>
            <a:r>
              <a:rPr lang="es-MX" sz="1800" dirty="0">
                <a:latin typeface="Arial" panose="020B0604020202020204" pitchFamily="34" charset="0"/>
                <a:cs typeface="Arial" panose="020B0604020202020204" pitchFamily="34" charset="0"/>
              </a:rPr>
              <a:t>() para inicializar los datos y métodos de acceso que permiten recuperar posteriormente cada atributo. De esta manera, los resultados correspondientes a cada cliente permanecen encapsulados y pueden ser utilizados por la lógica de simulación y la interfaz.</a:t>
            </a:r>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Cliente.R</a:t>
            </a:r>
            <a:endPar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endParaRPr>
          </a:p>
        </p:txBody>
      </p:sp>
      <p:pic>
        <p:nvPicPr>
          <p:cNvPr id="4" name="Imagen 3">
            <a:extLst>
              <a:ext uri="{FF2B5EF4-FFF2-40B4-BE49-F238E27FC236}">
                <a16:creationId xmlns:a16="http://schemas.microsoft.com/office/drawing/2014/main" id="{25893C71-A47B-47D0-A4CF-3F718991FC85}"/>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34920" y="1368672"/>
            <a:ext cx="4467386" cy="5339166"/>
          </a:xfrm>
          <a:prstGeom prst="rect">
            <a:avLst/>
          </a:prstGeom>
        </p:spPr>
      </p:pic>
    </p:spTree>
    <p:extLst>
      <p:ext uri="{BB962C8B-B14F-4D97-AF65-F5344CB8AC3E}">
        <p14:creationId xmlns:p14="http://schemas.microsoft.com/office/powerpoint/2010/main" val="1122117119"/>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432612" y="1368672"/>
            <a:ext cx="5471127" cy="533916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Marcador de texto 8">
            <a:extLst>
              <a:ext uri="{FF2B5EF4-FFF2-40B4-BE49-F238E27FC236}">
                <a16:creationId xmlns:a16="http://schemas.microsoft.com/office/drawing/2014/main" id="{5A14CD3C-1779-4574-833C-E3BFB23B5AB7}"/>
              </a:ext>
            </a:extLst>
          </p:cNvPr>
          <p:cNvSpPr txBox="1">
            <a:spLocks/>
          </p:cNvSpPr>
          <p:nvPr/>
        </p:nvSpPr>
        <p:spPr>
          <a:xfrm>
            <a:off x="5578138" y="1479176"/>
            <a:ext cx="5180074" cy="5228662"/>
          </a:xfrm>
          <a:prstGeom prst="rect">
            <a:avLst/>
          </a:prstGeom>
        </p:spPr>
        <p:txBody>
          <a:bodyPr vert="horz" lIns="91440" tIns="45720" rIns="91440" bIns="45720" rtlCol="0">
            <a:normAutofit fontScale="92500" lnSpcReduction="10000"/>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latin typeface="Arial" panose="020B0604020202020204" pitchFamily="34" charset="0"/>
                <a:cs typeface="Arial" panose="020B0604020202020204" pitchFamily="34" charset="0"/>
              </a:rPr>
              <a:t>El archivo </a:t>
            </a:r>
            <a:r>
              <a:rPr lang="es-MX" sz="1800" dirty="0" err="1">
                <a:latin typeface="Arial" panose="020B0604020202020204" pitchFamily="34" charset="0"/>
                <a:cs typeface="Arial" panose="020B0604020202020204" pitchFamily="34" charset="0"/>
              </a:rPr>
              <a:t>Espera.R</a:t>
            </a:r>
            <a:r>
              <a:rPr lang="es-MX" sz="1800" dirty="0">
                <a:latin typeface="Arial" panose="020B0604020202020204" pitchFamily="34" charset="0"/>
                <a:cs typeface="Arial" panose="020B0604020202020204" pitchFamily="34" charset="0"/>
              </a:rPr>
              <a:t> contiene el núcleo lógico y estadístico del modelo de Línea de Espera, implementado mediante una clase R6. Su método simular() procesa los parámetros establecidos por el usuario, genera los valores necesarios para representar las llegadas y tiempos de servicio, administra la disponibilidad de los servidores y construye los registros correspondientes a cada cliente.</a:t>
            </a:r>
          </a:p>
          <a:p>
            <a:pPr algn="just"/>
            <a:endParaRPr lang="es-MX" sz="1800" dirty="0">
              <a:latin typeface="Arial" panose="020B0604020202020204" pitchFamily="34" charset="0"/>
              <a:cs typeface="Arial" panose="020B0604020202020204" pitchFamily="34" charset="0"/>
            </a:endParaRPr>
          </a:p>
          <a:p>
            <a:pPr algn="just"/>
            <a:r>
              <a:rPr lang="es-MX" sz="1800" dirty="0">
                <a:latin typeface="Arial" panose="020B0604020202020204" pitchFamily="34" charset="0"/>
                <a:cs typeface="Arial" panose="020B0604020202020204" pitchFamily="34" charset="0"/>
              </a:rPr>
              <a:t>La clase también incorpora funciones auxiliares para la generación pseudoaleatoria mediante </a:t>
            </a:r>
            <a:r>
              <a:rPr lang="es-MX" sz="1800" dirty="0" err="1">
                <a:latin typeface="Arial" panose="020B0604020202020204" pitchFamily="34" charset="0"/>
                <a:cs typeface="Arial" panose="020B0604020202020204" pitchFamily="34" charset="0"/>
              </a:rPr>
              <a:t>runif</a:t>
            </a:r>
            <a:r>
              <a:rPr lang="es-MX" sz="1800" dirty="0">
                <a:latin typeface="Arial" panose="020B0604020202020204" pitchFamily="34" charset="0"/>
                <a:cs typeface="Arial" panose="020B0604020202020204" pitchFamily="34" charset="0"/>
              </a:rPr>
              <a:t>(), así como procedimientos destinados a la validación estadística de los resultados. Entre sus métodos se encuentran </a:t>
            </a:r>
            <a:r>
              <a:rPr lang="es-MX" sz="1800" dirty="0" err="1">
                <a:latin typeface="Arial" panose="020B0604020202020204" pitchFamily="34" charset="0"/>
                <a:cs typeface="Arial" panose="020B0604020202020204" pitchFamily="34" charset="0"/>
              </a:rPr>
              <a:t>validarSimulacion</a:t>
            </a:r>
            <a:r>
              <a:rPr lang="es-MX" sz="1800" dirty="0">
                <a:latin typeface="Arial" panose="020B0604020202020204" pitchFamily="34" charset="0"/>
                <a:cs typeface="Arial" panose="020B0604020202020204" pitchFamily="34" charset="0"/>
              </a:rPr>
              <a:t>(), </a:t>
            </a:r>
            <a:r>
              <a:rPr lang="es-MX" sz="1800" dirty="0" err="1">
                <a:latin typeface="Arial" panose="020B0604020202020204" pitchFamily="34" charset="0"/>
                <a:cs typeface="Arial" panose="020B0604020202020204" pitchFamily="34" charset="0"/>
              </a:rPr>
              <a:t>ejecutarPruebaT</a:t>
            </a:r>
            <a:r>
              <a:rPr lang="es-MX" sz="1800" dirty="0">
                <a:latin typeface="Arial" panose="020B0604020202020204" pitchFamily="34" charset="0"/>
                <a:cs typeface="Arial" panose="020B0604020202020204" pitchFamily="34" charset="0"/>
              </a:rPr>
              <a:t>() y </a:t>
            </a:r>
            <a:r>
              <a:rPr lang="es-MX" sz="1800" dirty="0" err="1">
                <a:latin typeface="Arial" panose="020B0604020202020204" pitchFamily="34" charset="0"/>
                <a:cs typeface="Arial" panose="020B0604020202020204" pitchFamily="34" charset="0"/>
              </a:rPr>
              <a:t>ejecutarWilcoxon</a:t>
            </a:r>
            <a:r>
              <a:rPr lang="es-MX" sz="1800" dirty="0">
                <a:latin typeface="Arial" panose="020B0604020202020204" pitchFamily="34" charset="0"/>
                <a:cs typeface="Arial" panose="020B0604020202020204" pitchFamily="34" charset="0"/>
              </a:rPr>
              <a:t>(), además de funciones matemáticas auxiliares utilizadas durante los cálculos estadísticos.</a:t>
            </a:r>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Espera.R</a:t>
            </a:r>
            <a:endPar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endParaRPr>
          </a:p>
        </p:txBody>
      </p:sp>
      <p:pic>
        <p:nvPicPr>
          <p:cNvPr id="2" name="Imagen 1">
            <a:extLst>
              <a:ext uri="{FF2B5EF4-FFF2-40B4-BE49-F238E27FC236}">
                <a16:creationId xmlns:a16="http://schemas.microsoft.com/office/drawing/2014/main" id="{2AAC5BE8-8797-4A3C-8DE5-EBB3918D7B93}"/>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34920" y="1368671"/>
            <a:ext cx="4574961" cy="5330345"/>
          </a:xfrm>
          <a:prstGeom prst="rect">
            <a:avLst/>
          </a:prstGeom>
        </p:spPr>
      </p:pic>
    </p:spTree>
    <p:extLst>
      <p:ext uri="{BB962C8B-B14F-4D97-AF65-F5344CB8AC3E}">
        <p14:creationId xmlns:p14="http://schemas.microsoft.com/office/powerpoint/2010/main" val="1962443267"/>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755341" y="1368672"/>
            <a:ext cx="5148398" cy="533916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ventanaEspera.R</a:t>
            </a:r>
            <a:endPar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endParaRPr>
          </a:p>
        </p:txBody>
      </p:sp>
      <p:pic>
        <p:nvPicPr>
          <p:cNvPr id="4" name="Imagen 3">
            <a:extLst>
              <a:ext uri="{FF2B5EF4-FFF2-40B4-BE49-F238E27FC236}">
                <a16:creationId xmlns:a16="http://schemas.microsoft.com/office/drawing/2014/main" id="{5F074936-C253-4BE3-B4E6-BFC0DB2A1E5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91401" y="1368671"/>
            <a:ext cx="5148398" cy="4104281"/>
          </a:xfrm>
          <a:prstGeom prst="rect">
            <a:avLst/>
          </a:prstGeom>
        </p:spPr>
      </p:pic>
      <p:sp>
        <p:nvSpPr>
          <p:cNvPr id="8" name="CuadroTexto 7">
            <a:extLst>
              <a:ext uri="{FF2B5EF4-FFF2-40B4-BE49-F238E27FC236}">
                <a16:creationId xmlns:a16="http://schemas.microsoft.com/office/drawing/2014/main" id="{2BA4FDB6-7674-4CC8-A1BB-B7555B83CF99}"/>
              </a:ext>
            </a:extLst>
          </p:cNvPr>
          <p:cNvSpPr txBox="1"/>
          <p:nvPr/>
        </p:nvSpPr>
        <p:spPr>
          <a:xfrm>
            <a:off x="1278847" y="5660116"/>
            <a:ext cx="3173506"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Figura 8</a:t>
            </a:r>
          </a:p>
        </p:txBody>
      </p:sp>
      <p:sp>
        <p:nvSpPr>
          <p:cNvPr id="11" name="Marcador de texto 8">
            <a:extLst>
              <a:ext uri="{FF2B5EF4-FFF2-40B4-BE49-F238E27FC236}">
                <a16:creationId xmlns:a16="http://schemas.microsoft.com/office/drawing/2014/main" id="{9BA3DDC9-4E7A-45F9-A662-38B1D81FA295}"/>
              </a:ext>
            </a:extLst>
          </p:cNvPr>
          <p:cNvSpPr txBox="1">
            <a:spLocks/>
          </p:cNvSpPr>
          <p:nvPr/>
        </p:nvSpPr>
        <p:spPr>
          <a:xfrm>
            <a:off x="5872760" y="1680389"/>
            <a:ext cx="4913559" cy="4715732"/>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latin typeface="Arial" panose="020B0604020202020204" pitchFamily="34" charset="0"/>
                <a:cs typeface="Arial" panose="020B0604020202020204" pitchFamily="34" charset="0"/>
              </a:rPr>
              <a:t>Figura 8: Interfaz gráfica </a:t>
            </a:r>
            <a:r>
              <a:rPr lang="es-MX" sz="1800" dirty="0" err="1">
                <a:latin typeface="Arial" panose="020B0604020202020204" pitchFamily="34" charset="0"/>
                <a:cs typeface="Arial" panose="020B0604020202020204" pitchFamily="34" charset="0"/>
              </a:rPr>
              <a:t>secundraia</a:t>
            </a:r>
            <a:r>
              <a:rPr lang="es-MX" sz="1800" dirty="0">
                <a:latin typeface="Arial" panose="020B0604020202020204" pitchFamily="34" charset="0"/>
                <a:cs typeface="Arial" panose="020B0604020202020204" pitchFamily="34" charset="0"/>
              </a:rPr>
              <a:t> del programa de </a:t>
            </a:r>
            <a:r>
              <a:rPr lang="es-MX" sz="1800" dirty="0" err="1">
                <a:latin typeface="Arial" panose="020B0604020202020204" pitchFamily="34" charset="0"/>
                <a:cs typeface="Arial" panose="020B0604020202020204" pitchFamily="34" charset="0"/>
              </a:rPr>
              <a:t>simulacion</a:t>
            </a:r>
            <a:r>
              <a:rPr lang="es-MX" sz="1800" dirty="0">
                <a:latin typeface="Arial" panose="020B0604020202020204" pitchFamily="34" charset="0"/>
                <a:cs typeface="Arial" panose="020B0604020202020204" pitchFamily="34" charset="0"/>
              </a:rPr>
              <a:t> en Python que se encuentra en  ejecución (</a:t>
            </a:r>
            <a:r>
              <a:rPr lang="es-MX" sz="1800" dirty="0" err="1">
                <a:latin typeface="Arial" panose="020B0604020202020204" pitchFamily="34" charset="0"/>
                <a:cs typeface="Arial" panose="020B0604020202020204" pitchFamily="34" charset="0"/>
              </a:rPr>
              <a:t>ventanaEspera.R</a:t>
            </a:r>
            <a:r>
              <a:rPr lang="es-MX" sz="1800" dirty="0">
                <a:latin typeface="Arial" panose="020B0604020202020204" pitchFamily="34" charset="0"/>
                <a:cs typeface="Arial" panose="020B0604020202020204" pitchFamily="34" charset="0"/>
              </a:rPr>
              <a:t>).</a:t>
            </a:r>
          </a:p>
          <a:p>
            <a:pPr algn="just"/>
            <a:endParaRPr lang="es-MX" sz="1800" dirty="0">
              <a:latin typeface="Arial" panose="020B0604020202020204" pitchFamily="34" charset="0"/>
              <a:cs typeface="Arial" panose="020B0604020202020204" pitchFamily="34" charset="0"/>
            </a:endParaRPr>
          </a:p>
          <a:p>
            <a:pPr algn="just"/>
            <a:r>
              <a:rPr lang="es-MX" sz="1800" dirty="0">
                <a:latin typeface="Arial" panose="020B0604020202020204" pitchFamily="34" charset="0"/>
                <a:cs typeface="Arial" panose="020B0604020202020204" pitchFamily="34" charset="0"/>
              </a:rPr>
              <a:t>Se muestra la ventana activa con el panel de configuración de parámetros de entrada cargados, en este caso se muestra los parámetros, resultados de la simulación mediante tablas y la validación del simulador.</a:t>
            </a:r>
          </a:p>
        </p:txBody>
      </p:sp>
    </p:spTree>
    <p:extLst>
      <p:ext uri="{BB962C8B-B14F-4D97-AF65-F5344CB8AC3E}">
        <p14:creationId xmlns:p14="http://schemas.microsoft.com/office/powerpoint/2010/main" val="4004966369"/>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897E976F-6D20-49F8-97CB-9A9A745A5E77}"/>
              </a:ext>
            </a:extLst>
          </p:cNvPr>
          <p:cNvSpPr>
            <a:spLocks noGrp="1"/>
          </p:cNvSpPr>
          <p:nvPr>
            <p:ph type="title"/>
          </p:nvPr>
        </p:nvSpPr>
        <p:spPr>
          <a:xfrm>
            <a:off x="832014" y="2913327"/>
            <a:ext cx="10198788" cy="1031345"/>
          </a:xfrm>
          <a:solidFill>
            <a:schemeClr val="tx2">
              <a:lumMod val="75000"/>
            </a:schemeClr>
          </a:solidFill>
        </p:spPr>
        <p:txBody>
          <a:bodyPr anchor="ctr">
            <a:normAutofit/>
          </a:body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Módulo de Inventario</a:t>
            </a:r>
          </a:p>
        </p:txBody>
      </p:sp>
    </p:spTree>
    <p:extLst>
      <p:ext uri="{BB962C8B-B14F-4D97-AF65-F5344CB8AC3E}">
        <p14:creationId xmlns:p14="http://schemas.microsoft.com/office/powerpoint/2010/main" val="28433612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432612" y="1368672"/>
            <a:ext cx="5471127" cy="533916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Marcador de texto 8">
            <a:extLst>
              <a:ext uri="{FF2B5EF4-FFF2-40B4-BE49-F238E27FC236}">
                <a16:creationId xmlns:a16="http://schemas.microsoft.com/office/drawing/2014/main" id="{5A14CD3C-1779-4574-833C-E3BFB23B5AB7}"/>
              </a:ext>
            </a:extLst>
          </p:cNvPr>
          <p:cNvSpPr txBox="1">
            <a:spLocks/>
          </p:cNvSpPr>
          <p:nvPr/>
        </p:nvSpPr>
        <p:spPr>
          <a:xfrm>
            <a:off x="5578138" y="1479176"/>
            <a:ext cx="5180074" cy="5228662"/>
          </a:xfrm>
          <a:prstGeom prst="rect">
            <a:avLst/>
          </a:prstGeom>
        </p:spPr>
        <p:txBody>
          <a:bodyPr vert="horz" lIns="91440" tIns="45720" rIns="91440" bIns="45720" rtlCol="0">
            <a:normAutofit lnSpcReduction="10000"/>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latin typeface="Arial" panose="020B0604020202020204" pitchFamily="34" charset="0"/>
                <a:cs typeface="Arial" panose="020B0604020202020204" pitchFamily="34" charset="0"/>
              </a:rPr>
              <a:t>El archivo </a:t>
            </a:r>
            <a:r>
              <a:rPr lang="es-MX" sz="1800" dirty="0" err="1">
                <a:latin typeface="Arial" panose="020B0604020202020204" pitchFamily="34" charset="0"/>
                <a:cs typeface="Arial" panose="020B0604020202020204" pitchFamily="34" charset="0"/>
              </a:rPr>
              <a:t>RegistroInventario.R</a:t>
            </a:r>
            <a:r>
              <a:rPr lang="es-MX" sz="1800" dirty="0">
                <a:latin typeface="Arial" panose="020B0604020202020204" pitchFamily="34" charset="0"/>
                <a:cs typeface="Arial" panose="020B0604020202020204" pitchFamily="34" charset="0"/>
              </a:rPr>
              <a:t> define mediante R6 la estructura utilizada para representar cada periodo procesado durante la simulación de Inventario. Cada objeto almacena información relacionada con el periodo, inventario inicial, demanda, pedido generado, inventario final y cantidad faltante.</a:t>
            </a:r>
          </a:p>
          <a:p>
            <a:pPr algn="just"/>
            <a:endParaRPr lang="es-MX" sz="1800" dirty="0">
              <a:latin typeface="Arial" panose="020B0604020202020204" pitchFamily="34" charset="0"/>
              <a:cs typeface="Arial" panose="020B0604020202020204" pitchFamily="34" charset="0"/>
            </a:endParaRPr>
          </a:p>
          <a:p>
            <a:pPr algn="just"/>
            <a:r>
              <a:rPr lang="es-MX" sz="1800" dirty="0">
                <a:latin typeface="Arial" panose="020B0604020202020204" pitchFamily="34" charset="0"/>
                <a:cs typeface="Arial" panose="020B0604020202020204" pitchFamily="34" charset="0"/>
              </a:rPr>
              <a:t>El constructor </a:t>
            </a:r>
            <a:r>
              <a:rPr lang="es-MX" sz="1800" dirty="0" err="1">
                <a:latin typeface="Arial" panose="020B0604020202020204" pitchFamily="34" charset="0"/>
                <a:cs typeface="Arial" panose="020B0604020202020204" pitchFamily="34" charset="0"/>
              </a:rPr>
              <a:t>initialize</a:t>
            </a:r>
            <a:r>
              <a:rPr lang="es-MX" sz="1800" dirty="0">
                <a:latin typeface="Arial" panose="020B0604020202020204" pitchFamily="34" charset="0"/>
                <a:cs typeface="Arial" panose="020B0604020202020204" pitchFamily="34" charset="0"/>
              </a:rPr>
              <a:t>() permite establecer los valores correspondientes a cada registro, mientras que los métodos de acceso recuperan individualmente los datos almacenados. Esta clase funciona como modelo de información y facilita que la lógica del inventario mantenga organizados los resultados generados durante cada periodo.</a:t>
            </a:r>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RegistroInventario.R</a:t>
            </a:r>
            <a:endPar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endParaRPr>
          </a:p>
        </p:txBody>
      </p:sp>
      <p:pic>
        <p:nvPicPr>
          <p:cNvPr id="4" name="Imagen 3">
            <a:extLst>
              <a:ext uri="{FF2B5EF4-FFF2-40B4-BE49-F238E27FC236}">
                <a16:creationId xmlns:a16="http://schemas.microsoft.com/office/drawing/2014/main" id="{3549A4A9-FC70-444C-9BE8-471E2181ABD6}"/>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376517" y="1368671"/>
            <a:ext cx="4818867" cy="5339166"/>
          </a:xfrm>
          <a:prstGeom prst="rect">
            <a:avLst/>
          </a:prstGeom>
        </p:spPr>
      </p:pic>
    </p:spTree>
    <p:extLst>
      <p:ext uri="{BB962C8B-B14F-4D97-AF65-F5344CB8AC3E}">
        <p14:creationId xmlns:p14="http://schemas.microsoft.com/office/powerpoint/2010/main" val="1052813315"/>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432612" y="1368672"/>
            <a:ext cx="5471127" cy="533916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Marcador de texto 8">
            <a:extLst>
              <a:ext uri="{FF2B5EF4-FFF2-40B4-BE49-F238E27FC236}">
                <a16:creationId xmlns:a16="http://schemas.microsoft.com/office/drawing/2014/main" id="{5A14CD3C-1779-4574-833C-E3BFB23B5AB7}"/>
              </a:ext>
            </a:extLst>
          </p:cNvPr>
          <p:cNvSpPr txBox="1">
            <a:spLocks/>
          </p:cNvSpPr>
          <p:nvPr/>
        </p:nvSpPr>
        <p:spPr>
          <a:xfrm>
            <a:off x="5578138" y="1479176"/>
            <a:ext cx="5180074" cy="5228662"/>
          </a:xfrm>
          <a:prstGeom prst="rect">
            <a:avLst/>
          </a:prstGeom>
        </p:spPr>
        <p:txBody>
          <a:bodyPr vert="horz" lIns="91440" tIns="45720" rIns="91440" bIns="45720" rtlCol="0">
            <a:normAutofit lnSpcReduction="10000"/>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latin typeface="Arial" panose="020B0604020202020204" pitchFamily="34" charset="0"/>
                <a:cs typeface="Arial" panose="020B0604020202020204" pitchFamily="34" charset="0"/>
              </a:rPr>
              <a:t>Contiene la lógica principal del modelo de </a:t>
            </a:r>
            <a:r>
              <a:rPr lang="es-MX" sz="1800" dirty="0" err="1">
                <a:latin typeface="Arial" panose="020B0604020202020204" pitchFamily="34" charset="0"/>
                <a:cs typeface="Arial" panose="020B0604020202020204" pitchFamily="34" charset="0"/>
              </a:rPr>
              <a:t>nventario</a:t>
            </a:r>
            <a:r>
              <a:rPr lang="es-MX" sz="1800" dirty="0">
                <a:latin typeface="Arial" panose="020B0604020202020204" pitchFamily="34" charset="0"/>
                <a:cs typeface="Arial" panose="020B0604020202020204" pitchFamily="34" charset="0"/>
              </a:rPr>
              <a:t>, estructurada mediante una clase R6. Su método simular() procesa los parámetros proporcionados por el usuario y ejecuta la simulación periodo por periodo, actualizando las existencias de acuerdo con la demanda generada y las condiciones de reabastecimiento establecidas.</a:t>
            </a:r>
          </a:p>
          <a:p>
            <a:pPr algn="just"/>
            <a:endParaRPr lang="es-MX" sz="1800" dirty="0">
              <a:latin typeface="Arial" panose="020B0604020202020204" pitchFamily="34" charset="0"/>
              <a:cs typeface="Arial" panose="020B0604020202020204" pitchFamily="34" charset="0"/>
            </a:endParaRPr>
          </a:p>
          <a:p>
            <a:pPr algn="just"/>
            <a:r>
              <a:rPr lang="es-MX" sz="1800" dirty="0">
                <a:latin typeface="Arial" panose="020B0604020202020204" pitchFamily="34" charset="0"/>
                <a:cs typeface="Arial" panose="020B0604020202020204" pitchFamily="34" charset="0"/>
              </a:rPr>
              <a:t>El archivo incorpora métodos para evaluar el estado del inventario, determinar situaciones que requieren atención y generar los registros correspondientes. También contiene procedimientos para la validación estadística de los resultados y funciones auxiliares necesarias para efectuar los cálculos del modelo.</a:t>
            </a:r>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Inventario.R</a:t>
            </a:r>
            <a:endPar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endParaRPr>
          </a:p>
        </p:txBody>
      </p:sp>
      <p:pic>
        <p:nvPicPr>
          <p:cNvPr id="2" name="Imagen 1">
            <a:extLst>
              <a:ext uri="{FF2B5EF4-FFF2-40B4-BE49-F238E27FC236}">
                <a16:creationId xmlns:a16="http://schemas.microsoft.com/office/drawing/2014/main" id="{B817D116-CD8D-402E-BA3E-B16CBC592393}"/>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34921" y="1368672"/>
            <a:ext cx="4574960" cy="5283915"/>
          </a:xfrm>
          <a:prstGeom prst="rect">
            <a:avLst/>
          </a:prstGeom>
        </p:spPr>
      </p:pic>
    </p:spTree>
    <p:extLst>
      <p:ext uri="{BB962C8B-B14F-4D97-AF65-F5344CB8AC3E}">
        <p14:creationId xmlns:p14="http://schemas.microsoft.com/office/powerpoint/2010/main" val="2972496387"/>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432611" y="1368672"/>
            <a:ext cx="5471127" cy="533916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0" name="Marcador de texto 8">
            <a:extLst>
              <a:ext uri="{FF2B5EF4-FFF2-40B4-BE49-F238E27FC236}">
                <a16:creationId xmlns:a16="http://schemas.microsoft.com/office/drawing/2014/main" id="{5A14CD3C-1779-4574-833C-E3BFB23B5AB7}"/>
              </a:ext>
            </a:extLst>
          </p:cNvPr>
          <p:cNvSpPr txBox="1">
            <a:spLocks/>
          </p:cNvSpPr>
          <p:nvPr/>
        </p:nvSpPr>
        <p:spPr>
          <a:xfrm>
            <a:off x="5578138" y="1479176"/>
            <a:ext cx="5180074" cy="5228662"/>
          </a:xfrm>
          <a:prstGeom prst="rect">
            <a:avLst/>
          </a:prstGeom>
        </p:spPr>
        <p:txBody>
          <a:bodyPr vert="horz" lIns="91440" tIns="45720" rIns="91440" bIns="45720" rtlCol="0">
            <a:normAutofit lnSpcReduction="10000"/>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err="1">
                <a:latin typeface="Arial" panose="020B0604020202020204" pitchFamily="34" charset="0"/>
                <a:cs typeface="Arial" panose="020B0604020202020204" pitchFamily="34" charset="0"/>
              </a:rPr>
              <a:t>ventanaInventario.R</a:t>
            </a:r>
            <a:r>
              <a:rPr lang="es-MX" sz="1800" dirty="0">
                <a:latin typeface="Arial" panose="020B0604020202020204" pitchFamily="34" charset="0"/>
                <a:cs typeface="Arial" panose="020B0604020202020204" pitchFamily="34" charset="0"/>
              </a:rPr>
              <a:t> Implementa la interfaz gráfica del módulo de Inventario utilizando la arquitectura reactiva de </a:t>
            </a:r>
            <a:r>
              <a:rPr lang="es-MX" sz="1800" dirty="0" err="1">
                <a:latin typeface="Arial" panose="020B0604020202020204" pitchFamily="34" charset="0"/>
                <a:cs typeface="Arial" panose="020B0604020202020204" pitchFamily="34" charset="0"/>
              </a:rPr>
              <a:t>Shiny</a:t>
            </a:r>
            <a:r>
              <a:rPr lang="es-MX" sz="1800" dirty="0">
                <a:latin typeface="Arial" panose="020B0604020202020204" pitchFamily="34" charset="0"/>
                <a:cs typeface="Arial" panose="020B0604020202020204" pitchFamily="34" charset="0"/>
              </a:rPr>
              <a:t>. </a:t>
            </a:r>
            <a:r>
              <a:rPr lang="es-MX" sz="1800" dirty="0" err="1">
                <a:latin typeface="Arial" panose="020B0604020202020204" pitchFamily="34" charset="0"/>
                <a:cs typeface="Arial" panose="020B0604020202020204" pitchFamily="34" charset="0"/>
              </a:rPr>
              <a:t>ventanaInventarioUI</a:t>
            </a:r>
            <a:r>
              <a:rPr lang="es-MX" sz="1800" dirty="0">
                <a:latin typeface="Arial" panose="020B0604020202020204" pitchFamily="34" charset="0"/>
                <a:cs typeface="Arial" panose="020B0604020202020204" pitchFamily="34" charset="0"/>
              </a:rPr>
              <a:t>() define los controles de entrada, indicadores, tablas y componentes visuales, mientras que </a:t>
            </a:r>
            <a:r>
              <a:rPr lang="es-MX" sz="1800" dirty="0" err="1">
                <a:latin typeface="Arial" panose="020B0604020202020204" pitchFamily="34" charset="0"/>
                <a:cs typeface="Arial" panose="020B0604020202020204" pitchFamily="34" charset="0"/>
              </a:rPr>
              <a:t>ventanaInventarioServer</a:t>
            </a:r>
            <a:r>
              <a:rPr lang="es-MX" sz="1800" dirty="0">
                <a:latin typeface="Arial" panose="020B0604020202020204" pitchFamily="34" charset="0"/>
                <a:cs typeface="Arial" panose="020B0604020202020204" pitchFamily="34" charset="0"/>
              </a:rPr>
              <a:t>() administra los eventos y conecta las acciones realizadas por el usuario con la lógica definida en </a:t>
            </a:r>
            <a:r>
              <a:rPr lang="es-MX" sz="1800" dirty="0" err="1">
                <a:latin typeface="Arial" panose="020B0604020202020204" pitchFamily="34" charset="0"/>
                <a:cs typeface="Arial" panose="020B0604020202020204" pitchFamily="34" charset="0"/>
              </a:rPr>
              <a:t>Inventario.R</a:t>
            </a:r>
            <a:r>
              <a:rPr lang="es-MX" sz="1800" dirty="0">
                <a:latin typeface="Arial" panose="020B0604020202020204" pitchFamily="34" charset="0"/>
                <a:cs typeface="Arial" panose="020B0604020202020204" pitchFamily="34" charset="0"/>
              </a:rPr>
              <a:t>.</a:t>
            </a:r>
          </a:p>
          <a:p>
            <a:pPr algn="just"/>
            <a:endParaRPr lang="es-MX" sz="1800" dirty="0">
              <a:latin typeface="Arial" panose="020B0604020202020204" pitchFamily="34" charset="0"/>
              <a:cs typeface="Arial" panose="020B0604020202020204" pitchFamily="34" charset="0"/>
            </a:endParaRPr>
          </a:p>
          <a:p>
            <a:pPr algn="just"/>
            <a:r>
              <a:rPr lang="es-MX" sz="1800" dirty="0">
                <a:latin typeface="Arial" panose="020B0604020202020204" pitchFamily="34" charset="0"/>
                <a:cs typeface="Arial" panose="020B0604020202020204" pitchFamily="34" charset="0"/>
              </a:rPr>
              <a:t>El módulo recibe los parámetros de configuración, solicita la ejecución de la simulación y posteriormente actualiza dinámicamente los resultados presentados en pantalla. Esta separación permite mantener la interfaz independiente de los algoritmos responsables del procesamiento del inventario.</a:t>
            </a:r>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ventanaInventario.R</a:t>
            </a:r>
            <a:endPar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endParaRPr>
          </a:p>
        </p:txBody>
      </p:sp>
      <p:pic>
        <p:nvPicPr>
          <p:cNvPr id="4" name="Imagen 3">
            <a:extLst>
              <a:ext uri="{FF2B5EF4-FFF2-40B4-BE49-F238E27FC236}">
                <a16:creationId xmlns:a16="http://schemas.microsoft.com/office/drawing/2014/main" id="{7D941F83-B68A-46BE-91F9-72DB0690B373}"/>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34922" y="1368673"/>
            <a:ext cx="4548066" cy="5299170"/>
          </a:xfrm>
          <a:prstGeom prst="rect">
            <a:avLst/>
          </a:prstGeom>
        </p:spPr>
      </p:pic>
    </p:spTree>
    <p:extLst>
      <p:ext uri="{BB962C8B-B14F-4D97-AF65-F5344CB8AC3E}">
        <p14:creationId xmlns:p14="http://schemas.microsoft.com/office/powerpoint/2010/main" val="3853804087"/>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B101093-63CE-4BB1-BF4B-3D65F6C971B6}"/>
              </a:ext>
            </a:extLst>
          </p:cNvPr>
          <p:cNvSpPr/>
          <p:nvPr/>
        </p:nvSpPr>
        <p:spPr>
          <a:xfrm>
            <a:off x="5672578" y="1368672"/>
            <a:ext cx="5323464" cy="5339166"/>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0" name="Título 1">
            <a:extLst>
              <a:ext uri="{FF2B5EF4-FFF2-40B4-BE49-F238E27FC236}">
                <a16:creationId xmlns:a16="http://schemas.microsoft.com/office/drawing/2014/main" id="{442A212A-8508-4AD8-9F3C-E5456A8B0DC0}"/>
              </a:ext>
            </a:extLst>
          </p:cNvPr>
          <p:cNvSpPr txBox="1">
            <a:spLocks/>
          </p:cNvSpPr>
          <p:nvPr/>
        </p:nvSpPr>
        <p:spPr>
          <a:xfrm>
            <a:off x="534921" y="150162"/>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err="1">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ventanaInventario.R</a:t>
            </a:r>
            <a:endPar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endParaRPr>
          </a:p>
        </p:txBody>
      </p:sp>
      <p:pic>
        <p:nvPicPr>
          <p:cNvPr id="2" name="Imagen 1">
            <a:extLst>
              <a:ext uri="{FF2B5EF4-FFF2-40B4-BE49-F238E27FC236}">
                <a16:creationId xmlns:a16="http://schemas.microsoft.com/office/drawing/2014/main" id="{1B906CD2-9D47-402F-ADB4-49B0C6C83DD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34921" y="1543484"/>
            <a:ext cx="4763220" cy="3794997"/>
          </a:xfrm>
          <a:prstGeom prst="rect">
            <a:avLst/>
          </a:prstGeom>
        </p:spPr>
      </p:pic>
      <p:sp>
        <p:nvSpPr>
          <p:cNvPr id="7" name="CuadroTexto 6">
            <a:extLst>
              <a:ext uri="{FF2B5EF4-FFF2-40B4-BE49-F238E27FC236}">
                <a16:creationId xmlns:a16="http://schemas.microsoft.com/office/drawing/2014/main" id="{123E268F-59C6-4F2A-84DD-A931AC7C47B3}"/>
              </a:ext>
            </a:extLst>
          </p:cNvPr>
          <p:cNvSpPr txBox="1"/>
          <p:nvPr/>
        </p:nvSpPr>
        <p:spPr>
          <a:xfrm>
            <a:off x="1278847" y="5660116"/>
            <a:ext cx="3173506" cy="307777"/>
          </a:xfrm>
          <a:prstGeom prst="rect">
            <a:avLst/>
          </a:prstGeom>
          <a:noFill/>
        </p:spPr>
        <p:txBody>
          <a:bodyPr wrap="square" rtlCol="0">
            <a:spAutoFit/>
          </a:bodyPr>
          <a:lstStyle/>
          <a:p>
            <a:pPr algn="ctr"/>
            <a:r>
              <a:rPr lang="es-MX" sz="1400" dirty="0">
                <a:latin typeface="Arial" panose="020B0604020202020204" pitchFamily="34" charset="0"/>
                <a:cs typeface="Arial" panose="020B0604020202020204" pitchFamily="34" charset="0"/>
              </a:rPr>
              <a:t>Figura 9</a:t>
            </a:r>
          </a:p>
        </p:txBody>
      </p:sp>
      <p:sp>
        <p:nvSpPr>
          <p:cNvPr id="8" name="Marcador de texto 8">
            <a:extLst>
              <a:ext uri="{FF2B5EF4-FFF2-40B4-BE49-F238E27FC236}">
                <a16:creationId xmlns:a16="http://schemas.microsoft.com/office/drawing/2014/main" id="{75F35EE6-4563-464E-86EC-27C0081D8FAB}"/>
              </a:ext>
            </a:extLst>
          </p:cNvPr>
          <p:cNvSpPr txBox="1">
            <a:spLocks/>
          </p:cNvSpPr>
          <p:nvPr/>
        </p:nvSpPr>
        <p:spPr>
          <a:xfrm>
            <a:off x="5726170" y="1698515"/>
            <a:ext cx="5139503" cy="4715732"/>
          </a:xfrm>
          <a:prstGeom prst="rect">
            <a:avLst/>
          </a:prstGeom>
        </p:spPr>
        <p:txBody>
          <a:bodyPr vert="horz" lIns="91440" tIns="45720" rIns="91440" bIns="45720" rtlCol="0">
            <a:normAutofit/>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latin typeface="Arial" panose="020B0604020202020204" pitchFamily="34" charset="0"/>
                <a:cs typeface="Arial" panose="020B0604020202020204" pitchFamily="34" charset="0"/>
              </a:rPr>
              <a:t>Figura 9: Interfaz gráfica </a:t>
            </a:r>
            <a:r>
              <a:rPr lang="es-MX" sz="1800" dirty="0" err="1">
                <a:latin typeface="Arial" panose="020B0604020202020204" pitchFamily="34" charset="0"/>
                <a:cs typeface="Arial" panose="020B0604020202020204" pitchFamily="34" charset="0"/>
              </a:rPr>
              <a:t>secundraia</a:t>
            </a:r>
            <a:r>
              <a:rPr lang="es-MX" sz="1800" dirty="0">
                <a:latin typeface="Arial" panose="020B0604020202020204" pitchFamily="34" charset="0"/>
                <a:cs typeface="Arial" panose="020B0604020202020204" pitchFamily="34" charset="0"/>
              </a:rPr>
              <a:t> del programa de </a:t>
            </a:r>
            <a:r>
              <a:rPr lang="es-MX" sz="1800" dirty="0" err="1">
                <a:latin typeface="Arial" panose="020B0604020202020204" pitchFamily="34" charset="0"/>
                <a:cs typeface="Arial" panose="020B0604020202020204" pitchFamily="34" charset="0"/>
              </a:rPr>
              <a:t>simulacion</a:t>
            </a:r>
            <a:r>
              <a:rPr lang="es-MX" sz="1800" dirty="0">
                <a:latin typeface="Arial" panose="020B0604020202020204" pitchFamily="34" charset="0"/>
                <a:cs typeface="Arial" panose="020B0604020202020204" pitchFamily="34" charset="0"/>
              </a:rPr>
              <a:t> en Python que se encuentra en  ejecución (</a:t>
            </a:r>
            <a:r>
              <a:rPr lang="es-MX" sz="1800" dirty="0" err="1">
                <a:latin typeface="Arial" panose="020B0604020202020204" pitchFamily="34" charset="0"/>
                <a:cs typeface="Arial" panose="020B0604020202020204" pitchFamily="34" charset="0"/>
              </a:rPr>
              <a:t>ventanaInventario.R</a:t>
            </a:r>
            <a:r>
              <a:rPr lang="es-MX" sz="1800" dirty="0">
                <a:latin typeface="Arial" panose="020B0604020202020204" pitchFamily="34" charset="0"/>
                <a:cs typeface="Arial" panose="020B0604020202020204" pitchFamily="34" charset="0"/>
              </a:rPr>
              <a:t>).</a:t>
            </a:r>
          </a:p>
          <a:p>
            <a:pPr algn="just"/>
            <a:endParaRPr lang="es-MX" sz="1800" dirty="0">
              <a:latin typeface="Arial" panose="020B0604020202020204" pitchFamily="34" charset="0"/>
              <a:cs typeface="Arial" panose="020B0604020202020204" pitchFamily="34" charset="0"/>
            </a:endParaRPr>
          </a:p>
          <a:p>
            <a:pPr algn="just"/>
            <a:r>
              <a:rPr lang="es-MX" sz="1800" dirty="0">
                <a:latin typeface="Arial" panose="020B0604020202020204" pitchFamily="34" charset="0"/>
                <a:cs typeface="Arial" panose="020B0604020202020204" pitchFamily="34" charset="0"/>
              </a:rPr>
              <a:t>Se muestra la ventana activa con el panel de configuración de parámetros de entrada cargados, en este caso se muestra los parámetros, resultados de la simulación, detalles del inventario mediante tablas y la por ultimo la validación del simulador.</a:t>
            </a:r>
          </a:p>
        </p:txBody>
      </p:sp>
    </p:spTree>
    <p:extLst>
      <p:ext uri="{BB962C8B-B14F-4D97-AF65-F5344CB8AC3E}">
        <p14:creationId xmlns:p14="http://schemas.microsoft.com/office/powerpoint/2010/main" val="350126823"/>
      </p:ext>
    </p:extLst>
  </p:cSld>
  <p:clrMapOvr>
    <a:masterClrMapping/>
  </p:clrMapOvr>
  <mc:AlternateContent xmlns:mc="http://schemas.openxmlformats.org/markup-compatibility/2006" xmlns:p14="http://schemas.microsoft.com/office/powerpoint/2010/main">
    <mc:Choice Requires="p14">
      <p:transition spd="slow" p14:dur="2000" advTm="49484"/>
    </mc:Choice>
    <mc:Fallback xmlns="">
      <p:transition spd="slow" advTm="49484"/>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3450464A-0CF9-4B9A-8A7A-D357F26286BE}"/>
              </a:ext>
            </a:extLst>
          </p:cNvPr>
          <p:cNvSpPr txBox="1">
            <a:spLocks/>
          </p:cNvSpPr>
          <p:nvPr/>
        </p:nvSpPr>
        <p:spPr>
          <a:xfrm>
            <a:off x="594882" y="449965"/>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Conclusión</a:t>
            </a:r>
          </a:p>
        </p:txBody>
      </p:sp>
      <p:sp>
        <p:nvSpPr>
          <p:cNvPr id="7" name="Marcador de texto 8">
            <a:extLst>
              <a:ext uri="{FF2B5EF4-FFF2-40B4-BE49-F238E27FC236}">
                <a16:creationId xmlns:a16="http://schemas.microsoft.com/office/drawing/2014/main" id="{28627BA2-6918-4429-8E1E-36D7BA56D691}"/>
              </a:ext>
            </a:extLst>
          </p:cNvPr>
          <p:cNvSpPr txBox="1">
            <a:spLocks/>
          </p:cNvSpPr>
          <p:nvPr/>
        </p:nvSpPr>
        <p:spPr>
          <a:xfrm>
            <a:off x="514202" y="2048803"/>
            <a:ext cx="10198788" cy="4501899"/>
          </a:xfrm>
          <a:prstGeom prst="rect">
            <a:avLst/>
          </a:prstGeom>
        </p:spPr>
        <p:txBody>
          <a:bodyPr vert="horz" lIns="91440" tIns="45720" rIns="91440" bIns="45720" rtlCol="0">
            <a:normAutofit lnSpcReduction="10000"/>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pPr algn="just"/>
            <a:r>
              <a:rPr lang="es-MX" sz="1800" dirty="0">
                <a:latin typeface="Arial" panose="020B0604020202020204" pitchFamily="34" charset="0"/>
                <a:cs typeface="Arial" panose="020B0604020202020204" pitchFamily="34" charset="0"/>
              </a:rPr>
              <a:t>El desarrollo de los modelos de Línea de Espera e Inventario en Java, Python y R permitió aplicar los principios de simulación desde diferentes entornos de programación, manteniendo una estructura modular que separa la interfaz, la lógica y el manejo de datos.</a:t>
            </a:r>
          </a:p>
          <a:p>
            <a:pPr algn="just"/>
            <a:endParaRPr lang="es-MX" sz="1800" dirty="0">
              <a:latin typeface="Arial" panose="020B0604020202020204" pitchFamily="34" charset="0"/>
              <a:cs typeface="Arial" panose="020B0604020202020204" pitchFamily="34" charset="0"/>
            </a:endParaRPr>
          </a:p>
          <a:p>
            <a:pPr algn="just"/>
            <a:r>
              <a:rPr lang="es-MX" sz="1800" dirty="0">
                <a:latin typeface="Arial" panose="020B0604020202020204" pitchFamily="34" charset="0"/>
                <a:cs typeface="Arial" panose="020B0604020202020204" pitchFamily="34" charset="0"/>
              </a:rPr>
              <a:t>Aunque cada lenguaje utiliza herramientas distintas </a:t>
            </a:r>
            <a:r>
              <a:rPr lang="es-MX" sz="1800" dirty="0" err="1">
                <a:latin typeface="Arial" panose="020B0604020202020204" pitchFamily="34" charset="0"/>
                <a:cs typeface="Arial" panose="020B0604020202020204" pitchFamily="34" charset="0"/>
              </a:rPr>
              <a:t>JavaFX</a:t>
            </a:r>
            <a:r>
              <a:rPr lang="es-MX" sz="1800" dirty="0">
                <a:latin typeface="Arial" panose="020B0604020202020204" pitchFamily="34" charset="0"/>
                <a:cs typeface="Arial" panose="020B0604020202020204" pitchFamily="34" charset="0"/>
              </a:rPr>
              <a:t> en Java, </a:t>
            </a:r>
            <a:r>
              <a:rPr lang="es-MX" sz="1800" dirty="0" err="1">
                <a:latin typeface="Arial" panose="020B0604020202020204" pitchFamily="34" charset="0"/>
                <a:cs typeface="Arial" panose="020B0604020202020204" pitchFamily="34" charset="0"/>
              </a:rPr>
              <a:t>Tkinter</a:t>
            </a:r>
            <a:r>
              <a:rPr lang="es-MX" sz="1800" dirty="0">
                <a:latin typeface="Arial" panose="020B0604020202020204" pitchFamily="34" charset="0"/>
                <a:cs typeface="Arial" panose="020B0604020202020204" pitchFamily="34" charset="0"/>
              </a:rPr>
              <a:t> en Python y </a:t>
            </a:r>
            <a:r>
              <a:rPr lang="es-MX" sz="1800" dirty="0" err="1">
                <a:latin typeface="Arial" panose="020B0604020202020204" pitchFamily="34" charset="0"/>
                <a:cs typeface="Arial" panose="020B0604020202020204" pitchFamily="34" charset="0"/>
              </a:rPr>
              <a:t>Shiny</a:t>
            </a:r>
            <a:r>
              <a:rPr lang="es-MX" sz="1800" dirty="0">
                <a:latin typeface="Arial" panose="020B0604020202020204" pitchFamily="34" charset="0"/>
                <a:cs typeface="Arial" panose="020B0604020202020204" pitchFamily="34" charset="0"/>
              </a:rPr>
              <a:t>/R6 en R, los tres permiten representar el comportamiento de los sistemas, generar datos mediante procesos pseudoaleatorios y analizar los resultados obtenidos. La implementación permitió reforzar conceptos de programación orientada a objetos, generación de números aleatorios, simulación de eventos, control de inventarios y validación estadística.</a:t>
            </a:r>
          </a:p>
          <a:p>
            <a:pPr algn="just"/>
            <a:endParaRPr lang="es-MX" sz="1800" dirty="0">
              <a:latin typeface="Arial" panose="020B0604020202020204" pitchFamily="34" charset="0"/>
              <a:cs typeface="Arial" panose="020B0604020202020204" pitchFamily="34" charset="0"/>
            </a:endParaRPr>
          </a:p>
          <a:p>
            <a:pPr algn="just"/>
            <a:r>
              <a:rPr lang="es-MX" sz="1800" dirty="0">
                <a:latin typeface="Arial" panose="020B0604020202020204" pitchFamily="34" charset="0"/>
                <a:cs typeface="Arial" panose="020B0604020202020204" pitchFamily="34" charset="0"/>
              </a:rPr>
              <a:t>La práctica demuestra que la elección del lenguaje modifica la forma de implementar y organizar una solución, pero los principios matemáticos y estadísticos que sustentan el modelo de simulación permanecen consistentes.</a:t>
            </a:r>
          </a:p>
        </p:txBody>
      </p:sp>
    </p:spTree>
    <p:extLst>
      <p:ext uri="{BB962C8B-B14F-4D97-AF65-F5344CB8AC3E}">
        <p14:creationId xmlns:p14="http://schemas.microsoft.com/office/powerpoint/2010/main" val="22429927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75C164C0-7EE6-40FB-94B4-97DB2BFBFA92}"/>
              </a:ext>
            </a:extLst>
          </p:cNvPr>
          <p:cNvSpPr txBox="1">
            <a:spLocks/>
          </p:cNvSpPr>
          <p:nvPr/>
        </p:nvSpPr>
        <p:spPr>
          <a:xfrm>
            <a:off x="594882" y="449965"/>
            <a:ext cx="10198788" cy="1031345"/>
          </a:xfrm>
          <a:prstGeom prst="rect">
            <a:avLst/>
          </a:prstGeom>
          <a:solidFill>
            <a:schemeClr val="tx2">
              <a:lumMod val="75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3200" b="0" kern="1200" spc="-50" baseline="0">
                <a:solidFill>
                  <a:schemeClr val="tx1"/>
                </a:solidFill>
                <a:latin typeface="+mj-lt"/>
                <a:ea typeface="+mj-ea"/>
                <a:cs typeface="+mj-cs"/>
              </a:defRPr>
            </a:lvl1pPr>
          </a:lstStyle>
          <a:p>
            <a:pPr algn="ctr"/>
            <a:r>
              <a:rPr lang="es-MX" spc="0" dirty="0">
                <a:ln w="0">
                  <a:solidFill>
                    <a:schemeClr val="bg1"/>
                  </a:solidFill>
                </a:ln>
                <a:solidFill>
                  <a:schemeClr val="bg1"/>
                </a:solidFill>
                <a:effectLst>
                  <a:outerShdw blurRad="38100" dist="19050" dir="2700000" algn="tl" rotWithShape="0">
                    <a:schemeClr val="dk1">
                      <a:alpha val="40000"/>
                    </a:schemeClr>
                  </a:outerShdw>
                </a:effectLst>
                <a:latin typeface="Bahnschrift" panose="020B0502040204020203" pitchFamily="34" charset="0"/>
              </a:rPr>
              <a:t>Referencias</a:t>
            </a:r>
          </a:p>
        </p:txBody>
      </p:sp>
      <p:pic>
        <p:nvPicPr>
          <p:cNvPr id="14" name="Marcador de contenido 13">
            <a:extLst>
              <a:ext uri="{FF2B5EF4-FFF2-40B4-BE49-F238E27FC236}">
                <a16:creationId xmlns:a16="http://schemas.microsoft.com/office/drawing/2014/main" id="{A36164FC-9745-4E7F-B3FA-AACCBFAD3FBB}"/>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1599461" y="2259106"/>
            <a:ext cx="8704023" cy="3079376"/>
          </a:xfrm>
          <a:prstGeom prst="rect">
            <a:avLst/>
          </a:prstGeom>
        </p:spPr>
      </p:pic>
    </p:spTree>
    <p:extLst>
      <p:ext uri="{BB962C8B-B14F-4D97-AF65-F5344CB8AC3E}">
        <p14:creationId xmlns:p14="http://schemas.microsoft.com/office/powerpoint/2010/main" val="5161073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A24F0725-B4D9-4AA4-8DC8-3BC4B7C670B0}"/>
              </a:ext>
            </a:extLst>
          </p:cNvPr>
          <p:cNvSpPr>
            <a:spLocks noGrp="1"/>
          </p:cNvSpPr>
          <p:nvPr>
            <p:ph type="title"/>
          </p:nvPr>
        </p:nvSpPr>
        <p:spPr>
          <a:xfrm>
            <a:off x="806824" y="365760"/>
            <a:ext cx="9771170" cy="1325562"/>
          </a:xfrm>
          <a:solidFill>
            <a:schemeClr val="tx2">
              <a:lumMod val="75000"/>
            </a:schemeClr>
          </a:solidFill>
        </p:spPr>
        <p:txBody>
          <a:bodyPr>
            <a:normAutofit fontScale="90000"/>
          </a:bodyPr>
          <a:lstStyle/>
          <a:p>
            <a:pPr algn="ctr"/>
            <a:r>
              <a:rPr lang="es-MX" b="1" dirty="0">
                <a:ln>
                  <a:solidFill>
                    <a:schemeClr val="bg1"/>
                  </a:solidFill>
                </a:ln>
                <a:solidFill>
                  <a:schemeClr val="bg1"/>
                </a:solidFill>
                <a:latin typeface="Arial" panose="020B0604020202020204" pitchFamily="34" charset="0"/>
                <a:cs typeface="Arial" panose="020B0604020202020204" pitchFamily="34" charset="0"/>
              </a:rPr>
              <a:t>Anexo enlace de </a:t>
            </a:r>
            <a:r>
              <a:rPr lang="es-MX" b="1" dirty="0" err="1">
                <a:ln>
                  <a:solidFill>
                    <a:schemeClr val="bg1"/>
                  </a:solidFill>
                </a:ln>
                <a:solidFill>
                  <a:schemeClr val="bg1"/>
                </a:solidFill>
                <a:latin typeface="Arial" panose="020B0604020202020204" pitchFamily="34" charset="0"/>
                <a:cs typeface="Arial" panose="020B0604020202020204" pitchFamily="34" charset="0"/>
              </a:rPr>
              <a:t>github</a:t>
            </a:r>
            <a:r>
              <a:rPr lang="es-MX" b="1" dirty="0">
                <a:ln>
                  <a:solidFill>
                    <a:schemeClr val="bg1"/>
                  </a:solidFill>
                </a:ln>
                <a:solidFill>
                  <a:schemeClr val="bg1"/>
                </a:solidFill>
                <a:latin typeface="Arial" panose="020B0604020202020204" pitchFamily="34" charset="0"/>
                <a:cs typeface="Arial" panose="020B0604020202020204" pitchFamily="34" charset="0"/>
              </a:rPr>
              <a:t> para acceder a mis trabajos completos del </a:t>
            </a:r>
            <a:r>
              <a:rPr lang="es-MX" b="1">
                <a:ln>
                  <a:solidFill>
                    <a:schemeClr val="bg1"/>
                  </a:solidFill>
                </a:ln>
                <a:solidFill>
                  <a:schemeClr val="bg1"/>
                </a:solidFill>
                <a:latin typeface="Arial" panose="020B0604020202020204" pitchFamily="34" charset="0"/>
                <a:cs typeface="Arial" panose="020B0604020202020204" pitchFamily="34" charset="0"/>
              </a:rPr>
              <a:t>tema 3</a:t>
            </a:r>
            <a:endParaRPr lang="es-MX" b="1" dirty="0">
              <a:ln>
                <a:solidFill>
                  <a:schemeClr val="bg1"/>
                </a:solidFill>
              </a:ln>
              <a:solidFill>
                <a:schemeClr val="bg1"/>
              </a:solidFill>
              <a:latin typeface="Arial" panose="020B0604020202020204" pitchFamily="34" charset="0"/>
              <a:cs typeface="Arial" panose="020B0604020202020204" pitchFamily="34" charset="0"/>
            </a:endParaRPr>
          </a:p>
        </p:txBody>
      </p:sp>
      <p:sp>
        <p:nvSpPr>
          <p:cNvPr id="8" name="Marcador de contenido 7">
            <a:extLst>
              <a:ext uri="{FF2B5EF4-FFF2-40B4-BE49-F238E27FC236}">
                <a16:creationId xmlns:a16="http://schemas.microsoft.com/office/drawing/2014/main" id="{869FE849-BA94-42DE-BD46-B39D6B5BD2A5}"/>
              </a:ext>
            </a:extLst>
          </p:cNvPr>
          <p:cNvSpPr>
            <a:spLocks noGrp="1"/>
          </p:cNvSpPr>
          <p:nvPr>
            <p:ph idx="1"/>
          </p:nvPr>
        </p:nvSpPr>
        <p:spPr>
          <a:xfrm>
            <a:off x="1798320" y="3154362"/>
            <a:ext cx="8595360" cy="779929"/>
          </a:xfrm>
        </p:spPr>
        <p:txBody>
          <a:bodyPr/>
          <a:lstStyle/>
          <a:p>
            <a:pPr marL="0" indent="0">
              <a:buNone/>
            </a:pPr>
            <a:r>
              <a:rPr lang="es-MX" dirty="0">
                <a:solidFill>
                  <a:schemeClr val="accent6">
                    <a:lumMod val="50000"/>
                  </a:schemeClr>
                </a:solidFill>
                <a:hlinkClick r:id="rId2"/>
              </a:rPr>
              <a:t>https://github.com/chepitanieto2-rgb/Sim-Tema-4.git</a:t>
            </a:r>
            <a:endParaRPr lang="es-MX" dirty="0">
              <a:solidFill>
                <a:schemeClr val="accent6">
                  <a:lumMod val="50000"/>
                </a:schemeClr>
              </a:solidFill>
            </a:endParaRPr>
          </a:p>
        </p:txBody>
      </p:sp>
    </p:spTree>
    <p:extLst>
      <p:ext uri="{BB962C8B-B14F-4D97-AF65-F5344CB8AC3E}">
        <p14:creationId xmlns:p14="http://schemas.microsoft.com/office/powerpoint/2010/main" val="1071991534"/>
      </p:ext>
    </p:extLst>
  </p:cSld>
  <p:clrMapOvr>
    <a:masterClrMapping/>
  </p:clrMapOvr>
</p:sld>
</file>

<file path=ppt/theme/theme1.xml><?xml version="1.0" encoding="utf-8"?>
<a:theme xmlns:a="http://schemas.openxmlformats.org/drawingml/2006/main" name="View">
  <a:themeElements>
    <a:clrScheme name="Verde">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
  <TotalTime>6396</TotalTime>
  <Words>5603</Words>
  <Application>Microsoft Office PowerPoint</Application>
  <PresentationFormat>Panorámica</PresentationFormat>
  <Paragraphs>285</Paragraphs>
  <Slides>65</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65</vt:i4>
      </vt:variant>
    </vt:vector>
  </HeadingPairs>
  <TitlesOfParts>
    <vt:vector size="73" baseType="lpstr">
      <vt:lpstr>Arial</vt:lpstr>
      <vt:lpstr>Arial Rounded MT Bold</vt:lpstr>
      <vt:lpstr>Bahnschrift</vt:lpstr>
      <vt:lpstr>Century Schoolbook</vt:lpstr>
      <vt:lpstr>Consolas</vt:lpstr>
      <vt:lpstr>Wingdings</vt:lpstr>
      <vt:lpstr>Wingdings 2</vt:lpstr>
      <vt:lpstr>View</vt:lpstr>
      <vt:lpstr>Presentación de PowerPoint</vt:lpstr>
      <vt:lpstr>Introducción</vt:lpstr>
      <vt:lpstr>Presentación de PowerPoint</vt:lpstr>
      <vt:lpstr>Presentación de PowerPoint</vt:lpstr>
      <vt:lpstr>Presentación de PowerPoint</vt:lpstr>
      <vt:lpstr>Línea de espera y sistema de inventario en JavaFX.</vt:lpstr>
      <vt:lpstr>Línea de espera y sistema de inventario en JavaFX.</vt:lpstr>
      <vt:lpstr>Línea de espera y sistema de inventario en JavaFX.</vt:lpstr>
      <vt:lpstr>Launcher</vt:lpstr>
      <vt:lpstr>Presentación de PowerPoint</vt:lpstr>
      <vt:lpstr>Main (Ventana principal).</vt:lpstr>
      <vt:lpstr>Presentación de PowerPoint</vt:lpstr>
      <vt:lpstr>Presentación de PowerPoint</vt:lpstr>
      <vt:lpstr>Presentación de PowerPoint</vt:lpstr>
      <vt:lpstr>Presentación de PowerPoint</vt:lpstr>
      <vt:lpstr>Módulo Línea de Espera</vt:lpstr>
      <vt:lpstr>EsperaApplication.java</vt:lpstr>
      <vt:lpstr>espera-view.fxml</vt:lpstr>
      <vt:lpstr>espera-view.fxml</vt:lpstr>
      <vt:lpstr>Presentación de PowerPoint</vt:lpstr>
      <vt:lpstr>Presentación de PowerPoint</vt:lpstr>
      <vt:lpstr>Módulo Inventario</vt:lpstr>
      <vt:lpstr>Presentación de PowerPoint</vt:lpstr>
      <vt:lpstr>Presentación de PowerPoint</vt:lpstr>
      <vt:lpstr>Presentación de PowerPoint</vt:lpstr>
      <vt:lpstr>Presentación de PowerPoint</vt:lpstr>
      <vt:lpstr>Presentación de PowerPoint</vt:lpstr>
      <vt:lpstr>Línea de espera y sistema de inventario en Python.</vt:lpstr>
      <vt:lpstr>Línea de espera y sistema de inventario en Python.</vt:lpstr>
      <vt:lpstr>Línea de espera y sistema de inventario en Python.</vt:lpstr>
      <vt:lpstr>Main y ventana principal</vt:lpstr>
      <vt:lpstr>Presentación de PowerPoint</vt:lpstr>
      <vt:lpstr>Presentación de PowerPoint</vt:lpstr>
      <vt:lpstr>Presentación de PowerPoint</vt:lpstr>
      <vt:lpstr>Módulo Línea de Espera</vt:lpstr>
      <vt:lpstr>Presentación de PowerPoint</vt:lpstr>
      <vt:lpstr>Presentación de PowerPoint</vt:lpstr>
      <vt:lpstr>Presentación de PowerPoint</vt:lpstr>
      <vt:lpstr>Presentación de PowerPoint</vt:lpstr>
      <vt:lpstr>Presentación de PowerPoint</vt:lpstr>
      <vt:lpstr>Módulo Inventario</vt:lpstr>
      <vt:lpstr>Presentación de PowerPoint</vt:lpstr>
      <vt:lpstr>Presentación de PowerPoint</vt:lpstr>
      <vt:lpstr>Presentación de PowerPoint</vt:lpstr>
      <vt:lpstr>Presentación de PowerPoint</vt:lpstr>
      <vt:lpstr>Presentación de PowerPoint</vt:lpstr>
      <vt:lpstr>Línea de espera y sistema de inventario en R.</vt:lpstr>
      <vt:lpstr>Línea de espera y sistema de inventario en R.</vt:lpstr>
      <vt:lpstr>Herramientas utilizadas Línea de espera y sistema de inventario en R.</vt:lpstr>
      <vt:lpstr>Main y Ventana Principal</vt:lpstr>
      <vt:lpstr>Presentación de PowerPoint</vt:lpstr>
      <vt:lpstr>Presentación de PowerPoint</vt:lpstr>
      <vt:lpstr>Presentación de PowerPoint</vt:lpstr>
      <vt:lpstr>Módulo Línea de Espera</vt:lpstr>
      <vt:lpstr>Presentación de PowerPoint</vt:lpstr>
      <vt:lpstr>Presentación de PowerPoint</vt:lpstr>
      <vt:lpstr>Presentación de PowerPoint</vt:lpstr>
      <vt:lpstr>Módulo de Inventario</vt:lpstr>
      <vt:lpstr>Presentación de PowerPoint</vt:lpstr>
      <vt:lpstr>Presentación de PowerPoint</vt:lpstr>
      <vt:lpstr>Presentación de PowerPoint</vt:lpstr>
      <vt:lpstr>Presentación de PowerPoint</vt:lpstr>
      <vt:lpstr>Presentación de PowerPoint</vt:lpstr>
      <vt:lpstr>Presentación de PowerPoint</vt:lpstr>
      <vt:lpstr>Anexo enlace de github para acceder a mis trabajos completos del tema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JOSEFINA NIETO HERNÁNDEZ</dc:creator>
  <cp:lastModifiedBy>JOSEFINA NIETO HERNÁNDEZ</cp:lastModifiedBy>
  <cp:revision>253</cp:revision>
  <dcterms:created xsi:type="dcterms:W3CDTF">2025-10-23T03:04:12Z</dcterms:created>
  <dcterms:modified xsi:type="dcterms:W3CDTF">2026-10-01T02:22:52Z</dcterms:modified>
</cp:coreProperties>
</file>